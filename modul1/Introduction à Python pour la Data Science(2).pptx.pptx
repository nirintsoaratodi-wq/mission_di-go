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imo Bold" charset="1" panose="020B0704020202020204"/>
      <p:regular r:id="rId27"/>
    </p:embeddedFont>
    <p:embeddedFont>
      <p:font typeface="Arimo" charset="1" panose="020B0604020202020204"/>
      <p:regular r:id="rId28"/>
    </p:embeddedFont>
    <p:embeddedFont>
      <p:font typeface="Courier New" charset="1" panose="02070309020205020404"/>
      <p:regular r:id="rId29"/>
    </p:embeddedFont>
    <p:embeddedFont>
      <p:font typeface="Arial" charset="1" panose="020B0604020202020204"/>
      <p:regular r:id="rId34"/>
    </p:embeddedFont>
    <p:embeddedFont>
      <p:font typeface="Courier New Bold" charset="1" panose="02070609020205020404"/>
      <p:regular r:id="rId38"/>
    </p:embeddedFont>
    <p:embeddedFont>
      <p:font typeface="Arial Bold" charset="1" panose="020B0704020202020204"/>
      <p:regular r:id="rId40"/>
    </p:embeddedFont>
    <p:embeddedFont>
      <p:font typeface="Arimo Italics" charset="1" panose="020B060402020209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fonts/font34.fntdata" Type="http://schemas.openxmlformats.org/officeDocument/2006/relationships/font"/><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fonts/font38.fntdata" Type="http://schemas.openxmlformats.org/officeDocument/2006/relationships/font"/><Relationship Id="rId39" Target="notesSlides/notesSlide9.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fonts/font48.fntdata" Type="http://schemas.openxmlformats.org/officeDocument/2006/relationships/font"/><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14" Target="../media/image12.png" Type="http://schemas.openxmlformats.org/officeDocument/2006/relationships/image"/><Relationship Id="rId15" Target="../media/image13.png" Type="http://schemas.openxmlformats.org/officeDocument/2006/relationships/image"/><Relationship Id="rId16" Target="../media/image14.png" Type="http://schemas.openxmlformats.org/officeDocument/2006/relationships/image"/><Relationship Id="rId17" Target="../media/image15.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13" Target="../media/image26.png" Type="http://schemas.openxmlformats.org/officeDocument/2006/relationships/image"/><Relationship Id="rId14" Target="../media/image27.png" Type="http://schemas.openxmlformats.org/officeDocument/2006/relationships/image"/><Relationship Id="rId15" Target="../media/image28.png" Type="http://schemas.openxmlformats.org/officeDocument/2006/relationships/image"/><Relationship Id="rId2" Target="../notesSlides/notesSlide2.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14" Target="../media/image39.png" Type="http://schemas.openxmlformats.org/officeDocument/2006/relationships/image"/><Relationship Id="rId15" Target="../media/image40.png" Type="http://schemas.openxmlformats.org/officeDocument/2006/relationships/image"/><Relationship Id="rId16" Target="../media/image41.png" Type="http://schemas.openxmlformats.org/officeDocument/2006/relationships/image"/><Relationship Id="rId17" Target="../media/image42.png" Type="http://schemas.openxmlformats.org/officeDocument/2006/relationships/image"/><Relationship Id="rId18" Target="../media/image43.png" Type="http://schemas.openxmlformats.org/officeDocument/2006/relationships/image"/><Relationship Id="rId19" Target="../media/image44.png" Type="http://schemas.openxmlformats.org/officeDocument/2006/relationships/image"/><Relationship Id="rId2" Target="../notesSlides/notesSlide3.xml" Type="http://schemas.openxmlformats.org/officeDocument/2006/relationships/notesSlide"/><Relationship Id="rId3" Target="../media/image16.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52.png" Type="http://schemas.openxmlformats.org/officeDocument/2006/relationships/image"/><Relationship Id="rId12" Target="../media/image53.png" Type="http://schemas.openxmlformats.org/officeDocument/2006/relationships/image"/><Relationship Id="rId13" Target="../media/image54.png" Type="http://schemas.openxmlformats.org/officeDocument/2006/relationships/image"/><Relationship Id="rId14" Target="../media/image55.png" Type="http://schemas.openxmlformats.org/officeDocument/2006/relationships/image"/><Relationship Id="rId2" Target="../notesSlides/notesSlide4.xml" Type="http://schemas.openxmlformats.org/officeDocument/2006/relationships/notesSlid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 Id="rId9" Target="../media/image5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png" Type="http://schemas.openxmlformats.org/officeDocument/2006/relationships/image"/><Relationship Id="rId11" Target="../media/image61.png" Type="http://schemas.openxmlformats.org/officeDocument/2006/relationships/image"/><Relationship Id="rId12" Target="../media/image62.png" Type="http://schemas.openxmlformats.org/officeDocument/2006/relationships/image"/><Relationship Id="rId13" Target="../media/image63.png" Type="http://schemas.openxmlformats.org/officeDocument/2006/relationships/image"/><Relationship Id="rId14" Target="../media/image53.png" Type="http://schemas.openxmlformats.org/officeDocument/2006/relationships/image"/><Relationship Id="rId15" Target="../media/image64.png" Type="http://schemas.openxmlformats.org/officeDocument/2006/relationships/image"/><Relationship Id="rId16" Target="../media/image65.png" Type="http://schemas.openxmlformats.org/officeDocument/2006/relationships/image"/><Relationship Id="rId17" Target="../media/image66.png" Type="http://schemas.openxmlformats.org/officeDocument/2006/relationships/image"/><Relationship Id="rId2" Target="../notesSlides/notesSlide5.xml" Type="http://schemas.openxmlformats.org/officeDocument/2006/relationships/notesSlide"/><Relationship Id="rId3" Target="../media/image45.png" Type="http://schemas.openxmlformats.org/officeDocument/2006/relationships/image"/><Relationship Id="rId4" Target="../media/image46.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 Id="rId9" Target="../media/image5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png" Type="http://schemas.openxmlformats.org/officeDocument/2006/relationships/image"/><Relationship Id="rId12" Target="../media/image75.png" Type="http://schemas.openxmlformats.org/officeDocument/2006/relationships/image"/><Relationship Id="rId13" Target="../media/image76.png" Type="http://schemas.openxmlformats.org/officeDocument/2006/relationships/image"/><Relationship Id="rId14" Target="../media/image77.png" Type="http://schemas.openxmlformats.org/officeDocument/2006/relationships/image"/><Relationship Id="rId15" Target="../media/image78.png" Type="http://schemas.openxmlformats.org/officeDocument/2006/relationships/image"/><Relationship Id="rId16" Target="../media/image79.png" Type="http://schemas.openxmlformats.org/officeDocument/2006/relationships/image"/><Relationship Id="rId17" Target="../media/image80.png" Type="http://schemas.openxmlformats.org/officeDocument/2006/relationships/image"/><Relationship Id="rId18" Target="../media/image81.png" Type="http://schemas.openxmlformats.org/officeDocument/2006/relationships/image"/><Relationship Id="rId19" Target="../media/image82.png" Type="http://schemas.openxmlformats.org/officeDocument/2006/relationships/image"/><Relationship Id="rId2" Target="../notesSlides/notesSlide6.xml" Type="http://schemas.openxmlformats.org/officeDocument/2006/relationships/notesSlide"/><Relationship Id="rId20" Target="../media/image83.png" Type="http://schemas.openxmlformats.org/officeDocument/2006/relationships/image"/><Relationship Id="rId21" Target="../media/image84.png" Type="http://schemas.openxmlformats.org/officeDocument/2006/relationships/image"/><Relationship Id="rId22" Target="../media/image85.png" Type="http://schemas.openxmlformats.org/officeDocument/2006/relationships/image"/><Relationship Id="rId23" Target="../media/image86.png" Type="http://schemas.openxmlformats.org/officeDocument/2006/relationships/image"/><Relationship Id="rId24" Target="../media/image87.png" Type="http://schemas.openxmlformats.org/officeDocument/2006/relationships/image"/><Relationship Id="rId3" Target="../media/image16.pn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 Id="rId7" Target="../media/image70.png" Type="http://schemas.openxmlformats.org/officeDocument/2006/relationships/image"/><Relationship Id="rId8" Target="../media/image71.png" Type="http://schemas.openxmlformats.org/officeDocument/2006/relationships/image"/><Relationship Id="rId9" Target="../media/image7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88.png" Type="http://schemas.openxmlformats.org/officeDocument/2006/relationships/image"/><Relationship Id="rId4" Target="../media/image89.png" Type="http://schemas.openxmlformats.org/officeDocument/2006/relationships/image"/><Relationship Id="rId5" Target="../media/image90.png" Type="http://schemas.openxmlformats.org/officeDocument/2006/relationships/image"/><Relationship Id="rId6" Target="../media/image91.png" Type="http://schemas.openxmlformats.org/officeDocument/2006/relationships/image"/><Relationship Id="rId7" Target="../media/image9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9.png" Type="http://schemas.openxmlformats.org/officeDocument/2006/relationships/image"/><Relationship Id="rId11" Target="../media/image100.png" Type="http://schemas.openxmlformats.org/officeDocument/2006/relationships/image"/><Relationship Id="rId12" Target="../media/image101.png" Type="http://schemas.openxmlformats.org/officeDocument/2006/relationships/image"/><Relationship Id="rId13" Target="../media/image102.png" Type="http://schemas.openxmlformats.org/officeDocument/2006/relationships/image"/><Relationship Id="rId14" Target="../media/image103.png" Type="http://schemas.openxmlformats.org/officeDocument/2006/relationships/image"/><Relationship Id="rId2" Target="../notesSlides/notesSlide8.xml" Type="http://schemas.openxmlformats.org/officeDocument/2006/relationships/notesSlide"/><Relationship Id="rId3" Target="../media/image45.png" Type="http://schemas.openxmlformats.org/officeDocument/2006/relationships/image"/><Relationship Id="rId4" Target="../media/image93.png" Type="http://schemas.openxmlformats.org/officeDocument/2006/relationships/image"/><Relationship Id="rId5" Target="../media/image94.png" Type="http://schemas.openxmlformats.org/officeDocument/2006/relationships/image"/><Relationship Id="rId6" Target="../media/image95.png" Type="http://schemas.openxmlformats.org/officeDocument/2006/relationships/image"/><Relationship Id="rId7" Target="../media/image96.png" Type="http://schemas.openxmlformats.org/officeDocument/2006/relationships/image"/><Relationship Id="rId8" Target="../media/image97.png" Type="http://schemas.openxmlformats.org/officeDocument/2006/relationships/image"/><Relationship Id="rId9" Target="../media/image9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5.png" Type="http://schemas.openxmlformats.org/officeDocument/2006/relationships/image"/><Relationship Id="rId4" Target="../media/image104.png" Type="http://schemas.openxmlformats.org/officeDocument/2006/relationships/image"/><Relationship Id="rId5" Target="../media/image105.png" Type="http://schemas.openxmlformats.org/officeDocument/2006/relationships/image"/><Relationship Id="rId6" Target="../media/image106.png" Type="http://schemas.openxmlformats.org/officeDocument/2006/relationships/image"/><Relationship Id="rId7" Target="../media/image107.png" Type="http://schemas.openxmlformats.org/officeDocument/2006/relationships/image"/><Relationship Id="rId8" Target="../media/image108.png" Type="http://schemas.openxmlformats.org/officeDocument/2006/relationships/image"/><Relationship Id="rId9" Target="../media/image10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6.png" Type="http://schemas.openxmlformats.org/officeDocument/2006/relationships/image"/><Relationship Id="rId11" Target="../media/image117.png" Type="http://schemas.openxmlformats.org/officeDocument/2006/relationships/image"/><Relationship Id="rId12" Target="../media/image118.png" Type="http://schemas.openxmlformats.org/officeDocument/2006/relationships/image"/><Relationship Id="rId13" Target="../media/image119.png" Type="http://schemas.openxmlformats.org/officeDocument/2006/relationships/image"/><Relationship Id="rId2" Target="../notesSlides/notesSlide10.xml" Type="http://schemas.openxmlformats.org/officeDocument/2006/relationships/notesSlide"/><Relationship Id="rId3" Target="../media/image16.png" Type="http://schemas.openxmlformats.org/officeDocument/2006/relationships/image"/><Relationship Id="rId4" Target="../media/image110.png" Type="http://schemas.openxmlformats.org/officeDocument/2006/relationships/image"/><Relationship Id="rId5" Target="../media/image111.png" Type="http://schemas.openxmlformats.org/officeDocument/2006/relationships/image"/><Relationship Id="rId6" Target="../media/image112.png" Type="http://schemas.openxmlformats.org/officeDocument/2006/relationships/image"/><Relationship Id="rId7" Target="../media/image113.png" Type="http://schemas.openxmlformats.org/officeDocument/2006/relationships/image"/><Relationship Id="rId8" Target="../media/image114.png" Type="http://schemas.openxmlformats.org/officeDocument/2006/relationships/image"/><Relationship Id="rId9" Target="../media/image1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20.png" Type="http://schemas.openxmlformats.org/officeDocument/2006/relationships/image"/><Relationship Id="rId4" Target="../media/image121.png" Type="http://schemas.openxmlformats.org/officeDocument/2006/relationships/image"/><Relationship Id="rId5" Target="../media/image122.png" Type="http://schemas.openxmlformats.org/officeDocument/2006/relationships/image"/><Relationship Id="rId6" Target="../media/image123.png" Type="http://schemas.openxmlformats.org/officeDocument/2006/relationships/image"/><Relationship Id="rId7" Target="../media/image124.png" Type="http://schemas.openxmlformats.org/officeDocument/2006/relationships/image"/><Relationship Id="rId8" Target="../media/image125.png" Type="http://schemas.openxmlformats.org/officeDocument/2006/relationships/image"/><Relationship Id="rId9" Target="../media/image1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3.png" Type="http://schemas.openxmlformats.org/officeDocument/2006/relationships/image"/><Relationship Id="rId11" Target="../media/image134.png" Type="http://schemas.openxmlformats.org/officeDocument/2006/relationships/image"/><Relationship Id="rId12" Target="../media/image135.png" Type="http://schemas.openxmlformats.org/officeDocument/2006/relationships/image"/><Relationship Id="rId13" Target="../media/image136.png" Type="http://schemas.openxmlformats.org/officeDocument/2006/relationships/image"/><Relationship Id="rId14" Target="../media/image137.png" Type="http://schemas.openxmlformats.org/officeDocument/2006/relationships/image"/><Relationship Id="rId15" Target="../media/image138.png" Type="http://schemas.openxmlformats.org/officeDocument/2006/relationships/image"/><Relationship Id="rId2" Target="../notesSlides/notesSlide12.xml" Type="http://schemas.openxmlformats.org/officeDocument/2006/relationships/notesSlide"/><Relationship Id="rId3" Target="../media/image16.png" Type="http://schemas.openxmlformats.org/officeDocument/2006/relationships/image"/><Relationship Id="rId4" Target="../media/image127.png" Type="http://schemas.openxmlformats.org/officeDocument/2006/relationships/image"/><Relationship Id="rId5" Target="../media/image128.png" Type="http://schemas.openxmlformats.org/officeDocument/2006/relationships/image"/><Relationship Id="rId6" Target="../media/image129.png" Type="http://schemas.openxmlformats.org/officeDocument/2006/relationships/image"/><Relationship Id="rId7" Target="../media/image130.png" Type="http://schemas.openxmlformats.org/officeDocument/2006/relationships/image"/><Relationship Id="rId8" Target="../media/image131.png" Type="http://schemas.openxmlformats.org/officeDocument/2006/relationships/image"/><Relationship Id="rId9" Target="../media/image1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6.png" Type="http://schemas.openxmlformats.org/officeDocument/2006/relationships/image"/><Relationship Id="rId11" Target="../media/image147.png" Type="http://schemas.openxmlformats.org/officeDocument/2006/relationships/image"/><Relationship Id="rId12" Target="../media/image148.png" Type="http://schemas.openxmlformats.org/officeDocument/2006/relationships/image"/><Relationship Id="rId13" Target="../media/image149.png" Type="http://schemas.openxmlformats.org/officeDocument/2006/relationships/image"/><Relationship Id="rId14" Target="../media/image150.png" Type="http://schemas.openxmlformats.org/officeDocument/2006/relationships/image"/><Relationship Id="rId15" Target="../media/image151.png" Type="http://schemas.openxmlformats.org/officeDocument/2006/relationships/image"/><Relationship Id="rId2" Target="../notesSlides/notesSlide13.xml" Type="http://schemas.openxmlformats.org/officeDocument/2006/relationships/notesSlide"/><Relationship Id="rId3" Target="../media/image139.png" Type="http://schemas.openxmlformats.org/officeDocument/2006/relationships/image"/><Relationship Id="rId4" Target="../media/image140.png" Type="http://schemas.openxmlformats.org/officeDocument/2006/relationships/image"/><Relationship Id="rId5" Target="../media/image141.png" Type="http://schemas.openxmlformats.org/officeDocument/2006/relationships/image"/><Relationship Id="rId6" Target="../media/image142.png" Type="http://schemas.openxmlformats.org/officeDocument/2006/relationships/image"/><Relationship Id="rId7" Target="../media/image143.png" Type="http://schemas.openxmlformats.org/officeDocument/2006/relationships/image"/><Relationship Id="rId8" Target="../media/image144.png" Type="http://schemas.openxmlformats.org/officeDocument/2006/relationships/image"/><Relationship Id="rId9" Target="../media/image14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9.png" Type="http://schemas.openxmlformats.org/officeDocument/2006/relationships/image"/><Relationship Id="rId11" Target="../media/image160.png" Type="http://schemas.openxmlformats.org/officeDocument/2006/relationships/image"/><Relationship Id="rId12" Target="../media/image161.png" Type="http://schemas.openxmlformats.org/officeDocument/2006/relationships/image"/><Relationship Id="rId13" Target="../media/image162.png" Type="http://schemas.openxmlformats.org/officeDocument/2006/relationships/image"/><Relationship Id="rId14" Target="../media/image163.png" Type="http://schemas.openxmlformats.org/officeDocument/2006/relationships/image"/><Relationship Id="rId15" Target="../media/image36.png" Type="http://schemas.openxmlformats.org/officeDocument/2006/relationships/image"/><Relationship Id="rId16" Target="../media/image164.png" Type="http://schemas.openxmlformats.org/officeDocument/2006/relationships/image"/><Relationship Id="rId17" Target="../media/image165.png" Type="http://schemas.openxmlformats.org/officeDocument/2006/relationships/image"/><Relationship Id="rId18" Target="../media/image166.png" Type="http://schemas.openxmlformats.org/officeDocument/2006/relationships/image"/><Relationship Id="rId19" Target="../media/image167.png" Type="http://schemas.openxmlformats.org/officeDocument/2006/relationships/image"/><Relationship Id="rId2" Target="../notesSlides/notesSlide14.xml" Type="http://schemas.openxmlformats.org/officeDocument/2006/relationships/notesSlide"/><Relationship Id="rId3" Target="../media/image152.png" Type="http://schemas.openxmlformats.org/officeDocument/2006/relationships/image"/><Relationship Id="rId4" Target="../media/image153.png" Type="http://schemas.openxmlformats.org/officeDocument/2006/relationships/image"/><Relationship Id="rId5" Target="../media/image154.png" Type="http://schemas.openxmlformats.org/officeDocument/2006/relationships/image"/><Relationship Id="rId6" Target="../media/image155.png" Type="http://schemas.openxmlformats.org/officeDocument/2006/relationships/image"/><Relationship Id="rId7" Target="../media/image156.png" Type="http://schemas.openxmlformats.org/officeDocument/2006/relationships/image"/><Relationship Id="rId8" Target="../media/image157.png" Type="http://schemas.openxmlformats.org/officeDocument/2006/relationships/image"/><Relationship Id="rId9" Target="../media/image15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5.png" Type="http://schemas.openxmlformats.org/officeDocument/2006/relationships/image"/><Relationship Id="rId11" Target="../media/image176.png" Type="http://schemas.openxmlformats.org/officeDocument/2006/relationships/image"/><Relationship Id="rId12" Target="../media/image177.png" Type="http://schemas.openxmlformats.org/officeDocument/2006/relationships/image"/><Relationship Id="rId2" Target="../notesSlides/notesSlide15.xml" Type="http://schemas.openxmlformats.org/officeDocument/2006/relationships/notesSlide"/><Relationship Id="rId3" Target="../media/image168.png" Type="http://schemas.openxmlformats.org/officeDocument/2006/relationships/image"/><Relationship Id="rId4" Target="../media/image169.png" Type="http://schemas.openxmlformats.org/officeDocument/2006/relationships/image"/><Relationship Id="rId5" Target="../media/image170.png" Type="http://schemas.openxmlformats.org/officeDocument/2006/relationships/image"/><Relationship Id="rId6" Target="../media/image171.png" Type="http://schemas.openxmlformats.org/officeDocument/2006/relationships/image"/><Relationship Id="rId7" Target="../media/image172.png" Type="http://schemas.openxmlformats.org/officeDocument/2006/relationships/image"/><Relationship Id="rId8" Target="../media/image173.png" Type="http://schemas.openxmlformats.org/officeDocument/2006/relationships/image"/><Relationship Id="rId9" Target="../media/image17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5.png" Type="http://schemas.openxmlformats.org/officeDocument/2006/relationships/image"/><Relationship Id="rId2" Target="../notesSlides/notesSlide16.xml" Type="http://schemas.openxmlformats.org/officeDocument/2006/relationships/notesSlide"/><Relationship Id="rId3" Target="../media/image178.png" Type="http://schemas.openxmlformats.org/officeDocument/2006/relationships/image"/><Relationship Id="rId4" Target="../media/image179.png" Type="http://schemas.openxmlformats.org/officeDocument/2006/relationships/image"/><Relationship Id="rId5" Target="../media/image180.png" Type="http://schemas.openxmlformats.org/officeDocument/2006/relationships/image"/><Relationship Id="rId6" Target="../media/image181.png" Type="http://schemas.openxmlformats.org/officeDocument/2006/relationships/image"/><Relationship Id="rId7" Target="../media/image182.png" Type="http://schemas.openxmlformats.org/officeDocument/2006/relationships/image"/><Relationship Id="rId8" Target="../media/image183.png" Type="http://schemas.openxmlformats.org/officeDocument/2006/relationships/image"/><Relationship Id="rId9" Target="../media/image18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2.png" Type="http://schemas.openxmlformats.org/officeDocument/2006/relationships/image"/><Relationship Id="rId11" Target="../media/image193.png" Type="http://schemas.openxmlformats.org/officeDocument/2006/relationships/image"/><Relationship Id="rId12" Target="../media/image194.png" Type="http://schemas.openxmlformats.org/officeDocument/2006/relationships/image"/><Relationship Id="rId13" Target="../media/image195.png" Type="http://schemas.openxmlformats.org/officeDocument/2006/relationships/image"/><Relationship Id="rId14" Target="../media/image196.png" Type="http://schemas.openxmlformats.org/officeDocument/2006/relationships/image"/><Relationship Id="rId15" Target="../media/image197.png" Type="http://schemas.openxmlformats.org/officeDocument/2006/relationships/image"/><Relationship Id="rId16" Target="../media/image198.png" Type="http://schemas.openxmlformats.org/officeDocument/2006/relationships/image"/><Relationship Id="rId17" Target="../media/image199.png" Type="http://schemas.openxmlformats.org/officeDocument/2006/relationships/image"/><Relationship Id="rId18" Target="../media/image169.png" Type="http://schemas.openxmlformats.org/officeDocument/2006/relationships/image"/><Relationship Id="rId19" Target="../media/image200.png" Type="http://schemas.openxmlformats.org/officeDocument/2006/relationships/image"/><Relationship Id="rId2" Target="../notesSlides/notesSlide17.xml" Type="http://schemas.openxmlformats.org/officeDocument/2006/relationships/notesSlide"/><Relationship Id="rId20" Target="../media/image201.png" Type="http://schemas.openxmlformats.org/officeDocument/2006/relationships/image"/><Relationship Id="rId21" Target="../media/image202.png" Type="http://schemas.openxmlformats.org/officeDocument/2006/relationships/image"/><Relationship Id="rId3" Target="../media/image186.png" Type="http://schemas.openxmlformats.org/officeDocument/2006/relationships/image"/><Relationship Id="rId4" Target="../media/image187.png" Type="http://schemas.openxmlformats.org/officeDocument/2006/relationships/image"/><Relationship Id="rId5" Target="../media/image188.png" Type="http://schemas.openxmlformats.org/officeDocument/2006/relationships/image"/><Relationship Id="rId6" Target="../media/image189.png" Type="http://schemas.openxmlformats.org/officeDocument/2006/relationships/image"/><Relationship Id="rId7" Target="../media/image36.png" Type="http://schemas.openxmlformats.org/officeDocument/2006/relationships/image"/><Relationship Id="rId8" Target="../media/image190.png" Type="http://schemas.openxmlformats.org/officeDocument/2006/relationships/image"/><Relationship Id="rId9" Target="../media/image19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9.png" Type="http://schemas.openxmlformats.org/officeDocument/2006/relationships/image"/><Relationship Id="rId11" Target="../media/image210.png" Type="http://schemas.openxmlformats.org/officeDocument/2006/relationships/image"/><Relationship Id="rId12" Target="../media/image211.png" Type="http://schemas.openxmlformats.org/officeDocument/2006/relationships/image"/><Relationship Id="rId13" Target="../media/image86.png" Type="http://schemas.openxmlformats.org/officeDocument/2006/relationships/image"/><Relationship Id="rId2" Target="../notesSlides/notesSlide18.xml" Type="http://schemas.openxmlformats.org/officeDocument/2006/relationships/notesSlide"/><Relationship Id="rId3" Target="../media/image16.png" Type="http://schemas.openxmlformats.org/officeDocument/2006/relationships/image"/><Relationship Id="rId4" Target="../media/image203.png" Type="http://schemas.openxmlformats.org/officeDocument/2006/relationships/image"/><Relationship Id="rId5" Target="../media/image204.png" Type="http://schemas.openxmlformats.org/officeDocument/2006/relationships/image"/><Relationship Id="rId6" Target="../media/image205.png" Type="http://schemas.openxmlformats.org/officeDocument/2006/relationships/image"/><Relationship Id="rId7" Target="../media/image206.png" Type="http://schemas.openxmlformats.org/officeDocument/2006/relationships/image"/><Relationship Id="rId8" Target="../media/image207.png" Type="http://schemas.openxmlformats.org/officeDocument/2006/relationships/image"/><Relationship Id="rId9" Target="../media/image20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1828800" y="1543050"/>
            <a:ext cx="428625" cy="428625"/>
            <a:chOff x="0" y="0"/>
            <a:chExt cx="571500" cy="571500"/>
          </a:xfrm>
        </p:grpSpPr>
        <p:sp>
          <p:nvSpPr>
            <p:cNvPr name="Freeform 5" id="5" descr="preencoded.png"/>
            <p:cNvSpPr/>
            <p:nvPr/>
          </p:nvSpPr>
          <p:spPr>
            <a:xfrm flipH="false" flipV="false" rot="0">
              <a:off x="0" y="0"/>
              <a:ext cx="571500" cy="571500"/>
            </a:xfrm>
            <a:custGeom>
              <a:avLst/>
              <a:gdLst/>
              <a:ahLst/>
              <a:cxnLst/>
              <a:rect r="r" b="b" t="t" l="l"/>
              <a:pathLst>
                <a:path h="571500" w="571500">
                  <a:moveTo>
                    <a:pt x="0" y="0"/>
                  </a:moveTo>
                  <a:lnTo>
                    <a:pt x="571500" y="0"/>
                  </a:lnTo>
                  <a:lnTo>
                    <a:pt x="571500" y="571500"/>
                  </a:lnTo>
                  <a:lnTo>
                    <a:pt x="0" y="5715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15544800" y="2571750"/>
            <a:ext cx="285750" cy="285750"/>
            <a:chOff x="0" y="0"/>
            <a:chExt cx="381000" cy="381000"/>
          </a:xfrm>
        </p:grpSpPr>
        <p:sp>
          <p:nvSpPr>
            <p:cNvPr name="Freeform 7" id="7" descr="preencoded.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2743200" y="7200900"/>
            <a:ext cx="571500" cy="571500"/>
            <a:chOff x="0" y="0"/>
            <a:chExt cx="762000" cy="762000"/>
          </a:xfrm>
        </p:grpSpPr>
        <p:sp>
          <p:nvSpPr>
            <p:cNvPr name="Freeform 9" id="9" descr="preencoded.png"/>
            <p:cNvSpPr/>
            <p:nvPr/>
          </p:nvSpPr>
          <p:spPr>
            <a:xfrm flipH="false" flipV="false" rot="0">
              <a:off x="0" y="0"/>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14630400" y="6172200"/>
            <a:ext cx="357188" cy="357188"/>
            <a:chOff x="0" y="0"/>
            <a:chExt cx="476250" cy="476250"/>
          </a:xfrm>
        </p:grpSpPr>
        <p:sp>
          <p:nvSpPr>
            <p:cNvPr name="Freeform 11" id="11" descr="preencoded.png"/>
            <p:cNvSpPr/>
            <p:nvPr/>
          </p:nvSpPr>
          <p:spPr>
            <a:xfrm flipH="false" flipV="false" rot="0">
              <a:off x="0" y="0"/>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9144000" y="4114800"/>
            <a:ext cx="500062" cy="500062"/>
            <a:chOff x="0" y="0"/>
            <a:chExt cx="666750" cy="666750"/>
          </a:xfrm>
        </p:grpSpPr>
        <p:sp>
          <p:nvSpPr>
            <p:cNvPr name="Freeform 13" id="13" descr="preencoded.png"/>
            <p:cNvSpPr/>
            <p:nvPr/>
          </p:nvSpPr>
          <p:spPr>
            <a:xfrm flipH="false" flipV="false" rot="0">
              <a:off x="0" y="0"/>
              <a:ext cx="666750" cy="666750"/>
            </a:xfrm>
            <a:custGeom>
              <a:avLst/>
              <a:gdLst/>
              <a:ahLst/>
              <a:cxnLst/>
              <a:rect r="r" b="b" t="t" l="l"/>
              <a:pathLst>
                <a:path h="666750" w="666750">
                  <a:moveTo>
                    <a:pt x="0" y="0"/>
                  </a:moveTo>
                  <a:lnTo>
                    <a:pt x="666750" y="0"/>
                  </a:lnTo>
                  <a:lnTo>
                    <a:pt x="666750" y="666750"/>
                  </a:lnTo>
                  <a:lnTo>
                    <a:pt x="0" y="66675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914400" y="2057400"/>
            <a:ext cx="2143125" cy="28575"/>
            <a:chOff x="0" y="0"/>
            <a:chExt cx="2857500" cy="38100"/>
          </a:xfrm>
        </p:grpSpPr>
        <p:sp>
          <p:nvSpPr>
            <p:cNvPr name="Freeform 15" id="15" descr="preencoded.png"/>
            <p:cNvSpPr/>
            <p:nvPr/>
          </p:nvSpPr>
          <p:spPr>
            <a:xfrm flipH="false" flipV="false" rot="0">
              <a:off x="0" y="0"/>
              <a:ext cx="2857500" cy="38100"/>
            </a:xfrm>
            <a:custGeom>
              <a:avLst/>
              <a:gdLst/>
              <a:ahLst/>
              <a:cxnLst/>
              <a:rect r="r" b="b" t="t" l="l"/>
              <a:pathLst>
                <a:path h="38100" w="2857500">
                  <a:moveTo>
                    <a:pt x="0" y="0"/>
                  </a:moveTo>
                  <a:lnTo>
                    <a:pt x="2857500" y="0"/>
                  </a:lnTo>
                  <a:lnTo>
                    <a:pt x="2857500" y="38100"/>
                  </a:lnTo>
                  <a:lnTo>
                    <a:pt x="0" y="381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13716000" y="3086100"/>
            <a:ext cx="1428750" cy="28575"/>
            <a:chOff x="0" y="0"/>
            <a:chExt cx="1905000" cy="38100"/>
          </a:xfrm>
        </p:grpSpPr>
        <p:sp>
          <p:nvSpPr>
            <p:cNvPr name="Freeform 17" id="17" descr="preencoded.png"/>
            <p:cNvSpPr/>
            <p:nvPr/>
          </p:nvSpPr>
          <p:spPr>
            <a:xfrm flipH="false" flipV="false" rot="0">
              <a:off x="0" y="0"/>
              <a:ext cx="1905000" cy="38100"/>
            </a:xfrm>
            <a:custGeom>
              <a:avLst/>
              <a:gdLst/>
              <a:ahLst/>
              <a:cxnLst/>
              <a:rect r="r" b="b" t="t" l="l"/>
              <a:pathLst>
                <a:path h="38100" w="1905000">
                  <a:moveTo>
                    <a:pt x="0" y="0"/>
                  </a:moveTo>
                  <a:lnTo>
                    <a:pt x="1905000" y="0"/>
                  </a:lnTo>
                  <a:lnTo>
                    <a:pt x="1905000" y="38100"/>
                  </a:lnTo>
                  <a:lnTo>
                    <a:pt x="0" y="38100"/>
                  </a:lnTo>
                  <a:lnTo>
                    <a:pt x="0" y="0"/>
                  </a:lnTo>
                  <a:close/>
                </a:path>
              </a:pathLst>
            </a:custGeom>
            <a:blipFill>
              <a:blip r:embed="rId10"/>
              <a:stretch>
                <a:fillRect l="0" t="0" r="0" b="0"/>
              </a:stretch>
            </a:blipFill>
          </p:spPr>
        </p:sp>
      </p:grpSp>
      <p:grpSp>
        <p:nvGrpSpPr>
          <p:cNvPr name="Group 18" id="18"/>
          <p:cNvGrpSpPr>
            <a:grpSpLocks noChangeAspect="true"/>
          </p:cNvGrpSpPr>
          <p:nvPr/>
        </p:nvGrpSpPr>
        <p:grpSpPr>
          <a:xfrm rot="0">
            <a:off x="4572000" y="7715250"/>
            <a:ext cx="2857500" cy="28575"/>
            <a:chOff x="0" y="0"/>
            <a:chExt cx="3810000" cy="38100"/>
          </a:xfrm>
        </p:grpSpPr>
        <p:sp>
          <p:nvSpPr>
            <p:cNvPr name="Freeform 19" id="19" descr="preencoded.png"/>
            <p:cNvSpPr/>
            <p:nvPr/>
          </p:nvSpPr>
          <p:spPr>
            <a:xfrm flipH="false" flipV="false" rot="0">
              <a:off x="0" y="0"/>
              <a:ext cx="3810000" cy="38100"/>
            </a:xfrm>
            <a:custGeom>
              <a:avLst/>
              <a:gdLst/>
              <a:ahLst/>
              <a:cxnLst/>
              <a:rect r="r" b="b" t="t" l="l"/>
              <a:pathLst>
                <a:path h="38100" w="3810000">
                  <a:moveTo>
                    <a:pt x="0" y="0"/>
                  </a:moveTo>
                  <a:lnTo>
                    <a:pt x="3810000" y="0"/>
                  </a:lnTo>
                  <a:lnTo>
                    <a:pt x="3810000" y="38100"/>
                  </a:lnTo>
                  <a:lnTo>
                    <a:pt x="0" y="381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10972800" y="5143500"/>
            <a:ext cx="1714500" cy="28575"/>
            <a:chOff x="0" y="0"/>
            <a:chExt cx="2286000" cy="38100"/>
          </a:xfrm>
        </p:grpSpPr>
        <p:sp>
          <p:nvSpPr>
            <p:cNvPr name="Freeform 21" id="21" descr="preencoded.png"/>
            <p:cNvSpPr/>
            <p:nvPr/>
          </p:nvSpPr>
          <p:spPr>
            <a:xfrm flipH="false" flipV="false" rot="0">
              <a:off x="0" y="0"/>
              <a:ext cx="2286000" cy="38100"/>
            </a:xfrm>
            <a:custGeom>
              <a:avLst/>
              <a:gdLst/>
              <a:ahLst/>
              <a:cxnLst/>
              <a:rect r="r" b="b" t="t" l="l"/>
              <a:pathLst>
                <a:path h="38100" w="2286000">
                  <a:moveTo>
                    <a:pt x="0" y="0"/>
                  </a:moveTo>
                  <a:lnTo>
                    <a:pt x="2286000" y="0"/>
                  </a:lnTo>
                  <a:lnTo>
                    <a:pt x="2286000" y="38100"/>
                  </a:lnTo>
                  <a:lnTo>
                    <a:pt x="0" y="38100"/>
                  </a:lnTo>
                  <a:lnTo>
                    <a:pt x="0" y="0"/>
                  </a:lnTo>
                  <a:close/>
                </a:path>
              </a:pathLst>
            </a:custGeom>
            <a:blipFill>
              <a:blip r:embed="rId12"/>
              <a:stretch>
                <a:fillRect l="0" t="0" r="0" b="0"/>
              </a:stretch>
            </a:blipFill>
          </p:spPr>
        </p:sp>
      </p:grpSp>
      <p:grpSp>
        <p:nvGrpSpPr>
          <p:cNvPr name="Group 22" id="22"/>
          <p:cNvGrpSpPr>
            <a:grpSpLocks noChangeAspect="true"/>
          </p:cNvGrpSpPr>
          <p:nvPr/>
        </p:nvGrpSpPr>
        <p:grpSpPr>
          <a:xfrm rot="0">
            <a:off x="7672388" y="6600825"/>
            <a:ext cx="514350" cy="571500"/>
            <a:chOff x="0" y="0"/>
            <a:chExt cx="685800" cy="762000"/>
          </a:xfrm>
        </p:grpSpPr>
        <p:sp>
          <p:nvSpPr>
            <p:cNvPr name="Freeform 23" id="23" descr="preencoded.png"/>
            <p:cNvSpPr/>
            <p:nvPr/>
          </p:nvSpPr>
          <p:spPr>
            <a:xfrm flipH="false" flipV="false" rot="0">
              <a:off x="0" y="0"/>
              <a:ext cx="685800" cy="762000"/>
            </a:xfrm>
            <a:custGeom>
              <a:avLst/>
              <a:gdLst/>
              <a:ahLst/>
              <a:cxnLst/>
              <a:rect r="r" b="b" t="t" l="l"/>
              <a:pathLst>
                <a:path h="762000" w="685800">
                  <a:moveTo>
                    <a:pt x="0" y="0"/>
                  </a:moveTo>
                  <a:lnTo>
                    <a:pt x="685800" y="0"/>
                  </a:lnTo>
                  <a:lnTo>
                    <a:pt x="685800" y="762000"/>
                  </a:lnTo>
                  <a:lnTo>
                    <a:pt x="0" y="762000"/>
                  </a:lnTo>
                  <a:lnTo>
                    <a:pt x="0" y="0"/>
                  </a:lnTo>
                  <a:close/>
                </a:path>
              </a:pathLst>
            </a:custGeom>
            <a:blipFill>
              <a:blip r:embed="rId13"/>
              <a:stretch>
                <a:fillRect l="0" t="0" r="0" b="0"/>
              </a:stretch>
            </a:blipFill>
          </p:spPr>
        </p:sp>
      </p:grpSp>
      <p:grpSp>
        <p:nvGrpSpPr>
          <p:cNvPr name="Group 24" id="24"/>
          <p:cNvGrpSpPr>
            <a:grpSpLocks noChangeAspect="true"/>
          </p:cNvGrpSpPr>
          <p:nvPr/>
        </p:nvGrpSpPr>
        <p:grpSpPr>
          <a:xfrm rot="0">
            <a:off x="8415338" y="6600825"/>
            <a:ext cx="457200" cy="571500"/>
            <a:chOff x="0" y="0"/>
            <a:chExt cx="609600" cy="762000"/>
          </a:xfrm>
        </p:grpSpPr>
        <p:sp>
          <p:nvSpPr>
            <p:cNvPr name="Freeform 25" id="25" descr="preencoded.png"/>
            <p:cNvSpPr/>
            <p:nvPr/>
          </p:nvSpPr>
          <p:spPr>
            <a:xfrm flipH="false" flipV="false" rot="0">
              <a:off x="0" y="0"/>
              <a:ext cx="609600" cy="762000"/>
            </a:xfrm>
            <a:custGeom>
              <a:avLst/>
              <a:gdLst/>
              <a:ahLst/>
              <a:cxnLst/>
              <a:rect r="r" b="b" t="t" l="l"/>
              <a:pathLst>
                <a:path h="762000" w="609600">
                  <a:moveTo>
                    <a:pt x="0" y="0"/>
                  </a:moveTo>
                  <a:lnTo>
                    <a:pt x="609600" y="0"/>
                  </a:lnTo>
                  <a:lnTo>
                    <a:pt x="609600" y="762000"/>
                  </a:lnTo>
                  <a:lnTo>
                    <a:pt x="0" y="762000"/>
                  </a:lnTo>
                  <a:lnTo>
                    <a:pt x="0" y="0"/>
                  </a:lnTo>
                  <a:close/>
                </a:path>
              </a:pathLst>
            </a:custGeom>
            <a:blipFill>
              <a:blip r:embed="rId14"/>
              <a:stretch>
                <a:fillRect l="0" t="0" r="0" b="0"/>
              </a:stretch>
            </a:blipFill>
          </p:spPr>
        </p:sp>
      </p:grpSp>
      <p:grpSp>
        <p:nvGrpSpPr>
          <p:cNvPr name="Group 26" id="26"/>
          <p:cNvGrpSpPr>
            <a:grpSpLocks noChangeAspect="true"/>
          </p:cNvGrpSpPr>
          <p:nvPr/>
        </p:nvGrpSpPr>
        <p:grpSpPr>
          <a:xfrm rot="0">
            <a:off x="9101138" y="6600825"/>
            <a:ext cx="642938" cy="571500"/>
            <a:chOff x="0" y="0"/>
            <a:chExt cx="857250" cy="762000"/>
          </a:xfrm>
        </p:grpSpPr>
        <p:sp>
          <p:nvSpPr>
            <p:cNvPr name="Freeform 27" id="27" descr="preencoded.png"/>
            <p:cNvSpPr/>
            <p:nvPr/>
          </p:nvSpPr>
          <p:spPr>
            <a:xfrm flipH="false" flipV="false" rot="0">
              <a:off x="0" y="0"/>
              <a:ext cx="857250" cy="762000"/>
            </a:xfrm>
            <a:custGeom>
              <a:avLst/>
              <a:gdLst/>
              <a:ahLst/>
              <a:cxnLst/>
              <a:rect r="r" b="b" t="t" l="l"/>
              <a:pathLst>
                <a:path h="762000" w="857250">
                  <a:moveTo>
                    <a:pt x="0" y="0"/>
                  </a:moveTo>
                  <a:lnTo>
                    <a:pt x="857250" y="0"/>
                  </a:lnTo>
                  <a:lnTo>
                    <a:pt x="857250" y="762000"/>
                  </a:lnTo>
                  <a:lnTo>
                    <a:pt x="0" y="762000"/>
                  </a:lnTo>
                  <a:lnTo>
                    <a:pt x="0" y="0"/>
                  </a:lnTo>
                  <a:close/>
                </a:path>
              </a:pathLst>
            </a:custGeom>
            <a:blipFill>
              <a:blip r:embed="rId15"/>
              <a:stretch>
                <a:fillRect l="0" t="0" r="0" b="0"/>
              </a:stretch>
            </a:blipFill>
          </p:spPr>
        </p:sp>
      </p:grpSp>
      <p:grpSp>
        <p:nvGrpSpPr>
          <p:cNvPr name="Group 28" id="28"/>
          <p:cNvGrpSpPr>
            <a:grpSpLocks noChangeAspect="true"/>
          </p:cNvGrpSpPr>
          <p:nvPr/>
        </p:nvGrpSpPr>
        <p:grpSpPr>
          <a:xfrm rot="0">
            <a:off x="9972675" y="6600825"/>
            <a:ext cx="642938" cy="571500"/>
            <a:chOff x="0" y="0"/>
            <a:chExt cx="857250" cy="762000"/>
          </a:xfrm>
        </p:grpSpPr>
        <p:sp>
          <p:nvSpPr>
            <p:cNvPr name="Freeform 29" id="29" descr="preencoded.png"/>
            <p:cNvSpPr/>
            <p:nvPr/>
          </p:nvSpPr>
          <p:spPr>
            <a:xfrm flipH="false" flipV="false" rot="0">
              <a:off x="0" y="0"/>
              <a:ext cx="857250" cy="762000"/>
            </a:xfrm>
            <a:custGeom>
              <a:avLst/>
              <a:gdLst/>
              <a:ahLst/>
              <a:cxnLst/>
              <a:rect r="r" b="b" t="t" l="l"/>
              <a:pathLst>
                <a:path h="762000" w="857250">
                  <a:moveTo>
                    <a:pt x="0" y="0"/>
                  </a:moveTo>
                  <a:lnTo>
                    <a:pt x="857250" y="0"/>
                  </a:lnTo>
                  <a:lnTo>
                    <a:pt x="857250" y="762000"/>
                  </a:lnTo>
                  <a:lnTo>
                    <a:pt x="0" y="762000"/>
                  </a:lnTo>
                  <a:lnTo>
                    <a:pt x="0" y="0"/>
                  </a:lnTo>
                  <a:close/>
                </a:path>
              </a:pathLst>
            </a:custGeom>
            <a:blipFill>
              <a:blip r:embed="rId16"/>
              <a:stretch>
                <a:fillRect l="0" t="0" r="0" b="0"/>
              </a:stretch>
            </a:blipFill>
          </p:spPr>
        </p:sp>
      </p:grpSp>
      <p:grpSp>
        <p:nvGrpSpPr>
          <p:cNvPr name="Group 30" id="30"/>
          <p:cNvGrpSpPr>
            <a:grpSpLocks noChangeAspect="true"/>
          </p:cNvGrpSpPr>
          <p:nvPr/>
        </p:nvGrpSpPr>
        <p:grpSpPr>
          <a:xfrm rot="0">
            <a:off x="13430250" y="5314950"/>
            <a:ext cx="4286250" cy="4400550"/>
            <a:chOff x="0" y="0"/>
            <a:chExt cx="5715000" cy="5867400"/>
          </a:xfrm>
        </p:grpSpPr>
        <p:sp>
          <p:nvSpPr>
            <p:cNvPr name="Freeform 31" id="31" descr="preencoded.png"/>
            <p:cNvSpPr/>
            <p:nvPr/>
          </p:nvSpPr>
          <p:spPr>
            <a:xfrm flipH="false" flipV="false" rot="0">
              <a:off x="0" y="0"/>
              <a:ext cx="5715000" cy="5867400"/>
            </a:xfrm>
            <a:custGeom>
              <a:avLst/>
              <a:gdLst/>
              <a:ahLst/>
              <a:cxnLst/>
              <a:rect r="r" b="b" t="t" l="l"/>
              <a:pathLst>
                <a:path h="5867400" w="5715000">
                  <a:moveTo>
                    <a:pt x="0" y="0"/>
                  </a:moveTo>
                  <a:lnTo>
                    <a:pt x="5715000" y="0"/>
                  </a:lnTo>
                  <a:lnTo>
                    <a:pt x="5715000" y="5867400"/>
                  </a:lnTo>
                  <a:lnTo>
                    <a:pt x="0" y="5867400"/>
                  </a:lnTo>
                  <a:lnTo>
                    <a:pt x="0" y="0"/>
                  </a:lnTo>
                  <a:close/>
                </a:path>
              </a:pathLst>
            </a:custGeom>
            <a:blipFill>
              <a:blip r:embed="rId17"/>
              <a:stretch>
                <a:fillRect l="0" t="0" r="0" b="0"/>
              </a:stretch>
            </a:blipFill>
          </p:spPr>
        </p:sp>
      </p:grpSp>
      <p:sp>
        <p:nvSpPr>
          <p:cNvPr name="TextBox 32" id="32"/>
          <p:cNvSpPr txBox="true"/>
          <p:nvPr/>
        </p:nvSpPr>
        <p:spPr>
          <a:xfrm rot="0">
            <a:off x="685800" y="3219450"/>
            <a:ext cx="16916400" cy="1609725"/>
          </a:xfrm>
          <a:prstGeom prst="rect">
            <a:avLst/>
          </a:prstGeom>
        </p:spPr>
        <p:txBody>
          <a:bodyPr anchor="t" rtlCol="false" tIns="0" lIns="0" bIns="0" rIns="0">
            <a:spAutoFit/>
          </a:bodyPr>
          <a:lstStyle/>
          <a:p>
            <a:pPr algn="ctr">
              <a:lnSpc>
                <a:spcPts val="6750"/>
              </a:lnSpc>
            </a:pPr>
            <a:r>
              <a:rPr lang="en-US" sz="6750" b="true">
                <a:solidFill>
                  <a:srgbClr val="FFFFFF"/>
                </a:solidFill>
                <a:latin typeface="Arimo Bold"/>
                <a:ea typeface="Arimo Bold"/>
                <a:cs typeface="Arimo Bold"/>
                <a:sym typeface="Arimo Bold"/>
              </a:rPr>
              <a:t>Introduction à Python pour la Data Science</a:t>
            </a:r>
          </a:p>
        </p:txBody>
      </p:sp>
      <p:sp>
        <p:nvSpPr>
          <p:cNvPr name="TextBox 33" id="33"/>
          <p:cNvSpPr txBox="true"/>
          <p:nvPr/>
        </p:nvSpPr>
        <p:spPr>
          <a:xfrm rot="0">
            <a:off x="-1005840" y="5153025"/>
            <a:ext cx="20299680" cy="533400"/>
          </a:xfrm>
          <a:prstGeom prst="rect">
            <a:avLst/>
          </a:prstGeom>
        </p:spPr>
        <p:txBody>
          <a:bodyPr anchor="t" rtlCol="false" tIns="0" lIns="0" bIns="0" rIns="0">
            <a:spAutoFit/>
          </a:bodyPr>
          <a:lstStyle/>
          <a:p>
            <a:pPr algn="ctr">
              <a:lnSpc>
                <a:spcPts val="4050"/>
              </a:lnSpc>
            </a:pPr>
            <a:r>
              <a:rPr lang="en-US" sz="3375">
                <a:solidFill>
                  <a:srgbClr val="FFFFFF"/>
                </a:solidFill>
                <a:latin typeface="Arimo"/>
                <a:ea typeface="Arimo"/>
                <a:cs typeface="Arimo"/>
                <a:sym typeface="Arimo"/>
              </a:rPr>
              <a:t>Découvrez les outils et techniques pour analyser vos données</a:t>
            </a:r>
          </a:p>
        </p:txBody>
      </p:sp>
      <p:sp>
        <p:nvSpPr>
          <p:cNvPr name="TextBox 34" id="34"/>
          <p:cNvSpPr txBox="true"/>
          <p:nvPr/>
        </p:nvSpPr>
        <p:spPr>
          <a:xfrm rot="0">
            <a:off x="13573125" y="5248275"/>
            <a:ext cx="4286250" cy="4467225"/>
          </a:xfrm>
          <a:prstGeom prst="rect">
            <a:avLst/>
          </a:prstGeom>
        </p:spPr>
        <p:txBody>
          <a:bodyPr anchor="t" rtlCol="false" tIns="0" lIns="0" bIns="0" rIns="0">
            <a:spAutoFit/>
          </a:bodyPr>
          <a:lstStyle/>
          <a:p>
            <a:pPr algn="l">
              <a:lnSpc>
                <a:spcPts val="2700"/>
              </a:lnSpc>
            </a:pPr>
            <a:r>
              <a:rPr lang="en-US" sz="1800">
                <a:solidFill>
                  <a:srgbClr val="6272A4"/>
                </a:solidFill>
                <a:latin typeface="Courier New"/>
                <a:ea typeface="Courier New"/>
                <a:cs typeface="Courier New"/>
                <a:sym typeface="Courier New"/>
              </a:rPr>
              <a:t># Exemple de code Python pour la data science</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F8F8F2"/>
                </a:solidFill>
                <a:latin typeface="Courier New"/>
                <a:ea typeface="Courier New"/>
                <a:cs typeface="Courier New"/>
                <a:sym typeface="Courier New"/>
              </a:rPr>
              <a:t>pandas </a:t>
            </a:r>
            <a:r>
              <a:rPr lang="en-US" sz="1800">
                <a:solidFill>
                  <a:srgbClr val="FF9100"/>
                </a:solidFill>
                <a:latin typeface="Courier New"/>
                <a:ea typeface="Courier New"/>
                <a:cs typeface="Courier New"/>
                <a:sym typeface="Courier New"/>
              </a:rPr>
              <a:t>as </a:t>
            </a:r>
            <a:r>
              <a:rPr lang="en-US" sz="1800">
                <a:solidFill>
                  <a:srgbClr val="F8F8F2"/>
                </a:solidFill>
                <a:latin typeface="Courier New"/>
                <a:ea typeface="Courier New"/>
                <a:cs typeface="Courier New"/>
                <a:sym typeface="Courier New"/>
              </a:rPr>
              <a:t>pd</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F8F8F2"/>
                </a:solidFill>
                <a:latin typeface="Courier New"/>
                <a:ea typeface="Courier New"/>
                <a:cs typeface="Courier New"/>
                <a:sym typeface="Courier New"/>
              </a:rPr>
              <a:t>numpy </a:t>
            </a:r>
            <a:r>
              <a:rPr lang="en-US" sz="1800">
                <a:solidFill>
                  <a:srgbClr val="FF9100"/>
                </a:solidFill>
                <a:latin typeface="Courier New"/>
                <a:ea typeface="Courier New"/>
                <a:cs typeface="Courier New"/>
                <a:sym typeface="Courier New"/>
              </a:rPr>
              <a:t>as </a:t>
            </a:r>
            <a:r>
              <a:rPr lang="en-US" sz="1800">
                <a:solidFill>
                  <a:srgbClr val="F8F8F2"/>
                </a:solidFill>
                <a:latin typeface="Courier New"/>
                <a:ea typeface="Courier New"/>
                <a:cs typeface="Courier New"/>
                <a:sym typeface="Courier New"/>
              </a:rPr>
              <a:t>np</a:t>
            </a:r>
          </a:p>
          <a:p>
            <a:pPr algn="l">
              <a:lnSpc>
                <a:spcPts val="2700"/>
              </a:lnSpc>
            </a:pPr>
          </a:p>
          <a:p>
            <a:pPr algn="l">
              <a:lnSpc>
                <a:spcPts val="2700"/>
              </a:lnSpc>
            </a:pPr>
            <a:r>
              <a:rPr lang="en-US" sz="1800">
                <a:solidFill>
                  <a:srgbClr val="6272A4"/>
                </a:solidFill>
                <a:latin typeface="Courier New"/>
                <a:ea typeface="Courier New"/>
                <a:cs typeface="Courier New"/>
                <a:sym typeface="Courier New"/>
              </a:rPr>
              <a:t># Charger des données</a:t>
            </a:r>
          </a:p>
          <a:p>
            <a:pPr algn="l">
              <a:lnSpc>
                <a:spcPts val="2700"/>
              </a:lnSpc>
            </a:pPr>
            <a:r>
              <a:rPr lang="en-US" sz="1800">
                <a:solidFill>
                  <a:srgbClr val="F8F8F2"/>
                </a:solidFill>
                <a:latin typeface="Courier New"/>
                <a:ea typeface="Courier New"/>
                <a:cs typeface="Courier New"/>
                <a:sym typeface="Courier New"/>
              </a:rPr>
              <a:t>data = pd. </a:t>
            </a:r>
            <a:r>
              <a:rPr lang="en-US" sz="1800">
                <a:solidFill>
                  <a:srgbClr val="FF9100"/>
                </a:solidFill>
                <a:latin typeface="Courier New"/>
                <a:ea typeface="Courier New"/>
                <a:cs typeface="Courier New"/>
                <a:sym typeface="Courier New"/>
              </a:rPr>
              <a:t>read_csv </a:t>
            </a:r>
            <a:r>
              <a:rPr lang="en-US" sz="1800">
                <a:solidFill>
                  <a:srgbClr val="F8F8F2"/>
                </a:solidFill>
                <a:latin typeface="Courier New"/>
                <a:ea typeface="Courier New"/>
                <a:cs typeface="Courier New"/>
                <a:sym typeface="Courier New"/>
              </a:rPr>
              <a:t>( </a:t>
            </a:r>
            <a:r>
              <a:rPr lang="en-US" sz="1800">
                <a:solidFill>
                  <a:srgbClr val="F1FA8C"/>
                </a:solidFill>
                <a:latin typeface="Courier New"/>
                <a:ea typeface="Courier New"/>
                <a:cs typeface="Courier New"/>
                <a:sym typeface="Courier New"/>
              </a:rPr>
              <a:t>'donnees.csv' </a:t>
            </a:r>
            <a:r>
              <a:rPr lang="en-US" sz="1800">
                <a:solidFill>
                  <a:srgbClr val="F8F8F2"/>
                </a:solidFill>
                <a:latin typeface="Courier New"/>
                <a:ea typeface="Courier New"/>
                <a:cs typeface="Courier New"/>
                <a:sym typeface="Courier New"/>
              </a:rPr>
              <a:t>)</a:t>
            </a:r>
          </a:p>
          <a:p>
            <a:pPr algn="l">
              <a:lnSpc>
                <a:spcPts val="2700"/>
              </a:lnSpc>
            </a:pPr>
            <a:r>
              <a:rPr lang="en-US" sz="1800">
                <a:solidFill>
                  <a:srgbClr val="6272A4"/>
                </a:solidFill>
                <a:latin typeface="Courier New"/>
                <a:ea typeface="Courier New"/>
                <a:cs typeface="Courier New"/>
                <a:sym typeface="Courier New"/>
              </a:rPr>
              <a:t># Analyser les données</a:t>
            </a:r>
          </a:p>
          <a:p>
            <a:pPr algn="l">
              <a:lnSpc>
                <a:spcPts val="2700"/>
              </a:lnSpc>
            </a:pPr>
            <a:r>
              <a:rPr lang="en-US" sz="1800">
                <a:solidFill>
                  <a:srgbClr val="F8F8F2"/>
                </a:solidFill>
                <a:latin typeface="Courier New"/>
                <a:ea typeface="Courier New"/>
                <a:cs typeface="Courier New"/>
                <a:sym typeface="Courier New"/>
              </a:rPr>
              <a:t>resultat = data. </a:t>
            </a:r>
            <a:r>
              <a:rPr lang="en-US" sz="1800">
                <a:solidFill>
                  <a:srgbClr val="FF9100"/>
                </a:solidFill>
                <a:latin typeface="Courier New"/>
                <a:ea typeface="Courier New"/>
                <a:cs typeface="Courier New"/>
                <a:sym typeface="Courier New"/>
              </a:rPr>
              <a:t>describe </a:t>
            </a:r>
            <a:r>
              <a:rPr lang="en-US" sz="1800">
                <a:solidFill>
                  <a:srgbClr val="F8F8F2"/>
                </a:solidFill>
                <a:latin typeface="Courier New"/>
                <a:ea typeface="Courier New"/>
                <a:cs typeface="Courier New"/>
                <a:sym typeface="Courier New"/>
              </a:rPr>
              <a:t>()</a:t>
            </a:r>
          </a:p>
          <a:p>
            <a:pPr algn="l">
              <a:lnSpc>
                <a:spcPts val="2700"/>
              </a:lnSpc>
            </a:pPr>
            <a:r>
              <a:rPr lang="en-US" sz="1800">
                <a:solidFill>
                  <a:srgbClr val="6272A4"/>
                </a:solidFill>
                <a:latin typeface="Courier New"/>
                <a:ea typeface="Courier New"/>
                <a:cs typeface="Courier New"/>
                <a:sym typeface="Courier New"/>
              </a:rPr>
              <a:t># Visualiser les résultats</a:t>
            </a:r>
          </a:p>
          <a:p>
            <a:pPr algn="l">
              <a:lnSpc>
                <a:spcPts val="2700"/>
              </a:lnSpc>
            </a:pPr>
            <a:r>
              <a:rPr lang="en-US" sz="1800">
                <a:solidFill>
                  <a:srgbClr val="F8F8F2"/>
                </a:solidFill>
                <a:latin typeface="Courier New"/>
                <a:ea typeface="Courier New"/>
                <a:cs typeface="Courier New"/>
                <a:sym typeface="Courier New"/>
              </a:rPr>
              <a:t>data. </a:t>
            </a:r>
            <a:r>
              <a:rPr lang="en-US" sz="1800">
                <a:solidFill>
                  <a:srgbClr val="FF9100"/>
                </a:solidFill>
                <a:latin typeface="Courier New"/>
                <a:ea typeface="Courier New"/>
                <a:cs typeface="Courier New"/>
                <a:sym typeface="Courier New"/>
              </a:rPr>
              <a:t>plot </a:t>
            </a:r>
            <a:r>
              <a:rPr lang="en-US" sz="1800">
                <a:solidFill>
                  <a:srgbClr val="F8F8F2"/>
                </a:solidFill>
                <a:latin typeface="Courier New"/>
                <a:ea typeface="Courier New"/>
                <a:cs typeface="Courier New"/>
                <a:sym typeface="Courier New"/>
              </a:rPr>
              <a:t>()</a:t>
            </a:r>
          </a:p>
        </p:txBody>
      </p:sp>
      <p:sp>
        <p:nvSpPr>
          <p:cNvPr name="TextBox 35" id="35"/>
          <p:cNvSpPr txBox="true"/>
          <p:nvPr/>
        </p:nvSpPr>
        <p:spPr>
          <a:xfrm rot="0">
            <a:off x="16553854" y="9610725"/>
            <a:ext cx="1395174" cy="333375"/>
          </a:xfrm>
          <a:prstGeom prst="rect">
            <a:avLst/>
          </a:prstGeom>
        </p:spPr>
        <p:txBody>
          <a:bodyPr anchor="t" rtlCol="false" tIns="0" lIns="0" bIns="0" rIns="0">
            <a:spAutoFit/>
          </a:bodyPr>
          <a:lstStyle/>
          <a:p>
            <a:pPr algn="l">
              <a:lnSpc>
                <a:spcPts val="2250"/>
              </a:lnSpc>
            </a:pPr>
            <a:r>
              <a:rPr lang="en-US" sz="1575">
                <a:solidFill>
                  <a:srgbClr val="FFFFFF"/>
                </a:solidFill>
                <a:latin typeface="Arimo"/>
                <a:ea typeface="Arimo"/>
                <a:cs typeface="Arimo"/>
                <a:sym typeface="Arimo"/>
              </a:rPr>
              <a:t>2025-12-02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85950"/>
            <a:ext cx="8001000" cy="3943350"/>
            <a:chOff x="0" y="0"/>
            <a:chExt cx="10668000" cy="5257800"/>
          </a:xfrm>
        </p:grpSpPr>
        <p:sp>
          <p:nvSpPr>
            <p:cNvPr name="Freeform 5" id="5" descr="preencoded.png"/>
            <p:cNvSpPr/>
            <p:nvPr/>
          </p:nvSpPr>
          <p:spPr>
            <a:xfrm flipH="false" flipV="false" rot="0">
              <a:off x="0" y="0"/>
              <a:ext cx="10668000" cy="5257800"/>
            </a:xfrm>
            <a:custGeom>
              <a:avLst/>
              <a:gdLst/>
              <a:ahLst/>
              <a:cxnLst/>
              <a:rect r="r" b="b" t="t" l="l"/>
              <a:pathLst>
                <a:path h="5257800" w="10668000">
                  <a:moveTo>
                    <a:pt x="0" y="0"/>
                  </a:moveTo>
                  <a:lnTo>
                    <a:pt x="10668000" y="0"/>
                  </a:lnTo>
                  <a:lnTo>
                    <a:pt x="10668000" y="5257800"/>
                  </a:lnTo>
                  <a:lnTo>
                    <a:pt x="0" y="52578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685800" y="6286500"/>
            <a:ext cx="542925" cy="514350"/>
            <a:chOff x="0" y="0"/>
            <a:chExt cx="723900" cy="685800"/>
          </a:xfrm>
        </p:grpSpPr>
        <p:sp>
          <p:nvSpPr>
            <p:cNvPr name="Freeform 7" id="7" descr="preencoded.png"/>
            <p:cNvSpPr/>
            <p:nvPr/>
          </p:nvSpPr>
          <p:spPr>
            <a:xfrm flipH="false" flipV="false" rot="0">
              <a:off x="0" y="0"/>
              <a:ext cx="723900" cy="685800"/>
            </a:xfrm>
            <a:custGeom>
              <a:avLst/>
              <a:gdLst/>
              <a:ahLst/>
              <a:cxnLst/>
              <a:rect r="r" b="b" t="t" l="l"/>
              <a:pathLst>
                <a:path h="685800" w="723900">
                  <a:moveTo>
                    <a:pt x="0" y="0"/>
                  </a:moveTo>
                  <a:lnTo>
                    <a:pt x="723900" y="0"/>
                  </a:lnTo>
                  <a:lnTo>
                    <a:pt x="723900" y="685800"/>
                  </a:lnTo>
                  <a:lnTo>
                    <a:pt x="0" y="6858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685800" y="7029450"/>
            <a:ext cx="328612" cy="514350"/>
            <a:chOff x="0" y="0"/>
            <a:chExt cx="438150" cy="685800"/>
          </a:xfrm>
        </p:grpSpPr>
        <p:sp>
          <p:nvSpPr>
            <p:cNvPr name="Freeform 9" id="9" descr="preencoded.png"/>
            <p:cNvSpPr/>
            <p:nvPr/>
          </p:nvSpPr>
          <p:spPr>
            <a:xfrm flipH="false" flipV="false" rot="0">
              <a:off x="0" y="0"/>
              <a:ext cx="438150" cy="685800"/>
            </a:xfrm>
            <a:custGeom>
              <a:avLst/>
              <a:gdLst/>
              <a:ahLst/>
              <a:cxnLst/>
              <a:rect r="r" b="b" t="t" l="l"/>
              <a:pathLst>
                <a:path h="685800" w="438150">
                  <a:moveTo>
                    <a:pt x="0" y="0"/>
                  </a:moveTo>
                  <a:lnTo>
                    <a:pt x="438150" y="0"/>
                  </a:lnTo>
                  <a:lnTo>
                    <a:pt x="438150" y="685800"/>
                  </a:lnTo>
                  <a:lnTo>
                    <a:pt x="0" y="6858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685800" y="7772400"/>
            <a:ext cx="428625" cy="514350"/>
            <a:chOff x="0" y="0"/>
            <a:chExt cx="571500" cy="685800"/>
          </a:xfrm>
        </p:grpSpPr>
        <p:sp>
          <p:nvSpPr>
            <p:cNvPr name="Freeform 11" id="11" descr="preencoded.png"/>
            <p:cNvSpPr/>
            <p:nvPr/>
          </p:nvSpPr>
          <p:spPr>
            <a:xfrm flipH="false" flipV="false" rot="0">
              <a:off x="0" y="0"/>
              <a:ext cx="571500" cy="685800"/>
            </a:xfrm>
            <a:custGeom>
              <a:avLst/>
              <a:gdLst/>
              <a:ahLst/>
              <a:cxnLst/>
              <a:rect r="r" b="b" t="t" l="l"/>
              <a:pathLst>
                <a:path h="685800" w="571500">
                  <a:moveTo>
                    <a:pt x="0" y="0"/>
                  </a:moveTo>
                  <a:lnTo>
                    <a:pt x="571500" y="0"/>
                  </a:lnTo>
                  <a:lnTo>
                    <a:pt x="571500" y="685800"/>
                  </a:lnTo>
                  <a:lnTo>
                    <a:pt x="0" y="6858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12001500" y="2743200"/>
            <a:ext cx="2743200" cy="2743200"/>
            <a:chOff x="0" y="0"/>
            <a:chExt cx="3657600" cy="3657600"/>
          </a:xfrm>
        </p:grpSpPr>
        <p:sp>
          <p:nvSpPr>
            <p:cNvPr name="Freeform 13" id="13" descr="preencoded.png"/>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12773025" y="3429000"/>
            <a:ext cx="1200150" cy="1371600"/>
            <a:chOff x="0" y="0"/>
            <a:chExt cx="1600200" cy="1828800"/>
          </a:xfrm>
        </p:grpSpPr>
        <p:sp>
          <p:nvSpPr>
            <p:cNvPr name="Freeform 15" id="15" descr="preencoded.png"/>
            <p:cNvSpPr/>
            <p:nvPr/>
          </p:nvSpPr>
          <p:spPr>
            <a:xfrm flipH="false" flipV="false" rot="0">
              <a:off x="0" y="0"/>
              <a:ext cx="1600200" cy="1828800"/>
            </a:xfrm>
            <a:custGeom>
              <a:avLst/>
              <a:gdLst/>
              <a:ahLst/>
              <a:cxnLst/>
              <a:rect r="r" b="b" t="t" l="l"/>
              <a:pathLst>
                <a:path h="1828800" w="1600200">
                  <a:moveTo>
                    <a:pt x="0" y="0"/>
                  </a:moveTo>
                  <a:lnTo>
                    <a:pt x="1600200" y="0"/>
                  </a:lnTo>
                  <a:lnTo>
                    <a:pt x="1600200" y="1828800"/>
                  </a:lnTo>
                  <a:lnTo>
                    <a:pt x="0" y="18288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9144000" y="5943600"/>
            <a:ext cx="4114800" cy="914400"/>
            <a:chOff x="0" y="0"/>
            <a:chExt cx="5486400" cy="1219200"/>
          </a:xfrm>
        </p:grpSpPr>
        <p:sp>
          <p:nvSpPr>
            <p:cNvPr name="Freeform 17" id="17" descr="preencoded.png"/>
            <p:cNvSpPr/>
            <p:nvPr/>
          </p:nvSpPr>
          <p:spPr>
            <a:xfrm flipH="false" flipV="false" rot="0">
              <a:off x="0" y="0"/>
              <a:ext cx="5486400" cy="1219200"/>
            </a:xfrm>
            <a:custGeom>
              <a:avLst/>
              <a:gdLst/>
              <a:ahLst/>
              <a:cxnLst/>
              <a:rect r="r" b="b" t="t" l="l"/>
              <a:pathLst>
                <a:path h="1219200" w="5486400">
                  <a:moveTo>
                    <a:pt x="0" y="0"/>
                  </a:moveTo>
                  <a:lnTo>
                    <a:pt x="5486400" y="0"/>
                  </a:lnTo>
                  <a:lnTo>
                    <a:pt x="5486400" y="1219200"/>
                  </a:lnTo>
                  <a:lnTo>
                    <a:pt x="0" y="1219200"/>
                  </a:lnTo>
                  <a:lnTo>
                    <a:pt x="0" y="0"/>
                  </a:lnTo>
                  <a:close/>
                </a:path>
              </a:pathLst>
            </a:custGeom>
            <a:blipFill>
              <a:blip r:embed="rId10"/>
              <a:stretch>
                <a:fillRect l="0" t="0" r="0" b="0"/>
              </a:stretch>
            </a:blipFill>
          </p:spPr>
        </p:sp>
      </p:grpSp>
      <p:grpSp>
        <p:nvGrpSpPr>
          <p:cNvPr name="Group 18" id="18"/>
          <p:cNvGrpSpPr>
            <a:grpSpLocks noChangeAspect="true"/>
          </p:cNvGrpSpPr>
          <p:nvPr/>
        </p:nvGrpSpPr>
        <p:grpSpPr>
          <a:xfrm rot="0">
            <a:off x="9372600" y="6172200"/>
            <a:ext cx="342900" cy="457200"/>
            <a:chOff x="0" y="0"/>
            <a:chExt cx="457200" cy="609600"/>
          </a:xfrm>
        </p:grpSpPr>
        <p:sp>
          <p:nvSpPr>
            <p:cNvPr name="Freeform 19" id="19"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13487400" y="5943600"/>
            <a:ext cx="4114800" cy="914400"/>
            <a:chOff x="0" y="0"/>
            <a:chExt cx="5486400" cy="1219200"/>
          </a:xfrm>
        </p:grpSpPr>
        <p:sp>
          <p:nvSpPr>
            <p:cNvPr name="Freeform 21" id="21" descr="preencoded.png"/>
            <p:cNvSpPr/>
            <p:nvPr/>
          </p:nvSpPr>
          <p:spPr>
            <a:xfrm flipH="false" flipV="false" rot="0">
              <a:off x="0" y="0"/>
              <a:ext cx="5486400" cy="1219200"/>
            </a:xfrm>
            <a:custGeom>
              <a:avLst/>
              <a:gdLst/>
              <a:ahLst/>
              <a:cxnLst/>
              <a:rect r="r" b="b" t="t" l="l"/>
              <a:pathLst>
                <a:path h="1219200" w="5486400">
                  <a:moveTo>
                    <a:pt x="0" y="0"/>
                  </a:moveTo>
                  <a:lnTo>
                    <a:pt x="5486400" y="0"/>
                  </a:lnTo>
                  <a:lnTo>
                    <a:pt x="5486400" y="1219200"/>
                  </a:lnTo>
                  <a:lnTo>
                    <a:pt x="0" y="1219200"/>
                  </a:lnTo>
                  <a:lnTo>
                    <a:pt x="0" y="0"/>
                  </a:lnTo>
                  <a:close/>
                </a:path>
              </a:pathLst>
            </a:custGeom>
            <a:blipFill>
              <a:blip r:embed="rId10"/>
              <a:stretch>
                <a:fillRect l="0" t="0" r="0" b="0"/>
              </a:stretch>
            </a:blipFill>
          </p:spPr>
        </p:sp>
      </p:grpSp>
      <p:grpSp>
        <p:nvGrpSpPr>
          <p:cNvPr name="Group 22" id="22"/>
          <p:cNvGrpSpPr>
            <a:grpSpLocks noChangeAspect="true"/>
          </p:cNvGrpSpPr>
          <p:nvPr/>
        </p:nvGrpSpPr>
        <p:grpSpPr>
          <a:xfrm rot="0">
            <a:off x="13716000" y="6172200"/>
            <a:ext cx="342900" cy="457200"/>
            <a:chOff x="0" y="0"/>
            <a:chExt cx="457200" cy="609600"/>
          </a:xfrm>
        </p:grpSpPr>
        <p:sp>
          <p:nvSpPr>
            <p:cNvPr name="Freeform 23" id="23"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2"/>
              <a:stretch>
                <a:fillRect l="0" t="0" r="0" b="0"/>
              </a:stretch>
            </a:blipFill>
          </p:spPr>
        </p:sp>
      </p:grpSp>
      <p:grpSp>
        <p:nvGrpSpPr>
          <p:cNvPr name="Group 24" id="24"/>
          <p:cNvGrpSpPr>
            <a:grpSpLocks noChangeAspect="true"/>
          </p:cNvGrpSpPr>
          <p:nvPr/>
        </p:nvGrpSpPr>
        <p:grpSpPr>
          <a:xfrm rot="0">
            <a:off x="9144000" y="7086600"/>
            <a:ext cx="4114800" cy="914400"/>
            <a:chOff x="0" y="0"/>
            <a:chExt cx="5486400" cy="1219200"/>
          </a:xfrm>
        </p:grpSpPr>
        <p:sp>
          <p:nvSpPr>
            <p:cNvPr name="Freeform 25" id="25" descr="preencoded.png"/>
            <p:cNvSpPr/>
            <p:nvPr/>
          </p:nvSpPr>
          <p:spPr>
            <a:xfrm flipH="false" flipV="false" rot="0">
              <a:off x="0" y="0"/>
              <a:ext cx="5486400" cy="1219200"/>
            </a:xfrm>
            <a:custGeom>
              <a:avLst/>
              <a:gdLst/>
              <a:ahLst/>
              <a:cxnLst/>
              <a:rect r="r" b="b" t="t" l="l"/>
              <a:pathLst>
                <a:path h="1219200" w="5486400">
                  <a:moveTo>
                    <a:pt x="0" y="0"/>
                  </a:moveTo>
                  <a:lnTo>
                    <a:pt x="5486400" y="0"/>
                  </a:lnTo>
                  <a:lnTo>
                    <a:pt x="5486400" y="1219200"/>
                  </a:lnTo>
                  <a:lnTo>
                    <a:pt x="0" y="1219200"/>
                  </a:lnTo>
                  <a:lnTo>
                    <a:pt x="0" y="0"/>
                  </a:lnTo>
                  <a:close/>
                </a:path>
              </a:pathLst>
            </a:custGeom>
            <a:blipFill>
              <a:blip r:embed="rId13"/>
              <a:stretch>
                <a:fillRect l="0" t="0" r="0" b="0"/>
              </a:stretch>
            </a:blipFill>
          </p:spPr>
        </p:sp>
      </p:grpSp>
      <p:grpSp>
        <p:nvGrpSpPr>
          <p:cNvPr name="Group 26" id="26"/>
          <p:cNvGrpSpPr>
            <a:grpSpLocks noChangeAspect="true"/>
          </p:cNvGrpSpPr>
          <p:nvPr/>
        </p:nvGrpSpPr>
        <p:grpSpPr>
          <a:xfrm rot="0">
            <a:off x="9372600" y="7315200"/>
            <a:ext cx="342900" cy="457200"/>
            <a:chOff x="0" y="0"/>
            <a:chExt cx="457200" cy="609600"/>
          </a:xfrm>
        </p:grpSpPr>
        <p:sp>
          <p:nvSpPr>
            <p:cNvPr name="Freeform 27" id="27"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4"/>
              <a:stretch>
                <a:fillRect l="0" t="0" r="0" b="0"/>
              </a:stretch>
            </a:blipFill>
          </p:spPr>
        </p:sp>
      </p:grpSp>
      <p:grpSp>
        <p:nvGrpSpPr>
          <p:cNvPr name="Group 28" id="28"/>
          <p:cNvGrpSpPr>
            <a:grpSpLocks noChangeAspect="true"/>
          </p:cNvGrpSpPr>
          <p:nvPr/>
        </p:nvGrpSpPr>
        <p:grpSpPr>
          <a:xfrm rot="0">
            <a:off x="13487400" y="7086600"/>
            <a:ext cx="4114800" cy="914400"/>
            <a:chOff x="0" y="0"/>
            <a:chExt cx="5486400" cy="1219200"/>
          </a:xfrm>
        </p:grpSpPr>
        <p:sp>
          <p:nvSpPr>
            <p:cNvPr name="Freeform 29" id="29" descr="preencoded.png"/>
            <p:cNvSpPr/>
            <p:nvPr/>
          </p:nvSpPr>
          <p:spPr>
            <a:xfrm flipH="false" flipV="false" rot="0">
              <a:off x="0" y="0"/>
              <a:ext cx="5486400" cy="1219200"/>
            </a:xfrm>
            <a:custGeom>
              <a:avLst/>
              <a:gdLst/>
              <a:ahLst/>
              <a:cxnLst/>
              <a:rect r="r" b="b" t="t" l="l"/>
              <a:pathLst>
                <a:path h="1219200" w="5486400">
                  <a:moveTo>
                    <a:pt x="0" y="0"/>
                  </a:moveTo>
                  <a:lnTo>
                    <a:pt x="5486400" y="0"/>
                  </a:lnTo>
                  <a:lnTo>
                    <a:pt x="5486400" y="1219200"/>
                  </a:lnTo>
                  <a:lnTo>
                    <a:pt x="0" y="1219200"/>
                  </a:lnTo>
                  <a:lnTo>
                    <a:pt x="0" y="0"/>
                  </a:lnTo>
                  <a:close/>
                </a:path>
              </a:pathLst>
            </a:custGeom>
            <a:blipFill>
              <a:blip r:embed="rId13"/>
              <a:stretch>
                <a:fillRect l="0" t="0" r="0" b="0"/>
              </a:stretch>
            </a:blipFill>
          </p:spPr>
        </p:sp>
      </p:grpSp>
      <p:grpSp>
        <p:nvGrpSpPr>
          <p:cNvPr name="Group 30" id="30"/>
          <p:cNvGrpSpPr>
            <a:grpSpLocks noChangeAspect="true"/>
          </p:cNvGrpSpPr>
          <p:nvPr/>
        </p:nvGrpSpPr>
        <p:grpSpPr>
          <a:xfrm rot="0">
            <a:off x="13716000" y="7315200"/>
            <a:ext cx="428625" cy="457200"/>
            <a:chOff x="0" y="0"/>
            <a:chExt cx="571500" cy="609600"/>
          </a:xfrm>
        </p:grpSpPr>
        <p:sp>
          <p:nvSpPr>
            <p:cNvPr name="Freeform 31" id="31" descr="preencoded.png"/>
            <p:cNvSpPr/>
            <p:nvPr/>
          </p:nvSpPr>
          <p:spPr>
            <a:xfrm flipH="false" flipV="false" rot="0">
              <a:off x="0" y="0"/>
              <a:ext cx="571500" cy="609600"/>
            </a:xfrm>
            <a:custGeom>
              <a:avLst/>
              <a:gdLst/>
              <a:ahLst/>
              <a:cxnLst/>
              <a:rect r="r" b="b" t="t" l="l"/>
              <a:pathLst>
                <a:path h="609600" w="571500">
                  <a:moveTo>
                    <a:pt x="0" y="0"/>
                  </a:moveTo>
                  <a:lnTo>
                    <a:pt x="571500" y="0"/>
                  </a:lnTo>
                  <a:lnTo>
                    <a:pt x="571500" y="609600"/>
                  </a:lnTo>
                  <a:lnTo>
                    <a:pt x="0" y="609600"/>
                  </a:lnTo>
                  <a:lnTo>
                    <a:pt x="0" y="0"/>
                  </a:lnTo>
                  <a:close/>
                </a:path>
              </a:pathLst>
            </a:custGeom>
            <a:blipFill>
              <a:blip r:embed="rId15"/>
              <a:stretch>
                <a:fillRect l="0" t="0" r="0" b="0"/>
              </a:stretch>
            </a:blipFill>
          </p:spPr>
        </p:sp>
      </p:grpSp>
      <p:sp>
        <p:nvSpPr>
          <p:cNvPr name="TextBox 32" id="32"/>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Qu'est-ce que Python ?</a:t>
            </a:r>
          </a:p>
        </p:txBody>
      </p:sp>
      <p:sp>
        <p:nvSpPr>
          <p:cNvPr name="TextBox 33" id="33"/>
          <p:cNvSpPr txBox="true"/>
          <p:nvPr/>
        </p:nvSpPr>
        <p:spPr>
          <a:xfrm rot="0">
            <a:off x="1028700" y="2171700"/>
            <a:ext cx="7315200" cy="1885950"/>
          </a:xfrm>
          <a:prstGeom prst="rect">
            <a:avLst/>
          </a:prstGeom>
        </p:spPr>
        <p:txBody>
          <a:bodyPr anchor="t" rtlCol="false" tIns="0" lIns="0" bIns="0" rIns="0">
            <a:spAutoFit/>
          </a:bodyPr>
          <a:lstStyle/>
          <a:p>
            <a:pPr algn="l">
              <a:lnSpc>
                <a:spcPts val="3600"/>
              </a:lnSpc>
            </a:pPr>
            <a:r>
              <a:rPr lang="en-US" sz="2700">
                <a:solidFill>
                  <a:srgbClr val="000000"/>
                </a:solidFill>
                <a:latin typeface="Arimo"/>
                <a:ea typeface="Arimo"/>
                <a:cs typeface="Arimo"/>
                <a:sym typeface="Arimo"/>
              </a:rPr>
              <a:t>Python est un langage de programmation de haut niveau, interprété et polyvalent, créé par Guido van Rossum et lancé en 1991.</a:t>
            </a:r>
          </a:p>
        </p:txBody>
      </p:sp>
      <p:sp>
        <p:nvSpPr>
          <p:cNvPr name="TextBox 34" id="34"/>
          <p:cNvSpPr txBox="true"/>
          <p:nvPr/>
        </p:nvSpPr>
        <p:spPr>
          <a:xfrm rot="0">
            <a:off x="1028700" y="4229100"/>
            <a:ext cx="7315200" cy="12573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Il est largement reconnu pour sa syntaxe simple et lisible, souvent comparée à l'anglais, ce qui le rend particulièrement accessible aux débutants.</a:t>
            </a:r>
          </a:p>
        </p:txBody>
      </p:sp>
      <p:sp>
        <p:nvSpPr>
          <p:cNvPr name="TextBox 35" id="35"/>
          <p:cNvSpPr txBox="true"/>
          <p:nvPr/>
        </p:nvSpPr>
        <p:spPr>
          <a:xfrm rot="0">
            <a:off x="1457325" y="6286500"/>
            <a:ext cx="7608094"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Langage interprété : pas besoin de compiler</a:t>
            </a:r>
          </a:p>
        </p:txBody>
      </p:sp>
      <p:sp>
        <p:nvSpPr>
          <p:cNvPr name="TextBox 36" id="36"/>
          <p:cNvSpPr txBox="true"/>
          <p:nvPr/>
        </p:nvSpPr>
        <p:spPr>
          <a:xfrm rot="0">
            <a:off x="1243012" y="7029450"/>
            <a:ext cx="4449932"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Syntaxe intuitive et lisible</a:t>
            </a:r>
          </a:p>
        </p:txBody>
      </p:sp>
      <p:sp>
        <p:nvSpPr>
          <p:cNvPr name="TextBox 37" id="37"/>
          <p:cNvSpPr txBox="true"/>
          <p:nvPr/>
        </p:nvSpPr>
        <p:spPr>
          <a:xfrm rot="0">
            <a:off x="1343025" y="7772400"/>
            <a:ext cx="7800171"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Polyvalent : adapté à de nombreux domaines</a:t>
            </a:r>
          </a:p>
        </p:txBody>
      </p:sp>
      <p:sp>
        <p:nvSpPr>
          <p:cNvPr name="TextBox 38" id="38"/>
          <p:cNvSpPr txBox="true"/>
          <p:nvPr/>
        </p:nvSpPr>
        <p:spPr>
          <a:xfrm rot="0">
            <a:off x="9886950" y="6124575"/>
            <a:ext cx="3255675"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Science des données</a:t>
            </a:r>
          </a:p>
        </p:txBody>
      </p:sp>
      <p:sp>
        <p:nvSpPr>
          <p:cNvPr name="TextBox 39" id="39"/>
          <p:cNvSpPr txBox="true"/>
          <p:nvPr/>
        </p:nvSpPr>
        <p:spPr>
          <a:xfrm rot="0">
            <a:off x="14230350" y="6124575"/>
            <a:ext cx="3417480"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Intelligence artificielle</a:t>
            </a:r>
          </a:p>
        </p:txBody>
      </p:sp>
      <p:sp>
        <p:nvSpPr>
          <p:cNvPr name="TextBox 40" id="40"/>
          <p:cNvSpPr txBox="true"/>
          <p:nvPr/>
        </p:nvSpPr>
        <p:spPr>
          <a:xfrm rot="0">
            <a:off x="9886950" y="7267575"/>
            <a:ext cx="3199686"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Développement web</a:t>
            </a:r>
          </a:p>
        </p:txBody>
      </p:sp>
      <p:sp>
        <p:nvSpPr>
          <p:cNvPr name="TextBox 41" id="41"/>
          <p:cNvSpPr txBox="true"/>
          <p:nvPr/>
        </p:nvSpPr>
        <p:spPr>
          <a:xfrm rot="0">
            <a:off x="14316075" y="7267575"/>
            <a:ext cx="2354223"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Automatisation</a:t>
            </a:r>
          </a:p>
        </p:txBody>
      </p:sp>
      <p:sp>
        <p:nvSpPr>
          <p:cNvPr name="TextBox 42" id="42"/>
          <p:cNvSpPr txBox="true"/>
          <p:nvPr/>
        </p:nvSpPr>
        <p:spPr>
          <a:xfrm rot="0">
            <a:off x="685800" y="926782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Créé en 1991 par Guido van Rossum | Page 2 sur 15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85950"/>
            <a:ext cx="8229600" cy="3486150"/>
            <a:chOff x="0" y="0"/>
            <a:chExt cx="10972800" cy="4648200"/>
          </a:xfrm>
        </p:grpSpPr>
        <p:sp>
          <p:nvSpPr>
            <p:cNvPr name="Freeform 5" id="5" descr="preencoded.png"/>
            <p:cNvSpPr/>
            <p:nvPr/>
          </p:nvSpPr>
          <p:spPr>
            <a:xfrm flipH="false" flipV="false" rot="0">
              <a:off x="0" y="0"/>
              <a:ext cx="10972800" cy="4648200"/>
            </a:xfrm>
            <a:custGeom>
              <a:avLst/>
              <a:gdLst/>
              <a:ahLst/>
              <a:cxnLst/>
              <a:rect r="r" b="b" t="t" l="l"/>
              <a:pathLst>
                <a:path h="4648200" w="10972800">
                  <a:moveTo>
                    <a:pt x="0" y="0"/>
                  </a:moveTo>
                  <a:lnTo>
                    <a:pt x="10972800" y="0"/>
                  </a:lnTo>
                  <a:lnTo>
                    <a:pt x="10972800" y="4648200"/>
                  </a:lnTo>
                  <a:lnTo>
                    <a:pt x="0" y="46482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1028700" y="2228850"/>
            <a:ext cx="857250" cy="857250"/>
            <a:chOff x="0" y="0"/>
            <a:chExt cx="1143000" cy="1143000"/>
          </a:xfrm>
        </p:grpSpPr>
        <p:sp>
          <p:nvSpPr>
            <p:cNvPr name="Freeform 7" id="7"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1214438" y="2400300"/>
            <a:ext cx="485775" cy="514350"/>
            <a:chOff x="0" y="0"/>
            <a:chExt cx="647700" cy="685800"/>
          </a:xfrm>
        </p:grpSpPr>
        <p:sp>
          <p:nvSpPr>
            <p:cNvPr name="Freeform 9" id="9" descr="preencoded.png"/>
            <p:cNvSpPr/>
            <p:nvPr/>
          </p:nvSpPr>
          <p:spPr>
            <a:xfrm flipH="false" flipV="false" rot="0">
              <a:off x="0" y="0"/>
              <a:ext cx="647700" cy="685800"/>
            </a:xfrm>
            <a:custGeom>
              <a:avLst/>
              <a:gdLst/>
              <a:ahLst/>
              <a:cxnLst/>
              <a:rect r="r" b="b" t="t" l="l"/>
              <a:pathLst>
                <a:path h="685800" w="647700">
                  <a:moveTo>
                    <a:pt x="0" y="0"/>
                  </a:moveTo>
                  <a:lnTo>
                    <a:pt x="647700" y="0"/>
                  </a:lnTo>
                  <a:lnTo>
                    <a:pt x="647700" y="685800"/>
                  </a:lnTo>
                  <a:lnTo>
                    <a:pt x="0" y="6858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1257300" y="3371850"/>
            <a:ext cx="228600" cy="228600"/>
            <a:chOff x="0" y="0"/>
            <a:chExt cx="304800" cy="304800"/>
          </a:xfrm>
        </p:grpSpPr>
        <p:sp>
          <p:nvSpPr>
            <p:cNvPr name="Freeform 11" id="1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1257300" y="3829050"/>
            <a:ext cx="228600" cy="228600"/>
            <a:chOff x="0" y="0"/>
            <a:chExt cx="304800" cy="304800"/>
          </a:xfrm>
        </p:grpSpPr>
        <p:sp>
          <p:nvSpPr>
            <p:cNvPr name="Freeform 13" id="1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1257300" y="4286250"/>
            <a:ext cx="228600" cy="228600"/>
            <a:chOff x="0" y="0"/>
            <a:chExt cx="304800" cy="304800"/>
          </a:xfrm>
        </p:grpSpPr>
        <p:sp>
          <p:nvSpPr>
            <p:cNvPr name="Freeform 15" id="1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6" id="16"/>
          <p:cNvGrpSpPr>
            <a:grpSpLocks noChangeAspect="true"/>
          </p:cNvGrpSpPr>
          <p:nvPr/>
        </p:nvGrpSpPr>
        <p:grpSpPr>
          <a:xfrm rot="0">
            <a:off x="1257300" y="4743450"/>
            <a:ext cx="228600" cy="228600"/>
            <a:chOff x="0" y="0"/>
            <a:chExt cx="304800" cy="304800"/>
          </a:xfrm>
        </p:grpSpPr>
        <p:sp>
          <p:nvSpPr>
            <p:cNvPr name="Freeform 17" id="1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8" id="18"/>
          <p:cNvGrpSpPr>
            <a:grpSpLocks noChangeAspect="true"/>
          </p:cNvGrpSpPr>
          <p:nvPr/>
        </p:nvGrpSpPr>
        <p:grpSpPr>
          <a:xfrm rot="0">
            <a:off x="9372600" y="1885950"/>
            <a:ext cx="8229600" cy="3486150"/>
            <a:chOff x="0" y="0"/>
            <a:chExt cx="10972800" cy="4648200"/>
          </a:xfrm>
        </p:grpSpPr>
        <p:sp>
          <p:nvSpPr>
            <p:cNvPr name="Freeform 19" id="19" descr="preencoded.png"/>
            <p:cNvSpPr/>
            <p:nvPr/>
          </p:nvSpPr>
          <p:spPr>
            <a:xfrm flipH="false" flipV="false" rot="0">
              <a:off x="0" y="0"/>
              <a:ext cx="10972800" cy="4648200"/>
            </a:xfrm>
            <a:custGeom>
              <a:avLst/>
              <a:gdLst/>
              <a:ahLst/>
              <a:cxnLst/>
              <a:rect r="r" b="b" t="t" l="l"/>
              <a:pathLst>
                <a:path h="4648200" w="10972800">
                  <a:moveTo>
                    <a:pt x="0" y="0"/>
                  </a:moveTo>
                  <a:lnTo>
                    <a:pt x="10972800" y="0"/>
                  </a:lnTo>
                  <a:lnTo>
                    <a:pt x="10972800" y="4648200"/>
                  </a:lnTo>
                  <a:lnTo>
                    <a:pt x="0" y="4648200"/>
                  </a:lnTo>
                  <a:lnTo>
                    <a:pt x="0" y="0"/>
                  </a:lnTo>
                  <a:close/>
                </a:path>
              </a:pathLst>
            </a:custGeom>
            <a:blipFill>
              <a:blip r:embed="rId8"/>
              <a:stretch>
                <a:fillRect l="0" t="0" r="0" b="0"/>
              </a:stretch>
            </a:blipFill>
          </p:spPr>
        </p:sp>
      </p:grpSp>
      <p:grpSp>
        <p:nvGrpSpPr>
          <p:cNvPr name="Group 20" id="20"/>
          <p:cNvGrpSpPr>
            <a:grpSpLocks noChangeAspect="true"/>
          </p:cNvGrpSpPr>
          <p:nvPr/>
        </p:nvGrpSpPr>
        <p:grpSpPr>
          <a:xfrm rot="0">
            <a:off x="9715500" y="2228850"/>
            <a:ext cx="857250" cy="857250"/>
            <a:chOff x="0" y="0"/>
            <a:chExt cx="1143000" cy="1143000"/>
          </a:xfrm>
        </p:grpSpPr>
        <p:sp>
          <p:nvSpPr>
            <p:cNvPr name="Freeform 21" id="21"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9"/>
              <a:stretch>
                <a:fillRect l="0" t="0" r="0" b="0"/>
              </a:stretch>
            </a:blipFill>
          </p:spPr>
        </p:sp>
      </p:grpSp>
      <p:grpSp>
        <p:nvGrpSpPr>
          <p:cNvPr name="Group 22" id="22"/>
          <p:cNvGrpSpPr>
            <a:grpSpLocks noChangeAspect="true"/>
          </p:cNvGrpSpPr>
          <p:nvPr/>
        </p:nvGrpSpPr>
        <p:grpSpPr>
          <a:xfrm rot="0">
            <a:off x="9872662" y="2400300"/>
            <a:ext cx="542925" cy="514350"/>
            <a:chOff x="0" y="0"/>
            <a:chExt cx="723900" cy="685800"/>
          </a:xfrm>
        </p:grpSpPr>
        <p:sp>
          <p:nvSpPr>
            <p:cNvPr name="Freeform 23" id="23" descr="preencoded.png"/>
            <p:cNvSpPr/>
            <p:nvPr/>
          </p:nvSpPr>
          <p:spPr>
            <a:xfrm flipH="false" flipV="false" rot="0">
              <a:off x="0" y="0"/>
              <a:ext cx="723900" cy="685800"/>
            </a:xfrm>
            <a:custGeom>
              <a:avLst/>
              <a:gdLst/>
              <a:ahLst/>
              <a:cxnLst/>
              <a:rect r="r" b="b" t="t" l="l"/>
              <a:pathLst>
                <a:path h="685800" w="723900">
                  <a:moveTo>
                    <a:pt x="0" y="0"/>
                  </a:moveTo>
                  <a:lnTo>
                    <a:pt x="723900" y="0"/>
                  </a:lnTo>
                  <a:lnTo>
                    <a:pt x="723900" y="685800"/>
                  </a:lnTo>
                  <a:lnTo>
                    <a:pt x="0" y="685800"/>
                  </a:lnTo>
                  <a:lnTo>
                    <a:pt x="0" y="0"/>
                  </a:lnTo>
                  <a:close/>
                </a:path>
              </a:pathLst>
            </a:custGeom>
            <a:blipFill>
              <a:blip r:embed="rId10"/>
              <a:stretch>
                <a:fillRect l="0" t="0" r="0" b="0"/>
              </a:stretch>
            </a:blipFill>
          </p:spPr>
        </p:sp>
      </p:grpSp>
      <p:grpSp>
        <p:nvGrpSpPr>
          <p:cNvPr name="Group 24" id="24"/>
          <p:cNvGrpSpPr>
            <a:grpSpLocks noChangeAspect="true"/>
          </p:cNvGrpSpPr>
          <p:nvPr/>
        </p:nvGrpSpPr>
        <p:grpSpPr>
          <a:xfrm rot="0">
            <a:off x="9944100" y="3371850"/>
            <a:ext cx="228600" cy="228600"/>
            <a:chOff x="0" y="0"/>
            <a:chExt cx="304800" cy="304800"/>
          </a:xfrm>
        </p:grpSpPr>
        <p:sp>
          <p:nvSpPr>
            <p:cNvPr name="Freeform 25" id="2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1"/>
              <a:stretch>
                <a:fillRect l="0" t="0" r="0" b="0"/>
              </a:stretch>
            </a:blipFill>
          </p:spPr>
        </p:sp>
      </p:grpSp>
      <p:grpSp>
        <p:nvGrpSpPr>
          <p:cNvPr name="Group 26" id="26"/>
          <p:cNvGrpSpPr>
            <a:grpSpLocks noChangeAspect="true"/>
          </p:cNvGrpSpPr>
          <p:nvPr/>
        </p:nvGrpSpPr>
        <p:grpSpPr>
          <a:xfrm rot="0">
            <a:off x="9944100" y="3829050"/>
            <a:ext cx="228600" cy="228600"/>
            <a:chOff x="0" y="0"/>
            <a:chExt cx="304800" cy="304800"/>
          </a:xfrm>
        </p:grpSpPr>
        <p:sp>
          <p:nvSpPr>
            <p:cNvPr name="Freeform 27" id="2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1"/>
              <a:stretch>
                <a:fillRect l="0" t="0" r="0" b="0"/>
              </a:stretch>
            </a:blipFill>
          </p:spPr>
        </p:sp>
      </p:grpSp>
      <p:grpSp>
        <p:nvGrpSpPr>
          <p:cNvPr name="Group 28" id="28"/>
          <p:cNvGrpSpPr>
            <a:grpSpLocks noChangeAspect="true"/>
          </p:cNvGrpSpPr>
          <p:nvPr/>
        </p:nvGrpSpPr>
        <p:grpSpPr>
          <a:xfrm rot="0">
            <a:off x="9944100" y="4286250"/>
            <a:ext cx="228600" cy="228600"/>
            <a:chOff x="0" y="0"/>
            <a:chExt cx="304800" cy="304800"/>
          </a:xfrm>
        </p:grpSpPr>
        <p:sp>
          <p:nvSpPr>
            <p:cNvPr name="Freeform 29" id="2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1"/>
              <a:stretch>
                <a:fillRect l="0" t="0" r="0" b="0"/>
              </a:stretch>
            </a:blipFill>
          </p:spPr>
        </p:sp>
      </p:grpSp>
      <p:grpSp>
        <p:nvGrpSpPr>
          <p:cNvPr name="Group 30" id="30"/>
          <p:cNvGrpSpPr>
            <a:grpSpLocks noChangeAspect="true"/>
          </p:cNvGrpSpPr>
          <p:nvPr/>
        </p:nvGrpSpPr>
        <p:grpSpPr>
          <a:xfrm rot="0">
            <a:off x="685800" y="5829300"/>
            <a:ext cx="8229600" cy="3028950"/>
            <a:chOff x="0" y="0"/>
            <a:chExt cx="10972800" cy="4038600"/>
          </a:xfrm>
        </p:grpSpPr>
        <p:sp>
          <p:nvSpPr>
            <p:cNvPr name="Freeform 31" id="31" descr="preencoded.png"/>
            <p:cNvSpPr/>
            <p:nvPr/>
          </p:nvSpPr>
          <p:spPr>
            <a:xfrm flipH="false" flipV="false" rot="0">
              <a:off x="0" y="0"/>
              <a:ext cx="10972800" cy="4038600"/>
            </a:xfrm>
            <a:custGeom>
              <a:avLst/>
              <a:gdLst/>
              <a:ahLst/>
              <a:cxnLst/>
              <a:rect r="r" b="b" t="t" l="l"/>
              <a:pathLst>
                <a:path h="4038600" w="10972800">
                  <a:moveTo>
                    <a:pt x="0" y="0"/>
                  </a:moveTo>
                  <a:lnTo>
                    <a:pt x="10972800" y="0"/>
                  </a:lnTo>
                  <a:lnTo>
                    <a:pt x="10972800" y="4038600"/>
                  </a:lnTo>
                  <a:lnTo>
                    <a:pt x="0" y="4038600"/>
                  </a:lnTo>
                  <a:lnTo>
                    <a:pt x="0" y="0"/>
                  </a:lnTo>
                  <a:close/>
                </a:path>
              </a:pathLst>
            </a:custGeom>
            <a:blipFill>
              <a:blip r:embed="rId12"/>
              <a:stretch>
                <a:fillRect l="0" t="0" r="0" b="0"/>
              </a:stretch>
            </a:blipFill>
          </p:spPr>
        </p:sp>
      </p:grpSp>
      <p:grpSp>
        <p:nvGrpSpPr>
          <p:cNvPr name="Group 32" id="32"/>
          <p:cNvGrpSpPr>
            <a:grpSpLocks noChangeAspect="true"/>
          </p:cNvGrpSpPr>
          <p:nvPr/>
        </p:nvGrpSpPr>
        <p:grpSpPr>
          <a:xfrm rot="0">
            <a:off x="1028700" y="6172200"/>
            <a:ext cx="857250" cy="857250"/>
            <a:chOff x="0" y="0"/>
            <a:chExt cx="1143000" cy="1143000"/>
          </a:xfrm>
        </p:grpSpPr>
        <p:sp>
          <p:nvSpPr>
            <p:cNvPr name="Freeform 33" id="33"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3"/>
              <a:stretch>
                <a:fillRect l="0" t="0" r="0" b="0"/>
              </a:stretch>
            </a:blipFill>
          </p:spPr>
        </p:sp>
      </p:grpSp>
      <p:grpSp>
        <p:nvGrpSpPr>
          <p:cNvPr name="Group 34" id="34"/>
          <p:cNvGrpSpPr>
            <a:grpSpLocks noChangeAspect="true"/>
          </p:cNvGrpSpPr>
          <p:nvPr/>
        </p:nvGrpSpPr>
        <p:grpSpPr>
          <a:xfrm rot="0">
            <a:off x="1243012" y="6343650"/>
            <a:ext cx="428625" cy="514350"/>
            <a:chOff x="0" y="0"/>
            <a:chExt cx="571500" cy="685800"/>
          </a:xfrm>
        </p:grpSpPr>
        <p:sp>
          <p:nvSpPr>
            <p:cNvPr name="Freeform 35" id="35" descr="preencoded.png"/>
            <p:cNvSpPr/>
            <p:nvPr/>
          </p:nvSpPr>
          <p:spPr>
            <a:xfrm flipH="false" flipV="false" rot="0">
              <a:off x="0" y="0"/>
              <a:ext cx="571500" cy="685800"/>
            </a:xfrm>
            <a:custGeom>
              <a:avLst/>
              <a:gdLst/>
              <a:ahLst/>
              <a:cxnLst/>
              <a:rect r="r" b="b" t="t" l="l"/>
              <a:pathLst>
                <a:path h="685800" w="571500">
                  <a:moveTo>
                    <a:pt x="0" y="0"/>
                  </a:moveTo>
                  <a:lnTo>
                    <a:pt x="571500" y="0"/>
                  </a:lnTo>
                  <a:lnTo>
                    <a:pt x="571500" y="685800"/>
                  </a:lnTo>
                  <a:lnTo>
                    <a:pt x="0" y="685800"/>
                  </a:lnTo>
                  <a:lnTo>
                    <a:pt x="0" y="0"/>
                  </a:lnTo>
                  <a:close/>
                </a:path>
              </a:pathLst>
            </a:custGeom>
            <a:blipFill>
              <a:blip r:embed="rId14"/>
              <a:stretch>
                <a:fillRect l="0" t="0" r="0" b="0"/>
              </a:stretch>
            </a:blipFill>
          </p:spPr>
        </p:sp>
      </p:grpSp>
      <p:grpSp>
        <p:nvGrpSpPr>
          <p:cNvPr name="Group 36" id="36"/>
          <p:cNvGrpSpPr>
            <a:grpSpLocks noChangeAspect="true"/>
          </p:cNvGrpSpPr>
          <p:nvPr/>
        </p:nvGrpSpPr>
        <p:grpSpPr>
          <a:xfrm rot="0">
            <a:off x="1257300" y="7315200"/>
            <a:ext cx="228600" cy="228600"/>
            <a:chOff x="0" y="0"/>
            <a:chExt cx="304800" cy="304800"/>
          </a:xfrm>
        </p:grpSpPr>
        <p:sp>
          <p:nvSpPr>
            <p:cNvPr name="Freeform 37" id="3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5"/>
              <a:stretch>
                <a:fillRect l="0" t="0" r="0" b="0"/>
              </a:stretch>
            </a:blipFill>
          </p:spPr>
        </p:sp>
      </p:grpSp>
      <p:grpSp>
        <p:nvGrpSpPr>
          <p:cNvPr name="Group 38" id="38"/>
          <p:cNvGrpSpPr>
            <a:grpSpLocks noChangeAspect="true"/>
          </p:cNvGrpSpPr>
          <p:nvPr/>
        </p:nvGrpSpPr>
        <p:grpSpPr>
          <a:xfrm rot="0">
            <a:off x="1257300" y="7772400"/>
            <a:ext cx="228600" cy="228600"/>
            <a:chOff x="0" y="0"/>
            <a:chExt cx="304800" cy="304800"/>
          </a:xfrm>
        </p:grpSpPr>
        <p:sp>
          <p:nvSpPr>
            <p:cNvPr name="Freeform 39" id="3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5"/>
              <a:stretch>
                <a:fillRect l="0" t="0" r="0" b="0"/>
              </a:stretch>
            </a:blipFill>
          </p:spPr>
        </p:sp>
      </p:grpSp>
      <p:grpSp>
        <p:nvGrpSpPr>
          <p:cNvPr name="Group 40" id="40"/>
          <p:cNvGrpSpPr>
            <a:grpSpLocks noChangeAspect="true"/>
          </p:cNvGrpSpPr>
          <p:nvPr/>
        </p:nvGrpSpPr>
        <p:grpSpPr>
          <a:xfrm rot="0">
            <a:off x="1257300" y="8229600"/>
            <a:ext cx="228600" cy="228600"/>
            <a:chOff x="0" y="0"/>
            <a:chExt cx="304800" cy="304800"/>
          </a:xfrm>
        </p:grpSpPr>
        <p:sp>
          <p:nvSpPr>
            <p:cNvPr name="Freeform 41" id="4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5"/>
              <a:stretch>
                <a:fillRect l="0" t="0" r="0" b="0"/>
              </a:stretch>
            </a:blipFill>
          </p:spPr>
        </p:sp>
      </p:grpSp>
      <p:grpSp>
        <p:nvGrpSpPr>
          <p:cNvPr name="Group 42" id="42"/>
          <p:cNvGrpSpPr>
            <a:grpSpLocks noChangeAspect="true"/>
          </p:cNvGrpSpPr>
          <p:nvPr/>
        </p:nvGrpSpPr>
        <p:grpSpPr>
          <a:xfrm rot="0">
            <a:off x="9372600" y="5829300"/>
            <a:ext cx="8229600" cy="3028950"/>
            <a:chOff x="0" y="0"/>
            <a:chExt cx="10972800" cy="4038600"/>
          </a:xfrm>
        </p:grpSpPr>
        <p:sp>
          <p:nvSpPr>
            <p:cNvPr name="Freeform 43" id="43" descr="preencoded.png"/>
            <p:cNvSpPr/>
            <p:nvPr/>
          </p:nvSpPr>
          <p:spPr>
            <a:xfrm flipH="false" flipV="false" rot="0">
              <a:off x="0" y="0"/>
              <a:ext cx="10972800" cy="4038600"/>
            </a:xfrm>
            <a:custGeom>
              <a:avLst/>
              <a:gdLst/>
              <a:ahLst/>
              <a:cxnLst/>
              <a:rect r="r" b="b" t="t" l="l"/>
              <a:pathLst>
                <a:path h="4038600" w="10972800">
                  <a:moveTo>
                    <a:pt x="0" y="0"/>
                  </a:moveTo>
                  <a:lnTo>
                    <a:pt x="10972800" y="0"/>
                  </a:lnTo>
                  <a:lnTo>
                    <a:pt x="10972800" y="4038600"/>
                  </a:lnTo>
                  <a:lnTo>
                    <a:pt x="0" y="4038600"/>
                  </a:lnTo>
                  <a:lnTo>
                    <a:pt x="0" y="0"/>
                  </a:lnTo>
                  <a:close/>
                </a:path>
              </a:pathLst>
            </a:custGeom>
            <a:blipFill>
              <a:blip r:embed="rId16"/>
              <a:stretch>
                <a:fillRect l="0" t="0" r="0" b="0"/>
              </a:stretch>
            </a:blipFill>
          </p:spPr>
        </p:sp>
      </p:grpSp>
      <p:grpSp>
        <p:nvGrpSpPr>
          <p:cNvPr name="Group 44" id="44"/>
          <p:cNvGrpSpPr>
            <a:grpSpLocks noChangeAspect="true"/>
          </p:cNvGrpSpPr>
          <p:nvPr/>
        </p:nvGrpSpPr>
        <p:grpSpPr>
          <a:xfrm rot="0">
            <a:off x="9715500" y="6172200"/>
            <a:ext cx="857250" cy="857250"/>
            <a:chOff x="0" y="0"/>
            <a:chExt cx="1143000" cy="1143000"/>
          </a:xfrm>
        </p:grpSpPr>
        <p:sp>
          <p:nvSpPr>
            <p:cNvPr name="Freeform 45" id="45"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7"/>
              <a:stretch>
                <a:fillRect l="0" t="0" r="0" b="0"/>
              </a:stretch>
            </a:blipFill>
          </p:spPr>
        </p:sp>
      </p:grpSp>
      <p:grpSp>
        <p:nvGrpSpPr>
          <p:cNvPr name="Group 46" id="46"/>
          <p:cNvGrpSpPr>
            <a:grpSpLocks noChangeAspect="true"/>
          </p:cNvGrpSpPr>
          <p:nvPr/>
        </p:nvGrpSpPr>
        <p:grpSpPr>
          <a:xfrm rot="0">
            <a:off x="9929812" y="6343650"/>
            <a:ext cx="428625" cy="514350"/>
            <a:chOff x="0" y="0"/>
            <a:chExt cx="571500" cy="685800"/>
          </a:xfrm>
        </p:grpSpPr>
        <p:sp>
          <p:nvSpPr>
            <p:cNvPr name="Freeform 47" id="47" descr="preencoded.png"/>
            <p:cNvSpPr/>
            <p:nvPr/>
          </p:nvSpPr>
          <p:spPr>
            <a:xfrm flipH="false" flipV="false" rot="0">
              <a:off x="0" y="0"/>
              <a:ext cx="571500" cy="685800"/>
            </a:xfrm>
            <a:custGeom>
              <a:avLst/>
              <a:gdLst/>
              <a:ahLst/>
              <a:cxnLst/>
              <a:rect r="r" b="b" t="t" l="l"/>
              <a:pathLst>
                <a:path h="685800" w="571500">
                  <a:moveTo>
                    <a:pt x="0" y="0"/>
                  </a:moveTo>
                  <a:lnTo>
                    <a:pt x="571500" y="0"/>
                  </a:lnTo>
                  <a:lnTo>
                    <a:pt x="571500" y="685800"/>
                  </a:lnTo>
                  <a:lnTo>
                    <a:pt x="0" y="685800"/>
                  </a:lnTo>
                  <a:lnTo>
                    <a:pt x="0" y="0"/>
                  </a:lnTo>
                  <a:close/>
                </a:path>
              </a:pathLst>
            </a:custGeom>
            <a:blipFill>
              <a:blip r:embed="rId18"/>
              <a:stretch>
                <a:fillRect l="0" t="0" r="0" b="0"/>
              </a:stretch>
            </a:blipFill>
          </p:spPr>
        </p:sp>
      </p:grpSp>
      <p:grpSp>
        <p:nvGrpSpPr>
          <p:cNvPr name="Group 48" id="48"/>
          <p:cNvGrpSpPr>
            <a:grpSpLocks noChangeAspect="true"/>
          </p:cNvGrpSpPr>
          <p:nvPr/>
        </p:nvGrpSpPr>
        <p:grpSpPr>
          <a:xfrm rot="0">
            <a:off x="9944100" y="7315200"/>
            <a:ext cx="228600" cy="228600"/>
            <a:chOff x="0" y="0"/>
            <a:chExt cx="304800" cy="304800"/>
          </a:xfrm>
        </p:grpSpPr>
        <p:sp>
          <p:nvSpPr>
            <p:cNvPr name="Freeform 49" id="4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9"/>
              <a:stretch>
                <a:fillRect l="0" t="0" r="0" b="0"/>
              </a:stretch>
            </a:blipFill>
          </p:spPr>
        </p:sp>
      </p:grpSp>
      <p:grpSp>
        <p:nvGrpSpPr>
          <p:cNvPr name="Group 50" id="50"/>
          <p:cNvGrpSpPr>
            <a:grpSpLocks noChangeAspect="true"/>
          </p:cNvGrpSpPr>
          <p:nvPr/>
        </p:nvGrpSpPr>
        <p:grpSpPr>
          <a:xfrm rot="0">
            <a:off x="9944100" y="7772400"/>
            <a:ext cx="228600" cy="228600"/>
            <a:chOff x="0" y="0"/>
            <a:chExt cx="304800" cy="304800"/>
          </a:xfrm>
        </p:grpSpPr>
        <p:sp>
          <p:nvSpPr>
            <p:cNvPr name="Freeform 51" id="5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9"/>
              <a:stretch>
                <a:fillRect l="0" t="0" r="0" b="0"/>
              </a:stretch>
            </a:blipFill>
          </p:spPr>
        </p:sp>
      </p:grpSp>
      <p:grpSp>
        <p:nvGrpSpPr>
          <p:cNvPr name="Group 52" id="52"/>
          <p:cNvGrpSpPr>
            <a:grpSpLocks noChangeAspect="true"/>
          </p:cNvGrpSpPr>
          <p:nvPr/>
        </p:nvGrpSpPr>
        <p:grpSpPr>
          <a:xfrm rot="0">
            <a:off x="9944100" y="8229600"/>
            <a:ext cx="228600" cy="228600"/>
            <a:chOff x="0" y="0"/>
            <a:chExt cx="304800" cy="304800"/>
          </a:xfrm>
        </p:grpSpPr>
        <p:sp>
          <p:nvSpPr>
            <p:cNvPr name="Freeform 53" id="5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9"/>
              <a:stretch>
                <a:fillRect l="0" t="0" r="0" b="0"/>
              </a:stretch>
            </a:blipFill>
          </p:spPr>
        </p:sp>
      </p:grpSp>
      <p:sp>
        <p:nvSpPr>
          <p:cNvPr name="TextBox 54" id="54"/>
          <p:cNvSpPr txBox="true"/>
          <p:nvPr/>
        </p:nvSpPr>
        <p:spPr>
          <a:xfrm rot="0">
            <a:off x="685800" y="695325"/>
            <a:ext cx="2029968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Pourquoi Python en Data Science ?</a:t>
            </a:r>
          </a:p>
        </p:txBody>
      </p:sp>
      <p:sp>
        <p:nvSpPr>
          <p:cNvPr name="TextBox 55" id="55"/>
          <p:cNvSpPr txBox="true"/>
          <p:nvPr/>
        </p:nvSpPr>
        <p:spPr>
          <a:xfrm rot="0">
            <a:off x="2114550" y="2371725"/>
            <a:ext cx="6803886"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Écosystème de Bibliothèques</a:t>
            </a:r>
          </a:p>
        </p:txBody>
      </p:sp>
      <p:sp>
        <p:nvSpPr>
          <p:cNvPr name="TextBox 56" id="56"/>
          <p:cNvSpPr txBox="true"/>
          <p:nvPr/>
        </p:nvSpPr>
        <p:spPr>
          <a:xfrm rot="0">
            <a:off x="1600200" y="3238500"/>
            <a:ext cx="4612005"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NumPy </a:t>
            </a:r>
            <a:r>
              <a:rPr lang="en-US" sz="1800">
                <a:solidFill>
                  <a:srgbClr val="000000"/>
                </a:solidFill>
                <a:latin typeface="Arimo"/>
                <a:ea typeface="Arimo"/>
                <a:cs typeface="Arimo"/>
                <a:sym typeface="Arimo"/>
              </a:rPr>
              <a:t>pour le calcul numérique</a:t>
            </a:r>
          </a:p>
        </p:txBody>
      </p:sp>
      <p:sp>
        <p:nvSpPr>
          <p:cNvPr name="TextBox 57" id="57"/>
          <p:cNvSpPr txBox="true"/>
          <p:nvPr/>
        </p:nvSpPr>
        <p:spPr>
          <a:xfrm rot="0">
            <a:off x="1600200" y="3695700"/>
            <a:ext cx="5752416"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Pandas </a:t>
            </a:r>
            <a:r>
              <a:rPr lang="en-US" sz="1800">
                <a:solidFill>
                  <a:srgbClr val="000000"/>
                </a:solidFill>
                <a:latin typeface="Arimo"/>
                <a:ea typeface="Arimo"/>
                <a:cs typeface="Arimo"/>
                <a:sym typeface="Arimo"/>
              </a:rPr>
              <a:t>pour la manipulation de données</a:t>
            </a:r>
          </a:p>
        </p:txBody>
      </p:sp>
      <p:sp>
        <p:nvSpPr>
          <p:cNvPr name="TextBox 58" id="58"/>
          <p:cNvSpPr txBox="true"/>
          <p:nvPr/>
        </p:nvSpPr>
        <p:spPr>
          <a:xfrm rot="0">
            <a:off x="1600200" y="4152900"/>
            <a:ext cx="5823407"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Matplotlib/Seaborn </a:t>
            </a:r>
            <a:r>
              <a:rPr lang="en-US" sz="1800">
                <a:solidFill>
                  <a:srgbClr val="000000"/>
                </a:solidFill>
                <a:latin typeface="Arimo"/>
                <a:ea typeface="Arimo"/>
                <a:cs typeface="Arimo"/>
                <a:sym typeface="Arimo"/>
              </a:rPr>
              <a:t>pour la visualisation</a:t>
            </a:r>
          </a:p>
        </p:txBody>
      </p:sp>
      <p:sp>
        <p:nvSpPr>
          <p:cNvPr name="TextBox 59" id="59"/>
          <p:cNvSpPr txBox="true"/>
          <p:nvPr/>
        </p:nvSpPr>
        <p:spPr>
          <a:xfrm rot="0">
            <a:off x="1600200" y="4610100"/>
            <a:ext cx="5341472"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Scikit-learn </a:t>
            </a:r>
            <a:r>
              <a:rPr lang="en-US" sz="1800">
                <a:solidFill>
                  <a:srgbClr val="000000"/>
                </a:solidFill>
                <a:latin typeface="Arimo"/>
                <a:ea typeface="Arimo"/>
                <a:cs typeface="Arimo"/>
                <a:sym typeface="Arimo"/>
              </a:rPr>
              <a:t>pour le Machine Learning</a:t>
            </a:r>
          </a:p>
        </p:txBody>
      </p:sp>
      <p:sp>
        <p:nvSpPr>
          <p:cNvPr name="TextBox 60" id="60"/>
          <p:cNvSpPr txBox="true"/>
          <p:nvPr/>
        </p:nvSpPr>
        <p:spPr>
          <a:xfrm rot="0">
            <a:off x="10801350" y="2371725"/>
            <a:ext cx="5697498"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Communauté et Support</a:t>
            </a:r>
          </a:p>
        </p:txBody>
      </p:sp>
      <p:sp>
        <p:nvSpPr>
          <p:cNvPr name="TextBox 61" id="61"/>
          <p:cNvSpPr txBox="true"/>
          <p:nvPr/>
        </p:nvSpPr>
        <p:spPr>
          <a:xfrm rot="0">
            <a:off x="10287000" y="3238500"/>
            <a:ext cx="4764970"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Active et abondante en ressources</a:t>
            </a:r>
          </a:p>
        </p:txBody>
      </p:sp>
      <p:sp>
        <p:nvSpPr>
          <p:cNvPr name="TextBox 62" id="62"/>
          <p:cNvSpPr txBox="true"/>
          <p:nvPr/>
        </p:nvSpPr>
        <p:spPr>
          <a:xfrm rot="0">
            <a:off x="10287000" y="3695700"/>
            <a:ext cx="4905345"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Tutoriels, code open-source, forums</a:t>
            </a:r>
          </a:p>
        </p:txBody>
      </p:sp>
      <p:sp>
        <p:nvSpPr>
          <p:cNvPr name="TextBox 63" id="63"/>
          <p:cNvSpPr txBox="true"/>
          <p:nvPr/>
        </p:nvSpPr>
        <p:spPr>
          <a:xfrm rot="0">
            <a:off x="10287000" y="4152900"/>
            <a:ext cx="6878092"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Les employeurs attendent une maîtrise de Python</a:t>
            </a:r>
          </a:p>
        </p:txBody>
      </p:sp>
      <p:sp>
        <p:nvSpPr>
          <p:cNvPr name="TextBox 64" id="64"/>
          <p:cNvSpPr txBox="true"/>
          <p:nvPr/>
        </p:nvSpPr>
        <p:spPr>
          <a:xfrm rot="0">
            <a:off x="2114550" y="6315075"/>
            <a:ext cx="5975568"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Simplicité et Accessibilité</a:t>
            </a:r>
          </a:p>
        </p:txBody>
      </p:sp>
      <p:sp>
        <p:nvSpPr>
          <p:cNvPr name="TextBox 65" id="65"/>
          <p:cNvSpPr txBox="true"/>
          <p:nvPr/>
        </p:nvSpPr>
        <p:spPr>
          <a:xfrm rot="0">
            <a:off x="1600200" y="7181850"/>
            <a:ext cx="4984106"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Syntaxe claire et proche de l'anglais</a:t>
            </a:r>
          </a:p>
        </p:txBody>
      </p:sp>
      <p:sp>
        <p:nvSpPr>
          <p:cNvPr name="TextBox 66" id="66"/>
          <p:cNvSpPr txBox="true"/>
          <p:nvPr/>
        </p:nvSpPr>
        <p:spPr>
          <a:xfrm rot="0">
            <a:off x="1600200" y="7639050"/>
            <a:ext cx="4400372"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Courbe d'apprentissage abaisse</a:t>
            </a:r>
          </a:p>
        </p:txBody>
      </p:sp>
      <p:sp>
        <p:nvSpPr>
          <p:cNvPr name="TextBox 67" id="67"/>
          <p:cNvSpPr txBox="true"/>
          <p:nvPr/>
        </p:nvSpPr>
        <p:spPr>
          <a:xfrm rot="0">
            <a:off x="1600200" y="8096250"/>
            <a:ext cx="4762560"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"Lingua franca" de l'enseignement</a:t>
            </a:r>
          </a:p>
        </p:txBody>
      </p:sp>
      <p:sp>
        <p:nvSpPr>
          <p:cNvPr name="TextBox 68" id="68"/>
          <p:cNvSpPr txBox="true"/>
          <p:nvPr/>
        </p:nvSpPr>
        <p:spPr>
          <a:xfrm rot="0">
            <a:off x="10801350" y="6315075"/>
            <a:ext cx="6148091"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Polyvalence et Intégration</a:t>
            </a:r>
          </a:p>
        </p:txBody>
      </p:sp>
      <p:sp>
        <p:nvSpPr>
          <p:cNvPr name="TextBox 69" id="69"/>
          <p:cNvSpPr txBox="true"/>
          <p:nvPr/>
        </p:nvSpPr>
        <p:spPr>
          <a:xfrm rot="0">
            <a:off x="10287000" y="7181850"/>
            <a:ext cx="5226546"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Utilisé pour le web et l'automatisation</a:t>
            </a:r>
          </a:p>
        </p:txBody>
      </p:sp>
      <p:sp>
        <p:nvSpPr>
          <p:cNvPr name="TextBox 70" id="70"/>
          <p:cNvSpPr txBox="true"/>
          <p:nvPr/>
        </p:nvSpPr>
        <p:spPr>
          <a:xfrm rot="0">
            <a:off x="10287000" y="7639050"/>
            <a:ext cx="4933741"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Intégration avec Big Data (PySpark)</a:t>
            </a:r>
          </a:p>
        </p:txBody>
      </p:sp>
      <p:sp>
        <p:nvSpPr>
          <p:cNvPr name="TextBox 71" id="71"/>
          <p:cNvSpPr txBox="true"/>
          <p:nvPr/>
        </p:nvSpPr>
        <p:spPr>
          <a:xfrm rot="0">
            <a:off x="10287000" y="8096250"/>
            <a:ext cx="4737378" cy="41910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Adaptabilité à différents contextes</a:t>
            </a:r>
          </a:p>
        </p:txBody>
      </p:sp>
      <p:sp>
        <p:nvSpPr>
          <p:cNvPr name="TextBox 72" id="72"/>
          <p:cNvSpPr txBox="true"/>
          <p:nvPr/>
        </p:nvSpPr>
        <p:spPr>
          <a:xfrm rot="0">
            <a:off x="685800" y="926782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3 sur 15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85950"/>
            <a:ext cx="5410052" cy="6972300"/>
            <a:chOff x="0" y="0"/>
            <a:chExt cx="7213402" cy="9296400"/>
          </a:xfrm>
        </p:grpSpPr>
        <p:sp>
          <p:nvSpPr>
            <p:cNvPr name="Freeform 5" id="5" descr="preencoded.png"/>
            <p:cNvSpPr/>
            <p:nvPr/>
          </p:nvSpPr>
          <p:spPr>
            <a:xfrm flipH="false" flipV="false" rot="0">
              <a:off x="0" y="0"/>
              <a:ext cx="7213346" cy="9296400"/>
            </a:xfrm>
            <a:custGeom>
              <a:avLst/>
              <a:gdLst/>
              <a:ahLst/>
              <a:cxnLst/>
              <a:rect r="r" b="b" t="t" l="l"/>
              <a:pathLst>
                <a:path h="9296400" w="7213346">
                  <a:moveTo>
                    <a:pt x="0" y="0"/>
                  </a:moveTo>
                  <a:lnTo>
                    <a:pt x="7213346" y="0"/>
                  </a:lnTo>
                  <a:lnTo>
                    <a:pt x="7213346" y="9296400"/>
                  </a:lnTo>
                  <a:lnTo>
                    <a:pt x="0" y="9296400"/>
                  </a:lnTo>
                  <a:lnTo>
                    <a:pt x="0" y="0"/>
                  </a:lnTo>
                  <a:close/>
                </a:path>
              </a:pathLst>
            </a:custGeom>
            <a:blipFill>
              <a:blip r:embed="rId4"/>
              <a:stretch>
                <a:fillRect l="0" t="-86" r="0" b="-86"/>
              </a:stretch>
            </a:blipFill>
          </p:spPr>
        </p:sp>
      </p:grpSp>
      <p:grpSp>
        <p:nvGrpSpPr>
          <p:cNvPr name="Group 6" id="6"/>
          <p:cNvGrpSpPr>
            <a:grpSpLocks noChangeAspect="true"/>
          </p:cNvGrpSpPr>
          <p:nvPr/>
        </p:nvGrpSpPr>
        <p:grpSpPr>
          <a:xfrm rot="0">
            <a:off x="1028700" y="2257425"/>
            <a:ext cx="760585" cy="857250"/>
            <a:chOff x="0" y="0"/>
            <a:chExt cx="1014114" cy="1143000"/>
          </a:xfrm>
        </p:grpSpPr>
        <p:sp>
          <p:nvSpPr>
            <p:cNvPr name="Freeform 7" id="7" descr="preencoded.png"/>
            <p:cNvSpPr/>
            <p:nvPr/>
          </p:nvSpPr>
          <p:spPr>
            <a:xfrm flipH="false" flipV="false" rot="0">
              <a:off x="0" y="0"/>
              <a:ext cx="1014095" cy="1143000"/>
            </a:xfrm>
            <a:custGeom>
              <a:avLst/>
              <a:gdLst/>
              <a:ahLst/>
              <a:cxnLst/>
              <a:rect r="r" b="b" t="t" l="l"/>
              <a:pathLst>
                <a:path h="1143000" w="1014095">
                  <a:moveTo>
                    <a:pt x="0" y="0"/>
                  </a:moveTo>
                  <a:lnTo>
                    <a:pt x="1014095" y="0"/>
                  </a:lnTo>
                  <a:lnTo>
                    <a:pt x="1014095" y="1143000"/>
                  </a:lnTo>
                  <a:lnTo>
                    <a:pt x="0" y="1143000"/>
                  </a:lnTo>
                  <a:lnTo>
                    <a:pt x="0" y="0"/>
                  </a:lnTo>
                  <a:close/>
                </a:path>
              </a:pathLst>
            </a:custGeom>
            <a:blipFill>
              <a:blip r:embed="rId5"/>
              <a:stretch>
                <a:fillRect l="0" t="-221" r="-1" b="-221"/>
              </a:stretch>
            </a:blipFill>
          </p:spPr>
        </p:sp>
      </p:grpSp>
      <p:grpSp>
        <p:nvGrpSpPr>
          <p:cNvPr name="Group 8" id="8"/>
          <p:cNvGrpSpPr>
            <a:grpSpLocks noChangeAspect="true"/>
          </p:cNvGrpSpPr>
          <p:nvPr/>
        </p:nvGrpSpPr>
        <p:grpSpPr>
          <a:xfrm rot="0">
            <a:off x="1165994" y="2428875"/>
            <a:ext cx="485775" cy="514350"/>
            <a:chOff x="0" y="0"/>
            <a:chExt cx="647700" cy="685800"/>
          </a:xfrm>
        </p:grpSpPr>
        <p:sp>
          <p:nvSpPr>
            <p:cNvPr name="Freeform 9" id="9" descr="preencoded.png"/>
            <p:cNvSpPr/>
            <p:nvPr/>
          </p:nvSpPr>
          <p:spPr>
            <a:xfrm flipH="false" flipV="false" rot="0">
              <a:off x="0" y="0"/>
              <a:ext cx="647700" cy="685800"/>
            </a:xfrm>
            <a:custGeom>
              <a:avLst/>
              <a:gdLst/>
              <a:ahLst/>
              <a:cxnLst/>
              <a:rect r="r" b="b" t="t" l="l"/>
              <a:pathLst>
                <a:path h="685800" w="647700">
                  <a:moveTo>
                    <a:pt x="0" y="0"/>
                  </a:moveTo>
                  <a:lnTo>
                    <a:pt x="647700" y="0"/>
                  </a:lnTo>
                  <a:lnTo>
                    <a:pt x="647700" y="685800"/>
                  </a:lnTo>
                  <a:lnTo>
                    <a:pt x="0" y="6858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1028700" y="6743700"/>
            <a:ext cx="4724252" cy="1771650"/>
            <a:chOff x="0" y="0"/>
            <a:chExt cx="6299002" cy="2362200"/>
          </a:xfrm>
        </p:grpSpPr>
        <p:sp>
          <p:nvSpPr>
            <p:cNvPr name="Freeform 11" id="11" descr="preencoded.png"/>
            <p:cNvSpPr/>
            <p:nvPr/>
          </p:nvSpPr>
          <p:spPr>
            <a:xfrm flipH="false" flipV="false" rot="0">
              <a:off x="0" y="0"/>
              <a:ext cx="6298946" cy="2362200"/>
            </a:xfrm>
            <a:custGeom>
              <a:avLst/>
              <a:gdLst/>
              <a:ahLst/>
              <a:cxnLst/>
              <a:rect r="r" b="b" t="t" l="l"/>
              <a:pathLst>
                <a:path h="2362200" w="6298946">
                  <a:moveTo>
                    <a:pt x="0" y="0"/>
                  </a:moveTo>
                  <a:lnTo>
                    <a:pt x="6298946" y="0"/>
                  </a:lnTo>
                  <a:lnTo>
                    <a:pt x="6298946" y="2362200"/>
                  </a:lnTo>
                  <a:lnTo>
                    <a:pt x="0" y="2362200"/>
                  </a:lnTo>
                  <a:lnTo>
                    <a:pt x="0" y="0"/>
                  </a:lnTo>
                  <a:close/>
                </a:path>
              </a:pathLst>
            </a:custGeom>
            <a:blipFill>
              <a:blip r:embed="rId7"/>
              <a:stretch>
                <a:fillRect l="0" t="-99" r="0" b="-99"/>
              </a:stretch>
            </a:blipFill>
          </p:spPr>
        </p:sp>
      </p:grpSp>
      <p:grpSp>
        <p:nvGrpSpPr>
          <p:cNvPr name="Group 12" id="12"/>
          <p:cNvGrpSpPr>
            <a:grpSpLocks noChangeAspect="true"/>
          </p:cNvGrpSpPr>
          <p:nvPr/>
        </p:nvGrpSpPr>
        <p:grpSpPr>
          <a:xfrm rot="0">
            <a:off x="6438752" y="1885950"/>
            <a:ext cx="5410275" cy="6972300"/>
            <a:chOff x="0" y="0"/>
            <a:chExt cx="7213700" cy="9296400"/>
          </a:xfrm>
        </p:grpSpPr>
        <p:sp>
          <p:nvSpPr>
            <p:cNvPr name="Freeform 13" id="13" descr="preencoded.png"/>
            <p:cNvSpPr/>
            <p:nvPr/>
          </p:nvSpPr>
          <p:spPr>
            <a:xfrm flipH="false" flipV="false" rot="0">
              <a:off x="0" y="0"/>
              <a:ext cx="7213727" cy="9296400"/>
            </a:xfrm>
            <a:custGeom>
              <a:avLst/>
              <a:gdLst/>
              <a:ahLst/>
              <a:cxnLst/>
              <a:rect r="r" b="b" t="t" l="l"/>
              <a:pathLst>
                <a:path h="9296400" w="7213727">
                  <a:moveTo>
                    <a:pt x="0" y="0"/>
                  </a:moveTo>
                  <a:lnTo>
                    <a:pt x="7213727" y="0"/>
                  </a:lnTo>
                  <a:lnTo>
                    <a:pt x="7213727" y="9296400"/>
                  </a:lnTo>
                  <a:lnTo>
                    <a:pt x="0" y="9296400"/>
                  </a:lnTo>
                  <a:lnTo>
                    <a:pt x="0" y="0"/>
                  </a:lnTo>
                  <a:close/>
                </a:path>
              </a:pathLst>
            </a:custGeom>
            <a:blipFill>
              <a:blip r:embed="rId8"/>
              <a:stretch>
                <a:fillRect l="0" t="-88" r="0" b="-88"/>
              </a:stretch>
            </a:blipFill>
          </p:spPr>
        </p:sp>
      </p:grpSp>
      <p:grpSp>
        <p:nvGrpSpPr>
          <p:cNvPr name="Group 14" id="14"/>
          <p:cNvGrpSpPr>
            <a:grpSpLocks noChangeAspect="true"/>
          </p:cNvGrpSpPr>
          <p:nvPr/>
        </p:nvGrpSpPr>
        <p:grpSpPr>
          <a:xfrm rot="0">
            <a:off x="6781652" y="2228850"/>
            <a:ext cx="857250" cy="857250"/>
            <a:chOff x="0" y="0"/>
            <a:chExt cx="1143000" cy="1143000"/>
          </a:xfrm>
        </p:grpSpPr>
        <p:sp>
          <p:nvSpPr>
            <p:cNvPr name="Freeform 15" id="15"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6938814" y="2400300"/>
            <a:ext cx="542925" cy="514350"/>
            <a:chOff x="0" y="0"/>
            <a:chExt cx="723900" cy="685800"/>
          </a:xfrm>
        </p:grpSpPr>
        <p:sp>
          <p:nvSpPr>
            <p:cNvPr name="Freeform 17" id="17" descr="preencoded.png"/>
            <p:cNvSpPr/>
            <p:nvPr/>
          </p:nvSpPr>
          <p:spPr>
            <a:xfrm flipH="false" flipV="false" rot="0">
              <a:off x="0" y="0"/>
              <a:ext cx="723900" cy="685800"/>
            </a:xfrm>
            <a:custGeom>
              <a:avLst/>
              <a:gdLst/>
              <a:ahLst/>
              <a:cxnLst/>
              <a:rect r="r" b="b" t="t" l="l"/>
              <a:pathLst>
                <a:path h="685800" w="723900">
                  <a:moveTo>
                    <a:pt x="0" y="0"/>
                  </a:moveTo>
                  <a:lnTo>
                    <a:pt x="723900" y="0"/>
                  </a:lnTo>
                  <a:lnTo>
                    <a:pt x="723900" y="685800"/>
                  </a:lnTo>
                  <a:lnTo>
                    <a:pt x="0" y="685800"/>
                  </a:lnTo>
                  <a:lnTo>
                    <a:pt x="0" y="0"/>
                  </a:lnTo>
                  <a:close/>
                </a:path>
              </a:pathLst>
            </a:custGeom>
            <a:blipFill>
              <a:blip r:embed="rId10"/>
              <a:stretch>
                <a:fillRect l="0" t="0" r="0" b="0"/>
              </a:stretch>
            </a:blipFill>
          </p:spPr>
        </p:sp>
      </p:grpSp>
      <p:grpSp>
        <p:nvGrpSpPr>
          <p:cNvPr name="Group 18" id="18"/>
          <p:cNvGrpSpPr>
            <a:grpSpLocks noChangeAspect="true"/>
          </p:cNvGrpSpPr>
          <p:nvPr/>
        </p:nvGrpSpPr>
        <p:grpSpPr>
          <a:xfrm rot="0">
            <a:off x="6781652" y="6743700"/>
            <a:ext cx="4724475" cy="1771650"/>
            <a:chOff x="0" y="0"/>
            <a:chExt cx="6299300" cy="2362200"/>
          </a:xfrm>
        </p:grpSpPr>
        <p:sp>
          <p:nvSpPr>
            <p:cNvPr name="Freeform 19" id="19" descr="preencoded.png"/>
            <p:cNvSpPr/>
            <p:nvPr/>
          </p:nvSpPr>
          <p:spPr>
            <a:xfrm flipH="false" flipV="false" rot="0">
              <a:off x="0" y="0"/>
              <a:ext cx="6299327" cy="2362200"/>
            </a:xfrm>
            <a:custGeom>
              <a:avLst/>
              <a:gdLst/>
              <a:ahLst/>
              <a:cxnLst/>
              <a:rect r="r" b="b" t="t" l="l"/>
              <a:pathLst>
                <a:path h="2362200" w="6299327">
                  <a:moveTo>
                    <a:pt x="0" y="0"/>
                  </a:moveTo>
                  <a:lnTo>
                    <a:pt x="6299327" y="0"/>
                  </a:lnTo>
                  <a:lnTo>
                    <a:pt x="6299327" y="2362200"/>
                  </a:lnTo>
                  <a:lnTo>
                    <a:pt x="0" y="2362200"/>
                  </a:lnTo>
                  <a:lnTo>
                    <a:pt x="0" y="0"/>
                  </a:lnTo>
                  <a:close/>
                </a:path>
              </a:pathLst>
            </a:custGeom>
            <a:blipFill>
              <a:blip r:embed="rId11"/>
              <a:stretch>
                <a:fillRect l="0" t="-101" r="0" b="-101"/>
              </a:stretch>
            </a:blipFill>
          </p:spPr>
        </p:sp>
      </p:grpSp>
      <p:grpSp>
        <p:nvGrpSpPr>
          <p:cNvPr name="Group 20" id="20"/>
          <p:cNvGrpSpPr>
            <a:grpSpLocks noChangeAspect="true"/>
          </p:cNvGrpSpPr>
          <p:nvPr/>
        </p:nvGrpSpPr>
        <p:grpSpPr>
          <a:xfrm rot="0">
            <a:off x="12191925" y="1885950"/>
            <a:ext cx="5410052" cy="6972300"/>
            <a:chOff x="0" y="0"/>
            <a:chExt cx="7213402" cy="9296400"/>
          </a:xfrm>
        </p:grpSpPr>
        <p:sp>
          <p:nvSpPr>
            <p:cNvPr name="Freeform 21" id="21" descr="preencoded.png"/>
            <p:cNvSpPr/>
            <p:nvPr/>
          </p:nvSpPr>
          <p:spPr>
            <a:xfrm flipH="false" flipV="false" rot="0">
              <a:off x="0" y="0"/>
              <a:ext cx="7213346" cy="9296400"/>
            </a:xfrm>
            <a:custGeom>
              <a:avLst/>
              <a:gdLst/>
              <a:ahLst/>
              <a:cxnLst/>
              <a:rect r="r" b="b" t="t" l="l"/>
              <a:pathLst>
                <a:path h="9296400" w="7213346">
                  <a:moveTo>
                    <a:pt x="0" y="0"/>
                  </a:moveTo>
                  <a:lnTo>
                    <a:pt x="7213346" y="0"/>
                  </a:lnTo>
                  <a:lnTo>
                    <a:pt x="7213346" y="9296400"/>
                  </a:lnTo>
                  <a:lnTo>
                    <a:pt x="0" y="9296400"/>
                  </a:lnTo>
                  <a:lnTo>
                    <a:pt x="0" y="0"/>
                  </a:lnTo>
                  <a:close/>
                </a:path>
              </a:pathLst>
            </a:custGeom>
            <a:blipFill>
              <a:blip r:embed="rId12"/>
              <a:stretch>
                <a:fillRect l="0" t="-86" r="0" b="-86"/>
              </a:stretch>
            </a:blipFill>
          </p:spPr>
        </p:sp>
      </p:grpSp>
      <p:grpSp>
        <p:nvGrpSpPr>
          <p:cNvPr name="Group 22" id="22"/>
          <p:cNvGrpSpPr>
            <a:grpSpLocks noChangeAspect="true"/>
          </p:cNvGrpSpPr>
          <p:nvPr/>
        </p:nvGrpSpPr>
        <p:grpSpPr>
          <a:xfrm rot="0">
            <a:off x="12534825" y="2228850"/>
            <a:ext cx="857250" cy="857250"/>
            <a:chOff x="0" y="0"/>
            <a:chExt cx="1143000" cy="1143000"/>
          </a:xfrm>
        </p:grpSpPr>
        <p:sp>
          <p:nvSpPr>
            <p:cNvPr name="Freeform 23" id="23"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3"/>
              <a:stretch>
                <a:fillRect l="0" t="0" r="0" b="0"/>
              </a:stretch>
            </a:blipFill>
          </p:spPr>
        </p:sp>
      </p:grpSp>
      <p:grpSp>
        <p:nvGrpSpPr>
          <p:cNvPr name="Group 24" id="24"/>
          <p:cNvGrpSpPr>
            <a:grpSpLocks noChangeAspect="true"/>
          </p:cNvGrpSpPr>
          <p:nvPr/>
        </p:nvGrpSpPr>
        <p:grpSpPr>
          <a:xfrm rot="0">
            <a:off x="12534825" y="6743700"/>
            <a:ext cx="4724252" cy="1771650"/>
            <a:chOff x="0" y="0"/>
            <a:chExt cx="6299002" cy="2362200"/>
          </a:xfrm>
        </p:grpSpPr>
        <p:sp>
          <p:nvSpPr>
            <p:cNvPr name="Freeform 25" id="25" descr="preencoded.png"/>
            <p:cNvSpPr/>
            <p:nvPr/>
          </p:nvSpPr>
          <p:spPr>
            <a:xfrm flipH="false" flipV="false" rot="0">
              <a:off x="0" y="0"/>
              <a:ext cx="6298946" cy="2362200"/>
            </a:xfrm>
            <a:custGeom>
              <a:avLst/>
              <a:gdLst/>
              <a:ahLst/>
              <a:cxnLst/>
              <a:rect r="r" b="b" t="t" l="l"/>
              <a:pathLst>
                <a:path h="2362200" w="6298946">
                  <a:moveTo>
                    <a:pt x="0" y="0"/>
                  </a:moveTo>
                  <a:lnTo>
                    <a:pt x="6298946" y="0"/>
                  </a:lnTo>
                  <a:lnTo>
                    <a:pt x="6298946" y="2362200"/>
                  </a:lnTo>
                  <a:lnTo>
                    <a:pt x="0" y="2362200"/>
                  </a:lnTo>
                  <a:lnTo>
                    <a:pt x="0" y="0"/>
                  </a:lnTo>
                  <a:close/>
                </a:path>
              </a:pathLst>
            </a:custGeom>
            <a:blipFill>
              <a:blip r:embed="rId14"/>
              <a:stretch>
                <a:fillRect l="0" t="-99" r="0" b="-99"/>
              </a:stretch>
            </a:blipFill>
          </p:spPr>
        </p:sp>
      </p:grpSp>
      <p:sp>
        <p:nvSpPr>
          <p:cNvPr name="TextBox 26" id="26"/>
          <p:cNvSpPr txBox="true"/>
          <p:nvPr/>
        </p:nvSpPr>
        <p:spPr>
          <a:xfrm rot="0">
            <a:off x="685800" y="695325"/>
            <a:ext cx="2029968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Environnements de Développement</a:t>
            </a:r>
          </a:p>
        </p:txBody>
      </p:sp>
      <p:sp>
        <p:nvSpPr>
          <p:cNvPr name="TextBox 27" id="27"/>
          <p:cNvSpPr txBox="true"/>
          <p:nvPr/>
        </p:nvSpPr>
        <p:spPr>
          <a:xfrm rot="0">
            <a:off x="2017886" y="2171700"/>
            <a:ext cx="3735064" cy="9715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Jupyter Notebook/Lab</a:t>
            </a:r>
          </a:p>
        </p:txBody>
      </p:sp>
      <p:sp>
        <p:nvSpPr>
          <p:cNvPr name="TextBox 28" id="28"/>
          <p:cNvSpPr txBox="true"/>
          <p:nvPr/>
        </p:nvSpPr>
        <p:spPr>
          <a:xfrm rot="0">
            <a:off x="1085850" y="329565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Idéal pour l'exploration de données interactive</a:t>
            </a:r>
          </a:p>
        </p:txBody>
      </p:sp>
      <p:sp>
        <p:nvSpPr>
          <p:cNvPr name="TextBox 29" id="29"/>
          <p:cNvSpPr txBox="true"/>
          <p:nvPr/>
        </p:nvSpPr>
        <p:spPr>
          <a:xfrm rot="0">
            <a:off x="1085850" y="409575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Parfait pour le prototypage et la création de rapports</a:t>
            </a:r>
          </a:p>
        </p:txBody>
      </p:sp>
      <p:sp>
        <p:nvSpPr>
          <p:cNvPr name="TextBox 30" id="30"/>
          <p:cNvSpPr txBox="true"/>
          <p:nvPr/>
        </p:nvSpPr>
        <p:spPr>
          <a:xfrm rot="0">
            <a:off x="1085850" y="489585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Combine code, visualisations et texte explicatif</a:t>
            </a:r>
          </a:p>
        </p:txBody>
      </p:sp>
      <p:sp>
        <p:nvSpPr>
          <p:cNvPr name="TextBox 31" id="31"/>
          <p:cNvSpPr txBox="true"/>
          <p:nvPr/>
        </p:nvSpPr>
        <p:spPr>
          <a:xfrm rot="0">
            <a:off x="1200150" y="6867525"/>
            <a:ext cx="4381352" cy="333375"/>
          </a:xfrm>
          <a:prstGeom prst="rect">
            <a:avLst/>
          </a:prstGeom>
        </p:spPr>
        <p:txBody>
          <a:bodyPr anchor="t" rtlCol="false" tIns="0" lIns="0" bIns="0" rIns="0">
            <a:spAutoFit/>
          </a:bodyPr>
          <a:lstStyle/>
          <a:p>
            <a:pPr algn="l">
              <a:lnSpc>
                <a:spcPts val="2250"/>
              </a:lnSpc>
            </a:pPr>
            <a:r>
              <a:rPr lang="en-US" sz="1575">
                <a:solidFill>
                  <a:srgbClr val="306998"/>
                </a:solidFill>
                <a:latin typeface="Arimo"/>
                <a:ea typeface="Arimo"/>
                <a:cs typeface="Arimo"/>
                <a:sym typeface="Arimo"/>
              </a:rPr>
              <a:t>Exemple d'usage :</a:t>
            </a:r>
          </a:p>
        </p:txBody>
      </p:sp>
      <p:sp>
        <p:nvSpPr>
          <p:cNvPr name="TextBox 32" id="32"/>
          <p:cNvSpPr txBox="true"/>
          <p:nvPr/>
        </p:nvSpPr>
        <p:spPr>
          <a:xfrm rot="0">
            <a:off x="1200150" y="7153275"/>
            <a:ext cx="4381352" cy="119062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Analyser un jeu de données, visualiser des tendances et documenter les étapes de l'analyse dans un seul document partageable.</a:t>
            </a:r>
          </a:p>
        </p:txBody>
      </p:sp>
      <p:sp>
        <p:nvSpPr>
          <p:cNvPr name="TextBox 33" id="33"/>
          <p:cNvSpPr txBox="true"/>
          <p:nvPr/>
        </p:nvSpPr>
        <p:spPr>
          <a:xfrm rot="0">
            <a:off x="7867502" y="2371725"/>
            <a:ext cx="1773168"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VSCode</a:t>
            </a:r>
          </a:p>
        </p:txBody>
      </p:sp>
      <p:sp>
        <p:nvSpPr>
          <p:cNvPr name="TextBox 34" id="34"/>
          <p:cNvSpPr txBox="true"/>
          <p:nvPr/>
        </p:nvSpPr>
        <p:spPr>
          <a:xfrm rot="0">
            <a:off x="6838802" y="323850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Éditeur de code léger et open-source</a:t>
            </a:r>
          </a:p>
        </p:txBody>
      </p:sp>
      <p:sp>
        <p:nvSpPr>
          <p:cNvPr name="TextBox 35" id="35"/>
          <p:cNvSpPr txBox="true"/>
          <p:nvPr/>
        </p:nvSpPr>
        <p:spPr>
          <a:xfrm rot="0">
            <a:off x="6838802" y="369570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Vaste marché d'extensions</a:t>
            </a:r>
          </a:p>
        </p:txBody>
      </p:sp>
      <p:sp>
        <p:nvSpPr>
          <p:cNvPr name="TextBox 36" id="36"/>
          <p:cNvSpPr txBox="true"/>
          <p:nvPr/>
        </p:nvSpPr>
        <p:spPr>
          <a:xfrm rot="0">
            <a:off x="6838802" y="415290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Support de première classe pour Python</a:t>
            </a:r>
          </a:p>
        </p:txBody>
      </p:sp>
      <p:sp>
        <p:nvSpPr>
          <p:cNvPr name="TextBox 37" id="37"/>
          <p:cNvSpPr txBox="true"/>
          <p:nvPr/>
        </p:nvSpPr>
        <p:spPr>
          <a:xfrm rot="0">
            <a:off x="6838802" y="495300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Offre linting, formatage, débogage et intégration Git</a:t>
            </a:r>
          </a:p>
        </p:txBody>
      </p:sp>
      <p:sp>
        <p:nvSpPr>
          <p:cNvPr name="TextBox 38" id="38"/>
          <p:cNvSpPr txBox="true"/>
          <p:nvPr/>
        </p:nvSpPr>
        <p:spPr>
          <a:xfrm rot="0">
            <a:off x="6953102" y="6867525"/>
            <a:ext cx="4381575" cy="333375"/>
          </a:xfrm>
          <a:prstGeom prst="rect">
            <a:avLst/>
          </a:prstGeom>
        </p:spPr>
        <p:txBody>
          <a:bodyPr anchor="t" rtlCol="false" tIns="0" lIns="0" bIns="0" rIns="0">
            <a:spAutoFit/>
          </a:bodyPr>
          <a:lstStyle/>
          <a:p>
            <a:pPr algn="l">
              <a:lnSpc>
                <a:spcPts val="2250"/>
              </a:lnSpc>
            </a:pPr>
            <a:r>
              <a:rPr lang="en-US" sz="1575">
                <a:solidFill>
                  <a:srgbClr val="306998"/>
                </a:solidFill>
                <a:latin typeface="Arimo"/>
                <a:ea typeface="Arimo"/>
                <a:cs typeface="Arimo"/>
                <a:sym typeface="Arimo"/>
              </a:rPr>
              <a:t>Exemple d'usage :</a:t>
            </a:r>
          </a:p>
        </p:txBody>
      </p:sp>
      <p:sp>
        <p:nvSpPr>
          <p:cNvPr name="TextBox 39" id="39"/>
          <p:cNvSpPr txBox="true"/>
          <p:nvPr/>
        </p:nvSpPr>
        <p:spPr>
          <a:xfrm rot="0">
            <a:off x="6953102" y="7153275"/>
            <a:ext cx="4381575" cy="119062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Développer des scripts Python complexes, gérer des projets de machine learning avec un contrôle de version intégré et collaborer avec d'autres développeurs.</a:t>
            </a:r>
          </a:p>
        </p:txBody>
      </p:sp>
      <p:sp>
        <p:nvSpPr>
          <p:cNvPr name="TextBox 40" id="40"/>
          <p:cNvSpPr txBox="true"/>
          <p:nvPr/>
        </p:nvSpPr>
        <p:spPr>
          <a:xfrm rot="0">
            <a:off x="13620675" y="2371725"/>
            <a:ext cx="1635739"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Spyder</a:t>
            </a:r>
          </a:p>
        </p:txBody>
      </p:sp>
      <p:sp>
        <p:nvSpPr>
          <p:cNvPr name="TextBox 41" id="41"/>
          <p:cNvSpPr txBox="true"/>
          <p:nvPr/>
        </p:nvSpPr>
        <p:spPr>
          <a:xfrm rot="0">
            <a:off x="12591975" y="3238500"/>
            <a:ext cx="5600522"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Équivalent de MATLAB pour Python</a:t>
            </a:r>
          </a:p>
        </p:txBody>
      </p:sp>
      <p:sp>
        <p:nvSpPr>
          <p:cNvPr name="TextBox 42" id="42"/>
          <p:cNvSpPr txBox="true"/>
          <p:nvPr/>
        </p:nvSpPr>
        <p:spPr>
          <a:xfrm rot="0">
            <a:off x="12591975" y="369570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Interface conviviale avec console IPython intégrée</a:t>
            </a:r>
          </a:p>
        </p:txBody>
      </p:sp>
      <p:sp>
        <p:nvSpPr>
          <p:cNvPr name="TextBox 43" id="43"/>
          <p:cNvSpPr txBox="true"/>
          <p:nvPr/>
        </p:nvSpPr>
        <p:spPr>
          <a:xfrm rot="0">
            <a:off x="12591975" y="449580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Explorateur de variables et panneau de tracés</a:t>
            </a:r>
          </a:p>
        </p:txBody>
      </p:sp>
      <p:sp>
        <p:nvSpPr>
          <p:cNvPr name="TextBox 44" id="44"/>
          <p:cNvSpPr txBox="true"/>
          <p:nvPr/>
        </p:nvSpPr>
        <p:spPr>
          <a:xfrm rot="0">
            <a:off x="12591975" y="5295900"/>
            <a:ext cx="466710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Parfait pour le calcul scientifique et l'exploration de données</a:t>
            </a:r>
          </a:p>
        </p:txBody>
      </p:sp>
      <p:sp>
        <p:nvSpPr>
          <p:cNvPr name="TextBox 45" id="45"/>
          <p:cNvSpPr txBox="true"/>
          <p:nvPr/>
        </p:nvSpPr>
        <p:spPr>
          <a:xfrm rot="0">
            <a:off x="12706275" y="6867525"/>
            <a:ext cx="4381352" cy="333375"/>
          </a:xfrm>
          <a:prstGeom prst="rect">
            <a:avLst/>
          </a:prstGeom>
        </p:spPr>
        <p:txBody>
          <a:bodyPr anchor="t" rtlCol="false" tIns="0" lIns="0" bIns="0" rIns="0">
            <a:spAutoFit/>
          </a:bodyPr>
          <a:lstStyle/>
          <a:p>
            <a:pPr algn="l">
              <a:lnSpc>
                <a:spcPts val="2250"/>
              </a:lnSpc>
            </a:pPr>
            <a:r>
              <a:rPr lang="en-US" sz="1575">
                <a:solidFill>
                  <a:srgbClr val="306998"/>
                </a:solidFill>
                <a:latin typeface="Arimo"/>
                <a:ea typeface="Arimo"/>
                <a:cs typeface="Arimo"/>
                <a:sym typeface="Arimo"/>
              </a:rPr>
              <a:t>Exemple d'usage :</a:t>
            </a:r>
          </a:p>
        </p:txBody>
      </p:sp>
      <p:sp>
        <p:nvSpPr>
          <p:cNvPr name="TextBox 46" id="46"/>
          <p:cNvSpPr txBox="true"/>
          <p:nvPr/>
        </p:nvSpPr>
        <p:spPr>
          <a:xfrm rot="0">
            <a:off x="12706275" y="7153275"/>
            <a:ext cx="4381352" cy="119062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Effectuer des calculs numériques, inspecter des variables en temps réel et visualiser des données scientifiques de manière interactive.</a:t>
            </a:r>
          </a:p>
        </p:txBody>
      </p:sp>
      <p:sp>
        <p:nvSpPr>
          <p:cNvPr name="TextBox 47" id="47"/>
          <p:cNvSpPr txBox="true"/>
          <p:nvPr/>
        </p:nvSpPr>
        <p:spPr>
          <a:xfrm rot="0">
            <a:off x="685800" y="926782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4 sur 15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85950"/>
            <a:ext cx="5410275" cy="6972300"/>
            <a:chOff x="0" y="0"/>
            <a:chExt cx="7213700" cy="9296400"/>
          </a:xfrm>
        </p:grpSpPr>
        <p:sp>
          <p:nvSpPr>
            <p:cNvPr name="Freeform 5" id="5" descr="preencoded.png"/>
            <p:cNvSpPr/>
            <p:nvPr/>
          </p:nvSpPr>
          <p:spPr>
            <a:xfrm flipH="false" flipV="false" rot="0">
              <a:off x="0" y="0"/>
              <a:ext cx="7213727" cy="9296400"/>
            </a:xfrm>
            <a:custGeom>
              <a:avLst/>
              <a:gdLst/>
              <a:ahLst/>
              <a:cxnLst/>
              <a:rect r="r" b="b" t="t" l="l"/>
              <a:pathLst>
                <a:path h="9296400" w="7213727">
                  <a:moveTo>
                    <a:pt x="0" y="0"/>
                  </a:moveTo>
                  <a:lnTo>
                    <a:pt x="7213727" y="0"/>
                  </a:lnTo>
                  <a:lnTo>
                    <a:pt x="7213727" y="9296400"/>
                  </a:lnTo>
                  <a:lnTo>
                    <a:pt x="0" y="9296400"/>
                  </a:lnTo>
                  <a:lnTo>
                    <a:pt x="0" y="0"/>
                  </a:lnTo>
                  <a:close/>
                </a:path>
              </a:pathLst>
            </a:custGeom>
            <a:blipFill>
              <a:blip r:embed="rId4"/>
              <a:stretch>
                <a:fillRect l="0" t="-88" r="0" b="-88"/>
              </a:stretch>
            </a:blipFill>
          </p:spPr>
        </p:sp>
      </p:grpSp>
      <p:grpSp>
        <p:nvGrpSpPr>
          <p:cNvPr name="Group 6" id="6"/>
          <p:cNvGrpSpPr>
            <a:grpSpLocks noChangeAspect="true"/>
          </p:cNvGrpSpPr>
          <p:nvPr/>
        </p:nvGrpSpPr>
        <p:grpSpPr>
          <a:xfrm rot="0">
            <a:off x="1028700" y="2228850"/>
            <a:ext cx="685800" cy="685800"/>
            <a:chOff x="0" y="0"/>
            <a:chExt cx="914400" cy="914400"/>
          </a:xfrm>
        </p:grpSpPr>
        <p:sp>
          <p:nvSpPr>
            <p:cNvPr name="Freeform 7" id="7"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1164432" y="2314575"/>
            <a:ext cx="414338" cy="514350"/>
            <a:chOff x="0" y="0"/>
            <a:chExt cx="552450" cy="685800"/>
          </a:xfrm>
        </p:grpSpPr>
        <p:sp>
          <p:nvSpPr>
            <p:cNvPr name="Freeform 9" id="9" descr="preencoded.png"/>
            <p:cNvSpPr/>
            <p:nvPr/>
          </p:nvSpPr>
          <p:spPr>
            <a:xfrm flipH="false" flipV="false" rot="0">
              <a:off x="0" y="0"/>
              <a:ext cx="552450" cy="685800"/>
            </a:xfrm>
            <a:custGeom>
              <a:avLst/>
              <a:gdLst/>
              <a:ahLst/>
              <a:cxnLst/>
              <a:rect r="r" b="b" t="t" l="l"/>
              <a:pathLst>
                <a:path h="685800" w="552450">
                  <a:moveTo>
                    <a:pt x="0" y="0"/>
                  </a:moveTo>
                  <a:lnTo>
                    <a:pt x="552450" y="0"/>
                  </a:lnTo>
                  <a:lnTo>
                    <a:pt x="552450" y="685800"/>
                  </a:lnTo>
                  <a:lnTo>
                    <a:pt x="0" y="6858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1028700" y="7315200"/>
            <a:ext cx="4724475" cy="1200150"/>
            <a:chOff x="0" y="0"/>
            <a:chExt cx="6299300" cy="1600200"/>
          </a:xfrm>
        </p:grpSpPr>
        <p:sp>
          <p:nvSpPr>
            <p:cNvPr name="Freeform 11" id="11" descr="preencoded.png"/>
            <p:cNvSpPr/>
            <p:nvPr/>
          </p:nvSpPr>
          <p:spPr>
            <a:xfrm flipH="false" flipV="false" rot="0">
              <a:off x="0" y="0"/>
              <a:ext cx="6299327" cy="1600200"/>
            </a:xfrm>
            <a:custGeom>
              <a:avLst/>
              <a:gdLst/>
              <a:ahLst/>
              <a:cxnLst/>
              <a:rect r="r" b="b" t="t" l="l"/>
              <a:pathLst>
                <a:path h="1600200" w="6299327">
                  <a:moveTo>
                    <a:pt x="0" y="0"/>
                  </a:moveTo>
                  <a:lnTo>
                    <a:pt x="6299327" y="0"/>
                  </a:lnTo>
                  <a:lnTo>
                    <a:pt x="6299327" y="1600200"/>
                  </a:lnTo>
                  <a:lnTo>
                    <a:pt x="0" y="1600200"/>
                  </a:lnTo>
                  <a:lnTo>
                    <a:pt x="0" y="0"/>
                  </a:lnTo>
                  <a:close/>
                </a:path>
              </a:pathLst>
            </a:custGeom>
            <a:blipFill>
              <a:blip r:embed="rId7"/>
              <a:stretch>
                <a:fillRect l="0" t="-101" r="0" b="-101"/>
              </a:stretch>
            </a:blipFill>
          </p:spPr>
        </p:sp>
      </p:grpSp>
      <p:grpSp>
        <p:nvGrpSpPr>
          <p:cNvPr name="Group 12" id="12"/>
          <p:cNvGrpSpPr>
            <a:grpSpLocks noChangeAspect="true"/>
          </p:cNvGrpSpPr>
          <p:nvPr/>
        </p:nvGrpSpPr>
        <p:grpSpPr>
          <a:xfrm rot="0">
            <a:off x="1200150" y="7515225"/>
            <a:ext cx="157162" cy="200025"/>
            <a:chOff x="0" y="0"/>
            <a:chExt cx="209550" cy="266700"/>
          </a:xfrm>
        </p:grpSpPr>
        <p:sp>
          <p:nvSpPr>
            <p:cNvPr name="Freeform 13" id="13" descr="preencoded.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6438975" y="1885950"/>
            <a:ext cx="5410275" cy="6972300"/>
            <a:chOff x="0" y="0"/>
            <a:chExt cx="7213700" cy="9296400"/>
          </a:xfrm>
        </p:grpSpPr>
        <p:sp>
          <p:nvSpPr>
            <p:cNvPr name="Freeform 15" id="15" descr="preencoded.png"/>
            <p:cNvSpPr/>
            <p:nvPr/>
          </p:nvSpPr>
          <p:spPr>
            <a:xfrm flipH="false" flipV="false" rot="0">
              <a:off x="0" y="0"/>
              <a:ext cx="7213727" cy="9296400"/>
            </a:xfrm>
            <a:custGeom>
              <a:avLst/>
              <a:gdLst/>
              <a:ahLst/>
              <a:cxnLst/>
              <a:rect r="r" b="b" t="t" l="l"/>
              <a:pathLst>
                <a:path h="9296400" w="7213727">
                  <a:moveTo>
                    <a:pt x="0" y="0"/>
                  </a:moveTo>
                  <a:lnTo>
                    <a:pt x="7213727" y="0"/>
                  </a:lnTo>
                  <a:lnTo>
                    <a:pt x="7213727" y="9296400"/>
                  </a:lnTo>
                  <a:lnTo>
                    <a:pt x="0" y="9296400"/>
                  </a:lnTo>
                  <a:lnTo>
                    <a:pt x="0" y="0"/>
                  </a:lnTo>
                  <a:close/>
                </a:path>
              </a:pathLst>
            </a:custGeom>
            <a:blipFill>
              <a:blip r:embed="rId9"/>
              <a:stretch>
                <a:fillRect l="0" t="-88" r="0" b="-88"/>
              </a:stretch>
            </a:blipFill>
          </p:spPr>
        </p:sp>
      </p:grpSp>
      <p:grpSp>
        <p:nvGrpSpPr>
          <p:cNvPr name="Group 16" id="16"/>
          <p:cNvGrpSpPr>
            <a:grpSpLocks noChangeAspect="true"/>
          </p:cNvGrpSpPr>
          <p:nvPr/>
        </p:nvGrpSpPr>
        <p:grpSpPr>
          <a:xfrm rot="0">
            <a:off x="6781875" y="2343150"/>
            <a:ext cx="625302" cy="685800"/>
            <a:chOff x="0" y="0"/>
            <a:chExt cx="833736" cy="914400"/>
          </a:xfrm>
        </p:grpSpPr>
        <p:sp>
          <p:nvSpPr>
            <p:cNvPr name="Freeform 17" id="17" descr="preencoded.png"/>
            <p:cNvSpPr/>
            <p:nvPr/>
          </p:nvSpPr>
          <p:spPr>
            <a:xfrm flipH="false" flipV="false" rot="0">
              <a:off x="0" y="0"/>
              <a:ext cx="833755" cy="914400"/>
            </a:xfrm>
            <a:custGeom>
              <a:avLst/>
              <a:gdLst/>
              <a:ahLst/>
              <a:cxnLst/>
              <a:rect r="r" b="b" t="t" l="l"/>
              <a:pathLst>
                <a:path h="914400" w="833755">
                  <a:moveTo>
                    <a:pt x="0" y="0"/>
                  </a:moveTo>
                  <a:lnTo>
                    <a:pt x="833755" y="0"/>
                  </a:lnTo>
                  <a:lnTo>
                    <a:pt x="833755" y="914400"/>
                  </a:lnTo>
                  <a:lnTo>
                    <a:pt x="0" y="914400"/>
                  </a:lnTo>
                  <a:lnTo>
                    <a:pt x="0" y="0"/>
                  </a:lnTo>
                  <a:close/>
                </a:path>
              </a:pathLst>
            </a:custGeom>
            <a:blipFill>
              <a:blip r:embed="rId10"/>
              <a:stretch>
                <a:fillRect l="0" t="-890" r="2" b="-890"/>
              </a:stretch>
            </a:blipFill>
          </p:spPr>
        </p:sp>
      </p:grpSp>
      <p:grpSp>
        <p:nvGrpSpPr>
          <p:cNvPr name="Group 18" id="18"/>
          <p:cNvGrpSpPr>
            <a:grpSpLocks noChangeAspect="true"/>
          </p:cNvGrpSpPr>
          <p:nvPr/>
        </p:nvGrpSpPr>
        <p:grpSpPr>
          <a:xfrm rot="0">
            <a:off x="6851526" y="2428875"/>
            <a:ext cx="485775" cy="514350"/>
            <a:chOff x="0" y="0"/>
            <a:chExt cx="647700" cy="685800"/>
          </a:xfrm>
        </p:grpSpPr>
        <p:sp>
          <p:nvSpPr>
            <p:cNvPr name="Freeform 19" id="19" descr="preencoded.png"/>
            <p:cNvSpPr/>
            <p:nvPr/>
          </p:nvSpPr>
          <p:spPr>
            <a:xfrm flipH="false" flipV="false" rot="0">
              <a:off x="0" y="0"/>
              <a:ext cx="647700" cy="685800"/>
            </a:xfrm>
            <a:custGeom>
              <a:avLst/>
              <a:gdLst/>
              <a:ahLst/>
              <a:cxnLst/>
              <a:rect r="r" b="b" t="t" l="l"/>
              <a:pathLst>
                <a:path h="685800" w="647700">
                  <a:moveTo>
                    <a:pt x="0" y="0"/>
                  </a:moveTo>
                  <a:lnTo>
                    <a:pt x="647700" y="0"/>
                  </a:lnTo>
                  <a:lnTo>
                    <a:pt x="647700" y="685800"/>
                  </a:lnTo>
                  <a:lnTo>
                    <a:pt x="0" y="6858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6781875" y="7600950"/>
            <a:ext cx="4724475" cy="914400"/>
            <a:chOff x="0" y="0"/>
            <a:chExt cx="6299300" cy="1219200"/>
          </a:xfrm>
        </p:grpSpPr>
        <p:sp>
          <p:nvSpPr>
            <p:cNvPr name="Freeform 21" id="21" descr="preencoded.png"/>
            <p:cNvSpPr/>
            <p:nvPr/>
          </p:nvSpPr>
          <p:spPr>
            <a:xfrm flipH="false" flipV="false" rot="0">
              <a:off x="0" y="0"/>
              <a:ext cx="6299327" cy="1219200"/>
            </a:xfrm>
            <a:custGeom>
              <a:avLst/>
              <a:gdLst/>
              <a:ahLst/>
              <a:cxnLst/>
              <a:rect r="r" b="b" t="t" l="l"/>
              <a:pathLst>
                <a:path h="1219200" w="6299327">
                  <a:moveTo>
                    <a:pt x="0" y="0"/>
                  </a:moveTo>
                  <a:lnTo>
                    <a:pt x="6299327" y="0"/>
                  </a:lnTo>
                  <a:lnTo>
                    <a:pt x="6299327" y="1219200"/>
                  </a:lnTo>
                  <a:lnTo>
                    <a:pt x="0" y="1219200"/>
                  </a:lnTo>
                  <a:lnTo>
                    <a:pt x="0" y="0"/>
                  </a:lnTo>
                  <a:close/>
                </a:path>
              </a:pathLst>
            </a:custGeom>
            <a:blipFill>
              <a:blip r:embed="rId12"/>
              <a:stretch>
                <a:fillRect l="0" t="-101" r="0" b="-101"/>
              </a:stretch>
            </a:blipFill>
          </p:spPr>
        </p:sp>
      </p:grpSp>
      <p:grpSp>
        <p:nvGrpSpPr>
          <p:cNvPr name="Group 22" id="22"/>
          <p:cNvGrpSpPr>
            <a:grpSpLocks noChangeAspect="true"/>
          </p:cNvGrpSpPr>
          <p:nvPr/>
        </p:nvGrpSpPr>
        <p:grpSpPr>
          <a:xfrm rot="0">
            <a:off x="6953325" y="7800975"/>
            <a:ext cx="171450" cy="200025"/>
            <a:chOff x="0" y="0"/>
            <a:chExt cx="228600" cy="266700"/>
          </a:xfrm>
        </p:grpSpPr>
        <p:sp>
          <p:nvSpPr>
            <p:cNvPr name="Freeform 23" id="23" descr="preencoded.png"/>
            <p:cNvSpPr/>
            <p:nvPr/>
          </p:nvSpPr>
          <p:spPr>
            <a:xfrm flipH="false" flipV="false" rot="0">
              <a:off x="0" y="0"/>
              <a:ext cx="228600" cy="266700"/>
            </a:xfrm>
            <a:custGeom>
              <a:avLst/>
              <a:gdLst/>
              <a:ahLst/>
              <a:cxnLst/>
              <a:rect r="r" b="b" t="t" l="l"/>
              <a:pathLst>
                <a:path h="266700" w="228600">
                  <a:moveTo>
                    <a:pt x="0" y="0"/>
                  </a:moveTo>
                  <a:lnTo>
                    <a:pt x="228600" y="0"/>
                  </a:lnTo>
                  <a:lnTo>
                    <a:pt x="228600" y="266700"/>
                  </a:lnTo>
                  <a:lnTo>
                    <a:pt x="0" y="266700"/>
                  </a:lnTo>
                  <a:lnTo>
                    <a:pt x="0" y="0"/>
                  </a:lnTo>
                  <a:close/>
                </a:path>
              </a:pathLst>
            </a:custGeom>
            <a:blipFill>
              <a:blip r:embed="rId13"/>
              <a:stretch>
                <a:fillRect l="0" t="0" r="0" b="0"/>
              </a:stretch>
            </a:blipFill>
          </p:spPr>
        </p:sp>
      </p:grpSp>
      <p:grpSp>
        <p:nvGrpSpPr>
          <p:cNvPr name="Group 24" id="24"/>
          <p:cNvGrpSpPr>
            <a:grpSpLocks noChangeAspect="true"/>
          </p:cNvGrpSpPr>
          <p:nvPr/>
        </p:nvGrpSpPr>
        <p:grpSpPr>
          <a:xfrm rot="0">
            <a:off x="12192148" y="1885950"/>
            <a:ext cx="5410275" cy="6972300"/>
            <a:chOff x="0" y="0"/>
            <a:chExt cx="7213700" cy="9296400"/>
          </a:xfrm>
        </p:grpSpPr>
        <p:sp>
          <p:nvSpPr>
            <p:cNvPr name="Freeform 25" id="25" descr="preencoded.png"/>
            <p:cNvSpPr/>
            <p:nvPr/>
          </p:nvSpPr>
          <p:spPr>
            <a:xfrm flipH="false" flipV="false" rot="0">
              <a:off x="0" y="0"/>
              <a:ext cx="7213727" cy="9296400"/>
            </a:xfrm>
            <a:custGeom>
              <a:avLst/>
              <a:gdLst/>
              <a:ahLst/>
              <a:cxnLst/>
              <a:rect r="r" b="b" t="t" l="l"/>
              <a:pathLst>
                <a:path h="9296400" w="7213727">
                  <a:moveTo>
                    <a:pt x="0" y="0"/>
                  </a:moveTo>
                  <a:lnTo>
                    <a:pt x="7213727" y="0"/>
                  </a:lnTo>
                  <a:lnTo>
                    <a:pt x="7213727" y="9296400"/>
                  </a:lnTo>
                  <a:lnTo>
                    <a:pt x="0" y="9296400"/>
                  </a:lnTo>
                  <a:lnTo>
                    <a:pt x="0" y="0"/>
                  </a:lnTo>
                  <a:close/>
                </a:path>
              </a:pathLst>
            </a:custGeom>
            <a:blipFill>
              <a:blip r:embed="rId14"/>
              <a:stretch>
                <a:fillRect l="0" t="-88" r="0" b="-88"/>
              </a:stretch>
            </a:blipFill>
          </p:spPr>
        </p:sp>
      </p:grpSp>
      <p:grpSp>
        <p:nvGrpSpPr>
          <p:cNvPr name="Group 26" id="26"/>
          <p:cNvGrpSpPr>
            <a:grpSpLocks noChangeAspect="true"/>
          </p:cNvGrpSpPr>
          <p:nvPr/>
        </p:nvGrpSpPr>
        <p:grpSpPr>
          <a:xfrm rot="0">
            <a:off x="12535048" y="2228850"/>
            <a:ext cx="685800" cy="685800"/>
            <a:chOff x="0" y="0"/>
            <a:chExt cx="914400" cy="914400"/>
          </a:xfrm>
        </p:grpSpPr>
        <p:sp>
          <p:nvSpPr>
            <p:cNvPr name="Freeform 27" id="27"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15"/>
              <a:stretch>
                <a:fillRect l="0" t="0" r="0" b="0"/>
              </a:stretch>
            </a:blipFill>
          </p:spPr>
        </p:sp>
      </p:grpSp>
      <p:grpSp>
        <p:nvGrpSpPr>
          <p:cNvPr name="Group 28" id="28"/>
          <p:cNvGrpSpPr>
            <a:grpSpLocks noChangeAspect="true"/>
          </p:cNvGrpSpPr>
          <p:nvPr/>
        </p:nvGrpSpPr>
        <p:grpSpPr>
          <a:xfrm rot="0">
            <a:off x="12663636" y="2314575"/>
            <a:ext cx="428625" cy="514350"/>
            <a:chOff x="0" y="0"/>
            <a:chExt cx="571500" cy="685800"/>
          </a:xfrm>
        </p:grpSpPr>
        <p:sp>
          <p:nvSpPr>
            <p:cNvPr name="Freeform 29" id="29" descr="preencoded.png"/>
            <p:cNvSpPr/>
            <p:nvPr/>
          </p:nvSpPr>
          <p:spPr>
            <a:xfrm flipH="false" flipV="false" rot="0">
              <a:off x="0" y="0"/>
              <a:ext cx="571500" cy="685800"/>
            </a:xfrm>
            <a:custGeom>
              <a:avLst/>
              <a:gdLst/>
              <a:ahLst/>
              <a:cxnLst/>
              <a:rect r="r" b="b" t="t" l="l"/>
              <a:pathLst>
                <a:path h="685800" w="571500">
                  <a:moveTo>
                    <a:pt x="0" y="0"/>
                  </a:moveTo>
                  <a:lnTo>
                    <a:pt x="571500" y="0"/>
                  </a:lnTo>
                  <a:lnTo>
                    <a:pt x="571500" y="685800"/>
                  </a:lnTo>
                  <a:lnTo>
                    <a:pt x="0" y="685800"/>
                  </a:lnTo>
                  <a:lnTo>
                    <a:pt x="0" y="0"/>
                  </a:lnTo>
                  <a:close/>
                </a:path>
              </a:pathLst>
            </a:custGeom>
            <a:blipFill>
              <a:blip r:embed="rId16"/>
              <a:stretch>
                <a:fillRect l="0" t="0" r="0" b="0"/>
              </a:stretch>
            </a:blipFill>
          </p:spPr>
        </p:sp>
      </p:grpSp>
      <p:grpSp>
        <p:nvGrpSpPr>
          <p:cNvPr name="Group 30" id="30"/>
          <p:cNvGrpSpPr>
            <a:grpSpLocks noChangeAspect="true"/>
          </p:cNvGrpSpPr>
          <p:nvPr/>
        </p:nvGrpSpPr>
        <p:grpSpPr>
          <a:xfrm rot="0">
            <a:off x="12535048" y="6286500"/>
            <a:ext cx="4724475" cy="2228850"/>
            <a:chOff x="0" y="0"/>
            <a:chExt cx="6299300" cy="2971800"/>
          </a:xfrm>
        </p:grpSpPr>
        <p:sp>
          <p:nvSpPr>
            <p:cNvPr name="Freeform 31" id="31" descr="preencoded.png"/>
            <p:cNvSpPr/>
            <p:nvPr/>
          </p:nvSpPr>
          <p:spPr>
            <a:xfrm flipH="false" flipV="false" rot="0">
              <a:off x="0" y="0"/>
              <a:ext cx="6299327" cy="2971800"/>
            </a:xfrm>
            <a:custGeom>
              <a:avLst/>
              <a:gdLst/>
              <a:ahLst/>
              <a:cxnLst/>
              <a:rect r="r" b="b" t="t" l="l"/>
              <a:pathLst>
                <a:path h="2971800" w="6299327">
                  <a:moveTo>
                    <a:pt x="0" y="0"/>
                  </a:moveTo>
                  <a:lnTo>
                    <a:pt x="6299327" y="0"/>
                  </a:lnTo>
                  <a:lnTo>
                    <a:pt x="6299327" y="2971800"/>
                  </a:lnTo>
                  <a:lnTo>
                    <a:pt x="0" y="2971800"/>
                  </a:lnTo>
                  <a:lnTo>
                    <a:pt x="0" y="0"/>
                  </a:lnTo>
                  <a:close/>
                </a:path>
              </a:pathLst>
            </a:custGeom>
            <a:blipFill>
              <a:blip r:embed="rId17"/>
              <a:stretch>
                <a:fillRect l="0" t="-101" r="0" b="-101"/>
              </a:stretch>
            </a:blipFill>
          </p:spPr>
        </p:sp>
      </p:grpSp>
      <p:sp>
        <p:nvSpPr>
          <p:cNvPr name="TextBox 32" id="32"/>
          <p:cNvSpPr txBox="true"/>
          <p:nvPr/>
        </p:nvSpPr>
        <p:spPr>
          <a:xfrm rot="0">
            <a:off x="685800" y="695325"/>
            <a:ext cx="2029968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Plateformas Cloud et Installation</a:t>
            </a:r>
          </a:p>
        </p:txBody>
      </p:sp>
      <p:sp>
        <p:nvSpPr>
          <p:cNvPr name="TextBox 33" id="33"/>
          <p:cNvSpPr txBox="true"/>
          <p:nvPr/>
        </p:nvSpPr>
        <p:spPr>
          <a:xfrm rot="0">
            <a:off x="1943100" y="2286000"/>
            <a:ext cx="3059043"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Google Colab</a:t>
            </a:r>
          </a:p>
        </p:txBody>
      </p:sp>
      <p:sp>
        <p:nvSpPr>
          <p:cNvPr name="TextBox 34" id="34"/>
          <p:cNvSpPr txBox="true"/>
          <p:nvPr/>
        </p:nvSpPr>
        <p:spPr>
          <a:xfrm rot="0">
            <a:off x="1085850" y="30670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Environnement Jupyter gratuit basé sur le cloud</a:t>
            </a:r>
          </a:p>
        </p:txBody>
      </p:sp>
      <p:sp>
        <p:nvSpPr>
          <p:cNvPr name="TextBox 35" id="35"/>
          <p:cNvSpPr txBox="true"/>
          <p:nvPr/>
        </p:nvSpPr>
        <p:spPr>
          <a:xfrm rot="0">
            <a:off x="1085850" y="386715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Aucune configuration requise</a:t>
            </a:r>
          </a:p>
        </p:txBody>
      </p:sp>
      <p:sp>
        <p:nvSpPr>
          <p:cNvPr name="TextBox 36" id="36"/>
          <p:cNvSpPr txBox="true"/>
          <p:nvPr/>
        </p:nvSpPr>
        <p:spPr>
          <a:xfrm rot="0">
            <a:off x="1085850" y="432435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Accès gratuit aux GPU et TPU</a:t>
            </a:r>
          </a:p>
        </p:txBody>
      </p:sp>
      <p:sp>
        <p:nvSpPr>
          <p:cNvPr name="TextBox 37" id="37"/>
          <p:cNvSpPr txBox="true"/>
          <p:nvPr/>
        </p:nvSpPr>
        <p:spPr>
          <a:xfrm rot="0">
            <a:off x="1085850" y="47815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Idéal pour le machine learning et le deep learning</a:t>
            </a:r>
          </a:p>
        </p:txBody>
      </p:sp>
      <p:sp>
        <p:nvSpPr>
          <p:cNvPr name="TextBox 38" id="38"/>
          <p:cNvSpPr txBox="true"/>
          <p:nvPr/>
        </p:nvSpPr>
        <p:spPr>
          <a:xfrm rot="0">
            <a:off x="1471612" y="7439025"/>
            <a:ext cx="4381575" cy="904875"/>
          </a:xfrm>
          <a:prstGeom prst="rect">
            <a:avLst/>
          </a:prstGeom>
        </p:spPr>
        <p:txBody>
          <a:bodyPr anchor="t" rtlCol="false" tIns="0" lIns="0" bIns="0" rIns="0">
            <a:spAutoFit/>
          </a:bodyPr>
          <a:lstStyle/>
          <a:p>
            <a:pPr algn="l">
              <a:lnSpc>
                <a:spcPts val="2250"/>
              </a:lnSpc>
            </a:pPr>
            <a:r>
              <a:rPr lang="en-US" sz="1575">
                <a:solidFill>
                  <a:srgbClr val="1E40AF"/>
                </a:solidFill>
                <a:latin typeface="Arimo"/>
                <a:ea typeface="Arimo"/>
                <a:cs typeface="Arimo"/>
                <a:sym typeface="Arimo"/>
              </a:rPr>
              <a:t> Parfait pour les débutants ou l'expérimentation rapide sans se soucier de la configuration matérielle</a:t>
            </a:r>
          </a:p>
        </p:txBody>
      </p:sp>
      <p:sp>
        <p:nvSpPr>
          <p:cNvPr name="TextBox 39" id="39"/>
          <p:cNvSpPr txBox="true"/>
          <p:nvPr/>
        </p:nvSpPr>
        <p:spPr>
          <a:xfrm rot="0">
            <a:off x="7635776" y="2171700"/>
            <a:ext cx="3870573" cy="9715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Anaconda / Miniconda</a:t>
            </a:r>
          </a:p>
        </p:txBody>
      </p:sp>
      <p:sp>
        <p:nvSpPr>
          <p:cNvPr name="TextBox 40" id="40"/>
          <p:cNvSpPr txBox="true"/>
          <p:nvPr/>
        </p:nvSpPr>
        <p:spPr>
          <a:xfrm rot="0">
            <a:off x="6839025" y="32956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Distributions Python pour la gestion des packages</a:t>
            </a:r>
          </a:p>
        </p:txBody>
      </p:sp>
      <p:sp>
        <p:nvSpPr>
          <p:cNvPr name="TextBox 41" id="41"/>
          <p:cNvSpPr txBox="true"/>
          <p:nvPr/>
        </p:nvSpPr>
        <p:spPr>
          <a:xfrm rot="0">
            <a:off x="6839025" y="40957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Anaconda : inclut de nombreuses bibliothèques préinstallées</a:t>
            </a:r>
          </a:p>
        </p:txBody>
      </p:sp>
      <p:sp>
        <p:nvSpPr>
          <p:cNvPr name="TextBox 42" id="42"/>
          <p:cNvSpPr txBox="true"/>
          <p:nvPr/>
        </p:nvSpPr>
        <p:spPr>
          <a:xfrm rot="0">
            <a:off x="6839025" y="489585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Miniconda : version plus légère</a:t>
            </a:r>
          </a:p>
        </p:txBody>
      </p:sp>
      <p:sp>
        <p:nvSpPr>
          <p:cNvPr name="TextBox 43" id="43"/>
          <p:cNvSpPr txBox="true"/>
          <p:nvPr/>
        </p:nvSpPr>
        <p:spPr>
          <a:xfrm rot="0">
            <a:off x="6839025" y="53530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Création d'environnements isolés pour chaque projet</a:t>
            </a:r>
          </a:p>
        </p:txBody>
      </p:sp>
      <p:sp>
        <p:nvSpPr>
          <p:cNvPr name="TextBox 44" id="44"/>
          <p:cNvSpPr txBox="true"/>
          <p:nvPr/>
        </p:nvSpPr>
        <p:spPr>
          <a:xfrm rot="0">
            <a:off x="7239075" y="7724775"/>
            <a:ext cx="4381575" cy="619125"/>
          </a:xfrm>
          <a:prstGeom prst="rect">
            <a:avLst/>
          </a:prstGeom>
        </p:spPr>
        <p:txBody>
          <a:bodyPr anchor="t" rtlCol="false" tIns="0" lIns="0" bIns="0" rIns="0">
            <a:spAutoFit/>
          </a:bodyPr>
          <a:lstStyle/>
          <a:p>
            <a:pPr algn="l">
              <a:lnSpc>
                <a:spcPts val="2250"/>
              </a:lnSpc>
            </a:pPr>
            <a:r>
              <a:rPr lang="en-US" sz="1575">
                <a:solidFill>
                  <a:srgbClr val="166534"/>
                </a:solidFill>
                <a:latin typeface="Arimo"/>
                <a:ea typeface="Arimo"/>
                <a:cs typeface="Arimo"/>
                <a:sym typeface="Arimo"/>
              </a:rPr>
              <a:t> Exemple : conda create -n mon_projet python=3.9 pandas numpy</a:t>
            </a:r>
          </a:p>
        </p:txBody>
      </p:sp>
      <p:sp>
        <p:nvSpPr>
          <p:cNvPr name="TextBox 45" id="45"/>
          <p:cNvSpPr txBox="true"/>
          <p:nvPr/>
        </p:nvSpPr>
        <p:spPr>
          <a:xfrm rot="0">
            <a:off x="13449448" y="2286000"/>
            <a:ext cx="1108532"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venv</a:t>
            </a:r>
          </a:p>
        </p:txBody>
      </p:sp>
      <p:sp>
        <p:nvSpPr>
          <p:cNvPr name="TextBox 46" id="46"/>
          <p:cNvSpPr txBox="true"/>
          <p:nvPr/>
        </p:nvSpPr>
        <p:spPr>
          <a:xfrm rot="0">
            <a:off x="12592198" y="3067050"/>
            <a:ext cx="4667325"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Outil natif de Python pour les environnements virtuels</a:t>
            </a:r>
          </a:p>
        </p:txBody>
      </p:sp>
      <p:sp>
        <p:nvSpPr>
          <p:cNvPr name="TextBox 47" id="47"/>
          <p:cNvSpPr txBox="true"/>
          <p:nvPr/>
        </p:nvSpPr>
        <p:spPr>
          <a:xfrm rot="0">
            <a:off x="12592198" y="3867150"/>
            <a:ext cx="560079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Plus léger que Conda</a:t>
            </a:r>
          </a:p>
        </p:txBody>
      </p:sp>
      <p:sp>
        <p:nvSpPr>
          <p:cNvPr name="TextBox 48" id="48"/>
          <p:cNvSpPr txBox="true"/>
          <p:nvPr/>
        </p:nvSpPr>
        <p:spPr>
          <a:xfrm rot="0">
            <a:off x="12592198" y="4324350"/>
            <a:ext cx="4667325" cy="11049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Idéal pour les projets qui ne nécessitent pas de gestion de packages non-Python</a:t>
            </a:r>
          </a:p>
        </p:txBody>
      </p:sp>
      <p:sp>
        <p:nvSpPr>
          <p:cNvPr name="TextBox 49" id="49"/>
          <p:cNvSpPr txBox="true"/>
          <p:nvPr/>
        </p:nvSpPr>
        <p:spPr>
          <a:xfrm rot="0">
            <a:off x="12706498" y="6238875"/>
            <a:ext cx="4724475" cy="2276475"/>
          </a:xfrm>
          <a:prstGeom prst="rect">
            <a:avLst/>
          </a:prstGeom>
        </p:spPr>
        <p:txBody>
          <a:bodyPr anchor="t" rtlCol="false" tIns="0" lIns="0" bIns="0" rIns="0">
            <a:spAutoFit/>
          </a:bodyPr>
          <a:lstStyle/>
          <a:p>
            <a:pPr algn="l">
              <a:lnSpc>
                <a:spcPts val="2250"/>
              </a:lnSpc>
            </a:pPr>
            <a:r>
              <a:rPr lang="en-US" sz="1575">
                <a:solidFill>
                  <a:srgbClr val="8A8A8A"/>
                </a:solidFill>
                <a:latin typeface="Arial"/>
                <a:ea typeface="Arial"/>
                <a:cs typeface="Arial"/>
                <a:sym typeface="Arial"/>
              </a:rPr>
              <a:t># Commandes de base</a:t>
            </a:r>
          </a:p>
          <a:p>
            <a:pPr algn="l">
              <a:lnSpc>
                <a:spcPts val="2250"/>
              </a:lnSpc>
            </a:pPr>
            <a:r>
              <a:rPr lang="en-US" sz="1575">
                <a:solidFill>
                  <a:srgbClr val="E6E6E6"/>
                </a:solidFill>
                <a:latin typeface="Arial"/>
                <a:ea typeface="Arial"/>
                <a:cs typeface="Arial"/>
                <a:sym typeface="Arial"/>
              </a:rPr>
              <a:t>python -m venv mon_environnement</a:t>
            </a:r>
          </a:p>
          <a:p>
            <a:pPr algn="l">
              <a:lnSpc>
                <a:spcPts val="2250"/>
              </a:lnSpc>
            </a:pPr>
            <a:r>
              <a:rPr lang="en-US" sz="1575">
                <a:solidFill>
                  <a:srgbClr val="E6E6E6"/>
                </a:solidFill>
                <a:latin typeface="Arial"/>
                <a:ea typeface="Arial"/>
                <a:cs typeface="Arial"/>
                <a:sym typeface="Arial"/>
              </a:rPr>
              <a:t>source mon_environnement/bin/activate </a:t>
            </a:r>
            <a:r>
              <a:rPr lang="en-US" sz="1575">
                <a:solidFill>
                  <a:srgbClr val="8A8A8A"/>
                </a:solidFill>
                <a:latin typeface="Arial"/>
                <a:ea typeface="Arial"/>
                <a:cs typeface="Arial"/>
                <a:sym typeface="Arial"/>
              </a:rPr>
              <a:t># Linux/Mac</a:t>
            </a:r>
          </a:p>
          <a:p>
            <a:pPr algn="l">
              <a:lnSpc>
                <a:spcPts val="2250"/>
              </a:lnSpc>
            </a:pPr>
            <a:r>
              <a:rPr lang="en-US" sz="1575">
                <a:solidFill>
                  <a:srgbClr val="E6E6E6"/>
                </a:solidFill>
                <a:latin typeface="Arial"/>
                <a:ea typeface="Arial"/>
                <a:cs typeface="Arial"/>
                <a:sym typeface="Arial"/>
              </a:rPr>
              <a:t>.\mon_environnement\Scripts\activate </a:t>
            </a:r>
            <a:r>
              <a:rPr lang="en-US" sz="1575">
                <a:solidFill>
                  <a:srgbClr val="8A8A8A"/>
                </a:solidFill>
                <a:latin typeface="Arial"/>
                <a:ea typeface="Arial"/>
                <a:cs typeface="Arial"/>
                <a:sym typeface="Arial"/>
              </a:rPr>
              <a:t># Windows</a:t>
            </a:r>
          </a:p>
        </p:txBody>
      </p:sp>
      <p:sp>
        <p:nvSpPr>
          <p:cNvPr name="TextBox 50" id="50"/>
          <p:cNvSpPr txBox="true"/>
          <p:nvPr/>
        </p:nvSpPr>
        <p:spPr>
          <a:xfrm rot="0">
            <a:off x="685800" y="9267825"/>
            <a:ext cx="2029968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Choisissez l'option qui correspond le mieux à vos besoins | Page 5 sur 19</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571500" y="1657350"/>
            <a:ext cx="5524352" cy="2200275"/>
            <a:chOff x="0" y="0"/>
            <a:chExt cx="7365802" cy="2933700"/>
          </a:xfrm>
        </p:grpSpPr>
        <p:sp>
          <p:nvSpPr>
            <p:cNvPr name="Freeform 5" id="5" descr="preencoded.png"/>
            <p:cNvSpPr/>
            <p:nvPr/>
          </p:nvSpPr>
          <p:spPr>
            <a:xfrm flipH="false" flipV="false" rot="0">
              <a:off x="0" y="0"/>
              <a:ext cx="7365746" cy="2933700"/>
            </a:xfrm>
            <a:custGeom>
              <a:avLst/>
              <a:gdLst/>
              <a:ahLst/>
              <a:cxnLst/>
              <a:rect r="r" b="b" t="t" l="l"/>
              <a:pathLst>
                <a:path h="2933700" w="7365746">
                  <a:moveTo>
                    <a:pt x="0" y="0"/>
                  </a:moveTo>
                  <a:lnTo>
                    <a:pt x="7365746" y="0"/>
                  </a:lnTo>
                  <a:lnTo>
                    <a:pt x="7365746" y="2933700"/>
                  </a:lnTo>
                  <a:lnTo>
                    <a:pt x="0" y="2933700"/>
                  </a:lnTo>
                  <a:lnTo>
                    <a:pt x="0" y="0"/>
                  </a:lnTo>
                  <a:close/>
                </a:path>
              </a:pathLst>
            </a:custGeom>
            <a:blipFill>
              <a:blip r:embed="rId4"/>
              <a:stretch>
                <a:fillRect l="0" t="-85" r="0" b="-85"/>
              </a:stretch>
            </a:blipFill>
          </p:spPr>
        </p:sp>
      </p:grpSp>
      <p:grpSp>
        <p:nvGrpSpPr>
          <p:cNvPr name="Group 6" id="6"/>
          <p:cNvGrpSpPr>
            <a:grpSpLocks noChangeAspect="true"/>
          </p:cNvGrpSpPr>
          <p:nvPr/>
        </p:nvGrpSpPr>
        <p:grpSpPr>
          <a:xfrm rot="0">
            <a:off x="742950" y="1828800"/>
            <a:ext cx="714375" cy="714375"/>
            <a:chOff x="0" y="0"/>
            <a:chExt cx="952500" cy="952500"/>
          </a:xfrm>
        </p:grpSpPr>
        <p:sp>
          <p:nvSpPr>
            <p:cNvPr name="Freeform 7" id="7" descr="preencoded.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907257" y="1957388"/>
            <a:ext cx="385762" cy="457200"/>
            <a:chOff x="0" y="0"/>
            <a:chExt cx="514350" cy="609600"/>
          </a:xfrm>
        </p:grpSpPr>
        <p:sp>
          <p:nvSpPr>
            <p:cNvPr name="Freeform 9" id="9" descr="preencoded.png"/>
            <p:cNvSpPr/>
            <p:nvPr/>
          </p:nvSpPr>
          <p:spPr>
            <a:xfrm flipH="false" flipV="false" rot="0">
              <a:off x="0" y="0"/>
              <a:ext cx="514350" cy="609600"/>
            </a:xfrm>
            <a:custGeom>
              <a:avLst/>
              <a:gdLst/>
              <a:ahLst/>
              <a:cxnLst/>
              <a:rect r="r" b="b" t="t" l="l"/>
              <a:pathLst>
                <a:path h="609600" w="514350">
                  <a:moveTo>
                    <a:pt x="0" y="0"/>
                  </a:moveTo>
                  <a:lnTo>
                    <a:pt x="514350" y="0"/>
                  </a:lnTo>
                  <a:lnTo>
                    <a:pt x="514350" y="609600"/>
                  </a:lnTo>
                  <a:lnTo>
                    <a:pt x="0" y="6096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6381602" y="1657350"/>
            <a:ext cx="5524575" cy="2200275"/>
            <a:chOff x="0" y="0"/>
            <a:chExt cx="7366100" cy="2933700"/>
          </a:xfrm>
        </p:grpSpPr>
        <p:sp>
          <p:nvSpPr>
            <p:cNvPr name="Freeform 11" id="11" descr="preencoded.png"/>
            <p:cNvSpPr/>
            <p:nvPr/>
          </p:nvSpPr>
          <p:spPr>
            <a:xfrm flipH="false" flipV="false" rot="0">
              <a:off x="0" y="0"/>
              <a:ext cx="7366127" cy="2933700"/>
            </a:xfrm>
            <a:custGeom>
              <a:avLst/>
              <a:gdLst/>
              <a:ahLst/>
              <a:cxnLst/>
              <a:rect r="r" b="b" t="t" l="l"/>
              <a:pathLst>
                <a:path h="2933700" w="7366127">
                  <a:moveTo>
                    <a:pt x="0" y="0"/>
                  </a:moveTo>
                  <a:lnTo>
                    <a:pt x="7366127" y="0"/>
                  </a:lnTo>
                  <a:lnTo>
                    <a:pt x="7366127" y="2933700"/>
                  </a:lnTo>
                  <a:lnTo>
                    <a:pt x="0" y="2933700"/>
                  </a:lnTo>
                  <a:lnTo>
                    <a:pt x="0" y="0"/>
                  </a:lnTo>
                  <a:close/>
                </a:path>
              </a:pathLst>
            </a:custGeom>
            <a:blipFill>
              <a:blip r:embed="rId7"/>
              <a:stretch>
                <a:fillRect l="0" t="-87" r="0" b="-87"/>
              </a:stretch>
            </a:blipFill>
          </p:spPr>
        </p:sp>
      </p:grpSp>
      <p:grpSp>
        <p:nvGrpSpPr>
          <p:cNvPr name="Group 12" id="12"/>
          <p:cNvGrpSpPr>
            <a:grpSpLocks noChangeAspect="true"/>
          </p:cNvGrpSpPr>
          <p:nvPr/>
        </p:nvGrpSpPr>
        <p:grpSpPr>
          <a:xfrm rot="0">
            <a:off x="6553052" y="1828800"/>
            <a:ext cx="714375" cy="714375"/>
            <a:chOff x="0" y="0"/>
            <a:chExt cx="952500" cy="952500"/>
          </a:xfrm>
        </p:grpSpPr>
        <p:sp>
          <p:nvSpPr>
            <p:cNvPr name="Freeform 13" id="13" descr="preencoded.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6738789" y="1957388"/>
            <a:ext cx="342900" cy="457200"/>
            <a:chOff x="0" y="0"/>
            <a:chExt cx="457200" cy="609600"/>
          </a:xfrm>
        </p:grpSpPr>
        <p:sp>
          <p:nvSpPr>
            <p:cNvPr name="Freeform 15" id="15"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12191925" y="1657350"/>
            <a:ext cx="5524352" cy="2200275"/>
            <a:chOff x="0" y="0"/>
            <a:chExt cx="7365802" cy="2933700"/>
          </a:xfrm>
        </p:grpSpPr>
        <p:sp>
          <p:nvSpPr>
            <p:cNvPr name="Freeform 17" id="17" descr="preencoded.png"/>
            <p:cNvSpPr/>
            <p:nvPr/>
          </p:nvSpPr>
          <p:spPr>
            <a:xfrm flipH="false" flipV="false" rot="0">
              <a:off x="0" y="0"/>
              <a:ext cx="7365746" cy="2933700"/>
            </a:xfrm>
            <a:custGeom>
              <a:avLst/>
              <a:gdLst/>
              <a:ahLst/>
              <a:cxnLst/>
              <a:rect r="r" b="b" t="t" l="l"/>
              <a:pathLst>
                <a:path h="2933700" w="7365746">
                  <a:moveTo>
                    <a:pt x="0" y="0"/>
                  </a:moveTo>
                  <a:lnTo>
                    <a:pt x="7365746" y="0"/>
                  </a:lnTo>
                  <a:lnTo>
                    <a:pt x="7365746" y="2933700"/>
                  </a:lnTo>
                  <a:lnTo>
                    <a:pt x="0" y="2933700"/>
                  </a:lnTo>
                  <a:lnTo>
                    <a:pt x="0" y="0"/>
                  </a:lnTo>
                  <a:close/>
                </a:path>
              </a:pathLst>
            </a:custGeom>
            <a:blipFill>
              <a:blip r:embed="rId10"/>
              <a:stretch>
                <a:fillRect l="0" t="-85" r="0" b="-85"/>
              </a:stretch>
            </a:blipFill>
          </p:spPr>
        </p:sp>
      </p:grpSp>
      <p:grpSp>
        <p:nvGrpSpPr>
          <p:cNvPr name="Group 18" id="18"/>
          <p:cNvGrpSpPr>
            <a:grpSpLocks noChangeAspect="true"/>
          </p:cNvGrpSpPr>
          <p:nvPr/>
        </p:nvGrpSpPr>
        <p:grpSpPr>
          <a:xfrm rot="0">
            <a:off x="12363375" y="1828800"/>
            <a:ext cx="714375" cy="714375"/>
            <a:chOff x="0" y="0"/>
            <a:chExt cx="952500" cy="952500"/>
          </a:xfrm>
        </p:grpSpPr>
        <p:sp>
          <p:nvSpPr>
            <p:cNvPr name="Freeform 19" id="19" descr="preencoded.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12556257" y="1957388"/>
            <a:ext cx="328612" cy="457200"/>
            <a:chOff x="0" y="0"/>
            <a:chExt cx="438150" cy="609600"/>
          </a:xfrm>
        </p:grpSpPr>
        <p:sp>
          <p:nvSpPr>
            <p:cNvPr name="Freeform 21" id="21" descr="preencoded.png"/>
            <p:cNvSpPr/>
            <p:nvPr/>
          </p:nvSpPr>
          <p:spPr>
            <a:xfrm flipH="false" flipV="false" rot="0">
              <a:off x="0" y="0"/>
              <a:ext cx="438150" cy="609600"/>
            </a:xfrm>
            <a:custGeom>
              <a:avLst/>
              <a:gdLst/>
              <a:ahLst/>
              <a:cxnLst/>
              <a:rect r="r" b="b" t="t" l="l"/>
              <a:pathLst>
                <a:path h="609600" w="438150">
                  <a:moveTo>
                    <a:pt x="0" y="0"/>
                  </a:moveTo>
                  <a:lnTo>
                    <a:pt x="438150" y="0"/>
                  </a:lnTo>
                  <a:lnTo>
                    <a:pt x="438150" y="609600"/>
                  </a:lnTo>
                  <a:lnTo>
                    <a:pt x="0" y="609600"/>
                  </a:lnTo>
                  <a:lnTo>
                    <a:pt x="0" y="0"/>
                  </a:lnTo>
                  <a:close/>
                </a:path>
              </a:pathLst>
            </a:custGeom>
            <a:blipFill>
              <a:blip r:embed="rId12"/>
              <a:stretch>
                <a:fillRect l="0" t="0" r="0" b="0"/>
              </a:stretch>
            </a:blipFill>
          </p:spPr>
        </p:sp>
      </p:grpSp>
      <p:grpSp>
        <p:nvGrpSpPr>
          <p:cNvPr name="Group 22" id="22"/>
          <p:cNvGrpSpPr>
            <a:grpSpLocks noChangeAspect="true"/>
          </p:cNvGrpSpPr>
          <p:nvPr/>
        </p:nvGrpSpPr>
        <p:grpSpPr>
          <a:xfrm rot="0">
            <a:off x="571500" y="4143375"/>
            <a:ext cx="5524352" cy="2543175"/>
            <a:chOff x="0" y="0"/>
            <a:chExt cx="7365802" cy="3390900"/>
          </a:xfrm>
        </p:grpSpPr>
        <p:sp>
          <p:nvSpPr>
            <p:cNvPr name="Freeform 23" id="23" descr="preencoded.png"/>
            <p:cNvSpPr/>
            <p:nvPr/>
          </p:nvSpPr>
          <p:spPr>
            <a:xfrm flipH="false" flipV="false" rot="0">
              <a:off x="0" y="0"/>
              <a:ext cx="7365746" cy="3390900"/>
            </a:xfrm>
            <a:custGeom>
              <a:avLst/>
              <a:gdLst/>
              <a:ahLst/>
              <a:cxnLst/>
              <a:rect r="r" b="b" t="t" l="l"/>
              <a:pathLst>
                <a:path h="3390900" w="7365746">
                  <a:moveTo>
                    <a:pt x="0" y="0"/>
                  </a:moveTo>
                  <a:lnTo>
                    <a:pt x="7365746" y="0"/>
                  </a:lnTo>
                  <a:lnTo>
                    <a:pt x="7365746" y="3390900"/>
                  </a:lnTo>
                  <a:lnTo>
                    <a:pt x="0" y="3390900"/>
                  </a:lnTo>
                  <a:lnTo>
                    <a:pt x="0" y="0"/>
                  </a:lnTo>
                  <a:close/>
                </a:path>
              </a:pathLst>
            </a:custGeom>
            <a:blipFill>
              <a:blip r:embed="rId13"/>
              <a:stretch>
                <a:fillRect l="0" t="-85" r="0" b="-85"/>
              </a:stretch>
            </a:blipFill>
          </p:spPr>
        </p:sp>
      </p:grpSp>
      <p:grpSp>
        <p:nvGrpSpPr>
          <p:cNvPr name="Group 24" id="24"/>
          <p:cNvGrpSpPr>
            <a:grpSpLocks noChangeAspect="true"/>
          </p:cNvGrpSpPr>
          <p:nvPr/>
        </p:nvGrpSpPr>
        <p:grpSpPr>
          <a:xfrm rot="0">
            <a:off x="742950" y="4314825"/>
            <a:ext cx="714375" cy="714375"/>
            <a:chOff x="0" y="0"/>
            <a:chExt cx="952500" cy="952500"/>
          </a:xfrm>
        </p:grpSpPr>
        <p:sp>
          <p:nvSpPr>
            <p:cNvPr name="Freeform 25" id="25" descr="preencoded.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4"/>
              <a:stretch>
                <a:fillRect l="0" t="0" r="0" b="0"/>
              </a:stretch>
            </a:blipFill>
          </p:spPr>
        </p:sp>
      </p:grpSp>
      <p:grpSp>
        <p:nvGrpSpPr>
          <p:cNvPr name="Group 26" id="26"/>
          <p:cNvGrpSpPr>
            <a:grpSpLocks noChangeAspect="true"/>
          </p:cNvGrpSpPr>
          <p:nvPr/>
        </p:nvGrpSpPr>
        <p:grpSpPr>
          <a:xfrm rot="0">
            <a:off x="928688" y="4443412"/>
            <a:ext cx="342900" cy="457200"/>
            <a:chOff x="0" y="0"/>
            <a:chExt cx="457200" cy="609600"/>
          </a:xfrm>
        </p:grpSpPr>
        <p:sp>
          <p:nvSpPr>
            <p:cNvPr name="Freeform 27" id="27"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5"/>
              <a:stretch>
                <a:fillRect l="0" t="0" r="0" b="0"/>
              </a:stretch>
            </a:blipFill>
          </p:spPr>
        </p:sp>
      </p:grpSp>
      <p:grpSp>
        <p:nvGrpSpPr>
          <p:cNvPr name="Group 28" id="28"/>
          <p:cNvGrpSpPr>
            <a:grpSpLocks noChangeAspect="true"/>
          </p:cNvGrpSpPr>
          <p:nvPr/>
        </p:nvGrpSpPr>
        <p:grpSpPr>
          <a:xfrm rot="0">
            <a:off x="6381602" y="4143375"/>
            <a:ext cx="5524575" cy="2543175"/>
            <a:chOff x="0" y="0"/>
            <a:chExt cx="7366100" cy="3390900"/>
          </a:xfrm>
        </p:grpSpPr>
        <p:sp>
          <p:nvSpPr>
            <p:cNvPr name="Freeform 29" id="29" descr="preencoded.png"/>
            <p:cNvSpPr/>
            <p:nvPr/>
          </p:nvSpPr>
          <p:spPr>
            <a:xfrm flipH="false" flipV="false" rot="0">
              <a:off x="0" y="0"/>
              <a:ext cx="7366127" cy="3390900"/>
            </a:xfrm>
            <a:custGeom>
              <a:avLst/>
              <a:gdLst/>
              <a:ahLst/>
              <a:cxnLst/>
              <a:rect r="r" b="b" t="t" l="l"/>
              <a:pathLst>
                <a:path h="3390900" w="7366127">
                  <a:moveTo>
                    <a:pt x="0" y="0"/>
                  </a:moveTo>
                  <a:lnTo>
                    <a:pt x="7366127" y="0"/>
                  </a:lnTo>
                  <a:lnTo>
                    <a:pt x="7366127" y="3390900"/>
                  </a:lnTo>
                  <a:lnTo>
                    <a:pt x="0" y="3390900"/>
                  </a:lnTo>
                  <a:lnTo>
                    <a:pt x="0" y="0"/>
                  </a:lnTo>
                  <a:close/>
                </a:path>
              </a:pathLst>
            </a:custGeom>
            <a:blipFill>
              <a:blip r:embed="rId16"/>
              <a:stretch>
                <a:fillRect l="0" t="-87" r="0" b="-87"/>
              </a:stretch>
            </a:blipFill>
          </p:spPr>
        </p:sp>
      </p:grpSp>
      <p:grpSp>
        <p:nvGrpSpPr>
          <p:cNvPr name="Group 30" id="30"/>
          <p:cNvGrpSpPr>
            <a:grpSpLocks noChangeAspect="true"/>
          </p:cNvGrpSpPr>
          <p:nvPr/>
        </p:nvGrpSpPr>
        <p:grpSpPr>
          <a:xfrm rot="0">
            <a:off x="6553052" y="4357688"/>
            <a:ext cx="589806" cy="714375"/>
            <a:chOff x="0" y="0"/>
            <a:chExt cx="786408" cy="952500"/>
          </a:xfrm>
        </p:grpSpPr>
        <p:sp>
          <p:nvSpPr>
            <p:cNvPr name="Freeform 31" id="31" descr="preencoded.png"/>
            <p:cNvSpPr/>
            <p:nvPr/>
          </p:nvSpPr>
          <p:spPr>
            <a:xfrm flipH="false" flipV="false" rot="0">
              <a:off x="0" y="0"/>
              <a:ext cx="786384" cy="952500"/>
            </a:xfrm>
            <a:custGeom>
              <a:avLst/>
              <a:gdLst/>
              <a:ahLst/>
              <a:cxnLst/>
              <a:rect r="r" b="b" t="t" l="l"/>
              <a:pathLst>
                <a:path h="952500" w="786384">
                  <a:moveTo>
                    <a:pt x="0" y="0"/>
                  </a:moveTo>
                  <a:lnTo>
                    <a:pt x="786384" y="0"/>
                  </a:lnTo>
                  <a:lnTo>
                    <a:pt x="786384" y="952500"/>
                  </a:lnTo>
                  <a:lnTo>
                    <a:pt x="0" y="952500"/>
                  </a:lnTo>
                  <a:lnTo>
                    <a:pt x="0" y="0"/>
                  </a:lnTo>
                  <a:close/>
                </a:path>
              </a:pathLst>
            </a:custGeom>
            <a:blipFill>
              <a:blip r:embed="rId17"/>
              <a:stretch>
                <a:fillRect l="0" t="-342" r="-3" b="-342"/>
              </a:stretch>
            </a:blipFill>
          </p:spPr>
        </p:sp>
      </p:grpSp>
      <p:grpSp>
        <p:nvGrpSpPr>
          <p:cNvPr name="Group 32" id="32"/>
          <p:cNvGrpSpPr>
            <a:grpSpLocks noChangeAspect="true"/>
          </p:cNvGrpSpPr>
          <p:nvPr/>
        </p:nvGrpSpPr>
        <p:grpSpPr>
          <a:xfrm rot="0">
            <a:off x="6697935" y="4486275"/>
            <a:ext cx="300038" cy="457200"/>
            <a:chOff x="0" y="0"/>
            <a:chExt cx="400050" cy="609600"/>
          </a:xfrm>
        </p:grpSpPr>
        <p:sp>
          <p:nvSpPr>
            <p:cNvPr name="Freeform 33" id="33" descr="preencoded.png"/>
            <p:cNvSpPr/>
            <p:nvPr/>
          </p:nvSpPr>
          <p:spPr>
            <a:xfrm flipH="false" flipV="false" rot="0">
              <a:off x="0" y="0"/>
              <a:ext cx="400050" cy="609600"/>
            </a:xfrm>
            <a:custGeom>
              <a:avLst/>
              <a:gdLst/>
              <a:ahLst/>
              <a:cxnLst/>
              <a:rect r="r" b="b" t="t" l="l"/>
              <a:pathLst>
                <a:path h="609600" w="400050">
                  <a:moveTo>
                    <a:pt x="0" y="0"/>
                  </a:moveTo>
                  <a:lnTo>
                    <a:pt x="400050" y="0"/>
                  </a:lnTo>
                  <a:lnTo>
                    <a:pt x="400050" y="609600"/>
                  </a:lnTo>
                  <a:lnTo>
                    <a:pt x="0" y="609600"/>
                  </a:lnTo>
                  <a:lnTo>
                    <a:pt x="0" y="0"/>
                  </a:lnTo>
                  <a:close/>
                </a:path>
              </a:pathLst>
            </a:custGeom>
            <a:blipFill>
              <a:blip r:embed="rId18"/>
              <a:stretch>
                <a:fillRect l="0" t="0" r="0" b="0"/>
              </a:stretch>
            </a:blipFill>
          </p:spPr>
        </p:sp>
      </p:grpSp>
      <p:grpSp>
        <p:nvGrpSpPr>
          <p:cNvPr name="Group 34" id="34"/>
          <p:cNvGrpSpPr>
            <a:grpSpLocks noChangeAspect="true"/>
          </p:cNvGrpSpPr>
          <p:nvPr/>
        </p:nvGrpSpPr>
        <p:grpSpPr>
          <a:xfrm rot="0">
            <a:off x="12191925" y="4143375"/>
            <a:ext cx="5524352" cy="2543175"/>
            <a:chOff x="0" y="0"/>
            <a:chExt cx="7365802" cy="3390900"/>
          </a:xfrm>
        </p:grpSpPr>
        <p:sp>
          <p:nvSpPr>
            <p:cNvPr name="Freeform 35" id="35" descr="preencoded.png"/>
            <p:cNvSpPr/>
            <p:nvPr/>
          </p:nvSpPr>
          <p:spPr>
            <a:xfrm flipH="false" flipV="false" rot="0">
              <a:off x="0" y="0"/>
              <a:ext cx="7365746" cy="3390900"/>
            </a:xfrm>
            <a:custGeom>
              <a:avLst/>
              <a:gdLst/>
              <a:ahLst/>
              <a:cxnLst/>
              <a:rect r="r" b="b" t="t" l="l"/>
              <a:pathLst>
                <a:path h="3390900" w="7365746">
                  <a:moveTo>
                    <a:pt x="0" y="0"/>
                  </a:moveTo>
                  <a:lnTo>
                    <a:pt x="7365746" y="0"/>
                  </a:lnTo>
                  <a:lnTo>
                    <a:pt x="7365746" y="3390900"/>
                  </a:lnTo>
                  <a:lnTo>
                    <a:pt x="0" y="3390900"/>
                  </a:lnTo>
                  <a:lnTo>
                    <a:pt x="0" y="0"/>
                  </a:lnTo>
                  <a:close/>
                </a:path>
              </a:pathLst>
            </a:custGeom>
            <a:blipFill>
              <a:blip r:embed="rId19"/>
              <a:stretch>
                <a:fillRect l="0" t="-85" r="0" b="-85"/>
              </a:stretch>
            </a:blipFill>
          </p:spPr>
        </p:sp>
      </p:grpSp>
      <p:grpSp>
        <p:nvGrpSpPr>
          <p:cNvPr name="Group 36" id="36"/>
          <p:cNvGrpSpPr>
            <a:grpSpLocks noChangeAspect="true"/>
          </p:cNvGrpSpPr>
          <p:nvPr/>
        </p:nvGrpSpPr>
        <p:grpSpPr>
          <a:xfrm rot="0">
            <a:off x="12363375" y="4314825"/>
            <a:ext cx="714375" cy="714375"/>
            <a:chOff x="0" y="0"/>
            <a:chExt cx="952500" cy="952500"/>
          </a:xfrm>
        </p:grpSpPr>
        <p:sp>
          <p:nvSpPr>
            <p:cNvPr name="Freeform 37" id="37" descr="preencoded.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20"/>
              <a:stretch>
                <a:fillRect l="0" t="0" r="0" b="0"/>
              </a:stretch>
            </a:blipFill>
          </p:spPr>
        </p:sp>
      </p:grpSp>
      <p:grpSp>
        <p:nvGrpSpPr>
          <p:cNvPr name="Group 38" id="38"/>
          <p:cNvGrpSpPr>
            <a:grpSpLocks noChangeAspect="true"/>
          </p:cNvGrpSpPr>
          <p:nvPr/>
        </p:nvGrpSpPr>
        <p:grpSpPr>
          <a:xfrm rot="0">
            <a:off x="12549112" y="4443412"/>
            <a:ext cx="342900" cy="457200"/>
            <a:chOff x="0" y="0"/>
            <a:chExt cx="457200" cy="609600"/>
          </a:xfrm>
        </p:grpSpPr>
        <p:sp>
          <p:nvSpPr>
            <p:cNvPr name="Freeform 39" id="39"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21"/>
              <a:stretch>
                <a:fillRect l="0" t="0" r="0" b="0"/>
              </a:stretch>
            </a:blipFill>
          </p:spPr>
        </p:sp>
      </p:grpSp>
      <p:grpSp>
        <p:nvGrpSpPr>
          <p:cNvPr name="Group 40" id="40"/>
          <p:cNvGrpSpPr>
            <a:grpSpLocks noChangeAspect="true"/>
          </p:cNvGrpSpPr>
          <p:nvPr/>
        </p:nvGrpSpPr>
        <p:grpSpPr>
          <a:xfrm rot="0">
            <a:off x="571500" y="6915150"/>
            <a:ext cx="17145000" cy="800100"/>
            <a:chOff x="0" y="0"/>
            <a:chExt cx="22860000" cy="1066800"/>
          </a:xfrm>
        </p:grpSpPr>
        <p:sp>
          <p:nvSpPr>
            <p:cNvPr name="Freeform 41" id="41" descr="preencoded.png"/>
            <p:cNvSpPr/>
            <p:nvPr/>
          </p:nvSpPr>
          <p:spPr>
            <a:xfrm flipH="false" flipV="false" rot="0">
              <a:off x="0" y="0"/>
              <a:ext cx="22860000" cy="1066800"/>
            </a:xfrm>
            <a:custGeom>
              <a:avLst/>
              <a:gdLst/>
              <a:ahLst/>
              <a:cxnLst/>
              <a:rect r="r" b="b" t="t" l="l"/>
              <a:pathLst>
                <a:path h="1066800" w="22860000">
                  <a:moveTo>
                    <a:pt x="0" y="0"/>
                  </a:moveTo>
                  <a:lnTo>
                    <a:pt x="22860000" y="0"/>
                  </a:lnTo>
                  <a:lnTo>
                    <a:pt x="22860000" y="1066800"/>
                  </a:lnTo>
                  <a:lnTo>
                    <a:pt x="0" y="1066800"/>
                  </a:lnTo>
                  <a:lnTo>
                    <a:pt x="0" y="0"/>
                  </a:lnTo>
                  <a:close/>
                </a:path>
              </a:pathLst>
            </a:custGeom>
            <a:blipFill>
              <a:blip r:embed="rId22"/>
              <a:stretch>
                <a:fillRect l="0" t="0" r="0" b="0"/>
              </a:stretch>
            </a:blipFill>
          </p:spPr>
        </p:sp>
      </p:grpSp>
      <p:grpSp>
        <p:nvGrpSpPr>
          <p:cNvPr name="Group 42" id="42"/>
          <p:cNvGrpSpPr>
            <a:grpSpLocks noChangeAspect="true"/>
          </p:cNvGrpSpPr>
          <p:nvPr/>
        </p:nvGrpSpPr>
        <p:grpSpPr>
          <a:xfrm rot="0">
            <a:off x="742950" y="7086600"/>
            <a:ext cx="257175" cy="457200"/>
            <a:chOff x="0" y="0"/>
            <a:chExt cx="342900" cy="609600"/>
          </a:xfrm>
        </p:grpSpPr>
        <p:sp>
          <p:nvSpPr>
            <p:cNvPr name="Freeform 43" id="43" descr="preencoded.png"/>
            <p:cNvSpPr/>
            <p:nvPr/>
          </p:nvSpPr>
          <p:spPr>
            <a:xfrm flipH="false" flipV="false" rot="0">
              <a:off x="0" y="0"/>
              <a:ext cx="342900" cy="609600"/>
            </a:xfrm>
            <a:custGeom>
              <a:avLst/>
              <a:gdLst/>
              <a:ahLst/>
              <a:cxnLst/>
              <a:rect r="r" b="b" t="t" l="l"/>
              <a:pathLst>
                <a:path h="609600" w="342900">
                  <a:moveTo>
                    <a:pt x="0" y="0"/>
                  </a:moveTo>
                  <a:lnTo>
                    <a:pt x="342900" y="0"/>
                  </a:lnTo>
                  <a:lnTo>
                    <a:pt x="342900" y="609600"/>
                  </a:lnTo>
                  <a:lnTo>
                    <a:pt x="0" y="609600"/>
                  </a:lnTo>
                  <a:lnTo>
                    <a:pt x="0" y="0"/>
                  </a:lnTo>
                  <a:close/>
                </a:path>
              </a:pathLst>
            </a:custGeom>
            <a:blipFill>
              <a:blip r:embed="rId23"/>
              <a:stretch>
                <a:fillRect l="0" t="0" r="0" b="0"/>
              </a:stretch>
            </a:blipFill>
          </p:spPr>
        </p:sp>
      </p:grpSp>
      <p:grpSp>
        <p:nvGrpSpPr>
          <p:cNvPr name="Group 44" id="44"/>
          <p:cNvGrpSpPr>
            <a:grpSpLocks noChangeAspect="true"/>
          </p:cNvGrpSpPr>
          <p:nvPr/>
        </p:nvGrpSpPr>
        <p:grpSpPr>
          <a:xfrm rot="0">
            <a:off x="14564990" y="9472612"/>
            <a:ext cx="200025" cy="200025"/>
            <a:chOff x="0" y="0"/>
            <a:chExt cx="266700" cy="266700"/>
          </a:xfrm>
        </p:grpSpPr>
        <p:sp>
          <p:nvSpPr>
            <p:cNvPr name="Freeform 45" id="45" descr="preencoded.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24"/>
              <a:stretch>
                <a:fillRect l="0" t="0" r="0" b="0"/>
              </a:stretch>
            </a:blipFill>
          </p:spPr>
        </p:sp>
      </p:grpSp>
      <p:sp>
        <p:nvSpPr>
          <p:cNvPr name="TextBox 46" id="46"/>
          <p:cNvSpPr txBox="true"/>
          <p:nvPr/>
        </p:nvSpPr>
        <p:spPr>
          <a:xfrm rot="0">
            <a:off x="571500" y="581025"/>
            <a:ext cx="171450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Sources de Données</a:t>
            </a:r>
          </a:p>
        </p:txBody>
      </p:sp>
      <p:sp>
        <p:nvSpPr>
          <p:cNvPr name="TextBox 47" id="47"/>
          <p:cNvSpPr txBox="true"/>
          <p:nvPr/>
        </p:nvSpPr>
        <p:spPr>
          <a:xfrm rot="0">
            <a:off x="1628775" y="1928812"/>
            <a:ext cx="1338114"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Kaggle</a:t>
            </a:r>
          </a:p>
        </p:txBody>
      </p:sp>
      <p:sp>
        <p:nvSpPr>
          <p:cNvPr name="TextBox 48" id="48"/>
          <p:cNvSpPr txBox="true"/>
          <p:nvPr/>
        </p:nvSpPr>
        <p:spPr>
          <a:xfrm rot="0">
            <a:off x="742950" y="2581275"/>
            <a:ext cx="5181452"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Plateforme pour les compétitions de science des données offrant des milliers de jeux de données souvent au format CSV.</a:t>
            </a:r>
          </a:p>
        </p:txBody>
      </p:sp>
      <p:sp>
        <p:nvSpPr>
          <p:cNvPr name="TextBox 49" id="49"/>
          <p:cNvSpPr txBox="true"/>
          <p:nvPr/>
        </p:nvSpPr>
        <p:spPr>
          <a:xfrm rot="0">
            <a:off x="7438877" y="1928812"/>
            <a:ext cx="4426358"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Google Dataset Search</a:t>
            </a:r>
          </a:p>
        </p:txBody>
      </p:sp>
      <p:sp>
        <p:nvSpPr>
          <p:cNvPr name="TextBox 50" id="50"/>
          <p:cNvSpPr txBox="true"/>
          <p:nvPr/>
        </p:nvSpPr>
        <p:spPr>
          <a:xfrm rot="0">
            <a:off x="6553052" y="2581275"/>
            <a:ext cx="5181675"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Outil lancé en 2018 permettant de rechercher et de télécharger des datasets publics gratuits dans divers formats.</a:t>
            </a:r>
          </a:p>
        </p:txBody>
      </p:sp>
      <p:sp>
        <p:nvSpPr>
          <p:cNvPr name="TextBox 51" id="51"/>
          <p:cNvSpPr txBox="true"/>
          <p:nvPr/>
        </p:nvSpPr>
        <p:spPr>
          <a:xfrm rot="0">
            <a:off x="13249200" y="1928812"/>
            <a:ext cx="1339453"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GitHub</a:t>
            </a:r>
          </a:p>
        </p:txBody>
      </p:sp>
      <p:sp>
        <p:nvSpPr>
          <p:cNvPr name="TextBox 52" id="52"/>
          <p:cNvSpPr txBox="true"/>
          <p:nvPr/>
        </p:nvSpPr>
        <p:spPr>
          <a:xfrm rot="0">
            <a:off x="12363375" y="2581275"/>
            <a:ext cx="5181452"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Hub pour les développeurs hébergeant des milliers de datasets pour l'analyse de données.</a:t>
            </a:r>
          </a:p>
        </p:txBody>
      </p:sp>
      <p:sp>
        <p:nvSpPr>
          <p:cNvPr name="TextBox 53" id="53"/>
          <p:cNvSpPr txBox="true"/>
          <p:nvPr/>
        </p:nvSpPr>
        <p:spPr>
          <a:xfrm rot="0">
            <a:off x="1628775" y="4414838"/>
            <a:ext cx="4381887"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World Bank Open Data</a:t>
            </a:r>
          </a:p>
        </p:txBody>
      </p:sp>
      <p:sp>
        <p:nvSpPr>
          <p:cNvPr name="TextBox 54" id="54"/>
          <p:cNvSpPr txBox="true"/>
          <p:nvPr/>
        </p:nvSpPr>
        <p:spPr>
          <a:xfrm rot="0">
            <a:off x="742950" y="5067300"/>
            <a:ext cx="5181452"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Ressource riche de faits statistiques et de datasets publics, permettant de rechercher des informations démographiques.</a:t>
            </a:r>
          </a:p>
        </p:txBody>
      </p:sp>
      <p:sp>
        <p:nvSpPr>
          <p:cNvPr name="TextBox 55" id="55"/>
          <p:cNvSpPr txBox="true"/>
          <p:nvPr/>
        </p:nvSpPr>
        <p:spPr>
          <a:xfrm rot="0">
            <a:off x="7314308" y="4257675"/>
            <a:ext cx="4420419" cy="85725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UCI Machine Learning Repository</a:t>
            </a:r>
          </a:p>
        </p:txBody>
      </p:sp>
      <p:sp>
        <p:nvSpPr>
          <p:cNvPr name="TextBox 56" id="56"/>
          <p:cNvSpPr txBox="true"/>
          <p:nvPr/>
        </p:nvSpPr>
        <p:spPr>
          <a:xfrm rot="0">
            <a:off x="6553052" y="5153025"/>
            <a:ext cx="5181675"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Une des plus anciennes sources de données en ligne, très utile pour la construction de modèles de machine learning.</a:t>
            </a:r>
          </a:p>
        </p:txBody>
      </p:sp>
      <p:sp>
        <p:nvSpPr>
          <p:cNvPr name="TextBox 57" id="57"/>
          <p:cNvSpPr txBox="true"/>
          <p:nvPr/>
        </p:nvSpPr>
        <p:spPr>
          <a:xfrm rot="0">
            <a:off x="13249200" y="4414838"/>
            <a:ext cx="2934474"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Autres Sources</a:t>
            </a:r>
          </a:p>
        </p:txBody>
      </p:sp>
      <p:sp>
        <p:nvSpPr>
          <p:cNvPr name="TextBox 58" id="58"/>
          <p:cNvSpPr txBox="true"/>
          <p:nvPr/>
        </p:nvSpPr>
        <p:spPr>
          <a:xfrm rot="0">
            <a:off x="12363375" y="5067300"/>
            <a:ext cx="518145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Data.gov.uk - Portail officiel du gouvernement britannique</a:t>
            </a:r>
          </a:p>
        </p:txBody>
      </p:sp>
      <p:sp>
        <p:nvSpPr>
          <p:cNvPr name="TextBox 59" id="59"/>
          <p:cNvSpPr txBox="true"/>
          <p:nvPr/>
        </p:nvSpPr>
        <p:spPr>
          <a:xfrm rot="0">
            <a:off x="12363375" y="5753100"/>
            <a:ext cx="5181452"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FiveThirtyEight - Journalism de données avec code et données</a:t>
            </a:r>
          </a:p>
        </p:txBody>
      </p:sp>
      <p:sp>
        <p:nvSpPr>
          <p:cNvPr name="TextBox 60" id="60"/>
          <p:cNvSpPr txBox="true"/>
          <p:nvPr/>
        </p:nvSpPr>
        <p:spPr>
          <a:xfrm rot="0">
            <a:off x="1171575" y="7067550"/>
            <a:ext cx="12137052" cy="419100"/>
          </a:xfrm>
          <a:prstGeom prst="rect">
            <a:avLst/>
          </a:prstGeom>
        </p:spPr>
        <p:txBody>
          <a:bodyPr anchor="t" rtlCol="false" tIns="0" lIns="0" bIns="0" rIns="0">
            <a:spAutoFit/>
          </a:bodyPr>
          <a:lstStyle/>
          <a:p>
            <a:pPr algn="l">
              <a:lnSpc>
                <a:spcPts val="2700"/>
              </a:lnSpc>
            </a:pPr>
            <a:r>
              <a:rPr lang="en-US" sz="1800" b="true">
                <a:solidFill>
                  <a:srgbClr val="374151"/>
                </a:solidFill>
                <a:latin typeface="Arimo Bold"/>
                <a:ea typeface="Arimo Bold"/>
                <a:cs typeface="Arimo Bold"/>
                <a:sym typeface="Arimo Bold"/>
              </a:rPr>
              <a:t>Conseil : </a:t>
            </a:r>
            <a:r>
              <a:rPr lang="en-US" sz="1800">
                <a:solidFill>
                  <a:srgbClr val="374151"/>
                </a:solidFill>
                <a:latin typeface="Arimo"/>
                <a:ea typeface="Arimo"/>
                <a:cs typeface="Arimo"/>
                <a:sym typeface="Arimo"/>
              </a:rPr>
              <a:t>Vérifiez les conditions d'utilisation et la licence de la source avant l'utilisation.</a:t>
            </a:r>
          </a:p>
        </p:txBody>
      </p:sp>
      <p:sp>
        <p:nvSpPr>
          <p:cNvPr name="TextBox 61" id="61"/>
          <p:cNvSpPr txBox="true"/>
          <p:nvPr/>
        </p:nvSpPr>
        <p:spPr>
          <a:xfrm rot="0">
            <a:off x="571500" y="9382125"/>
            <a:ext cx="4601022"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Collecte des données | Page 14 sur 15</a:t>
            </a:r>
          </a:p>
        </p:txBody>
      </p:sp>
      <p:sp>
        <p:nvSpPr>
          <p:cNvPr name="TextBox 62" id="62"/>
          <p:cNvSpPr txBox="true"/>
          <p:nvPr/>
        </p:nvSpPr>
        <p:spPr>
          <a:xfrm rot="0">
            <a:off x="14879315" y="9382125"/>
            <a:ext cx="3404622"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Python pour la Data Science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344150"/>
            <a:chOff x="0" y="0"/>
            <a:chExt cx="24384000" cy="13792200"/>
          </a:xfrm>
        </p:grpSpPr>
        <p:sp>
          <p:nvSpPr>
            <p:cNvPr name="Freeform 3" id="3" descr="preencoded.png"/>
            <p:cNvSpPr/>
            <p:nvPr/>
          </p:nvSpPr>
          <p:spPr>
            <a:xfrm flipH="false" flipV="false" rot="0">
              <a:off x="0" y="0"/>
              <a:ext cx="24384000" cy="13792200"/>
            </a:xfrm>
            <a:custGeom>
              <a:avLst/>
              <a:gdLst/>
              <a:ahLst/>
              <a:cxnLst/>
              <a:rect r="r" b="b" t="t" l="l"/>
              <a:pathLst>
                <a:path h="13792200" w="24384000">
                  <a:moveTo>
                    <a:pt x="0" y="0"/>
                  </a:moveTo>
                  <a:lnTo>
                    <a:pt x="24384000" y="0"/>
                  </a:lnTo>
                  <a:lnTo>
                    <a:pt x="24384000" y="13792200"/>
                  </a:lnTo>
                  <a:lnTo>
                    <a:pt x="0" y="137922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28800"/>
            <a:ext cx="300038" cy="342900"/>
            <a:chOff x="0" y="0"/>
            <a:chExt cx="400050" cy="457200"/>
          </a:xfrm>
        </p:grpSpPr>
        <p:sp>
          <p:nvSpPr>
            <p:cNvPr name="Freeform 5" id="5" descr="preencoded.png"/>
            <p:cNvSpPr/>
            <p:nvPr/>
          </p:nvSpPr>
          <p:spPr>
            <a:xfrm flipH="false" flipV="false" rot="0">
              <a:off x="0" y="0"/>
              <a:ext cx="400050" cy="457200"/>
            </a:xfrm>
            <a:custGeom>
              <a:avLst/>
              <a:gdLst/>
              <a:ahLst/>
              <a:cxnLst/>
              <a:rect r="r" b="b" t="t" l="l"/>
              <a:pathLst>
                <a:path h="457200" w="400050">
                  <a:moveTo>
                    <a:pt x="0" y="0"/>
                  </a:moveTo>
                  <a:lnTo>
                    <a:pt x="400050" y="0"/>
                  </a:lnTo>
                  <a:lnTo>
                    <a:pt x="400050" y="457200"/>
                  </a:lnTo>
                  <a:lnTo>
                    <a:pt x="0" y="4572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685800" y="6972300"/>
            <a:ext cx="8115300" cy="1771650"/>
            <a:chOff x="0" y="0"/>
            <a:chExt cx="10820400" cy="2362200"/>
          </a:xfrm>
        </p:grpSpPr>
        <p:sp>
          <p:nvSpPr>
            <p:cNvPr name="Freeform 7" id="7" descr="preencoded.png"/>
            <p:cNvSpPr/>
            <p:nvPr/>
          </p:nvSpPr>
          <p:spPr>
            <a:xfrm flipH="false" flipV="false" rot="0">
              <a:off x="0" y="0"/>
              <a:ext cx="10820400" cy="2362200"/>
            </a:xfrm>
            <a:custGeom>
              <a:avLst/>
              <a:gdLst/>
              <a:ahLst/>
              <a:cxnLst/>
              <a:rect r="r" b="b" t="t" l="l"/>
              <a:pathLst>
                <a:path h="2362200" w="10820400">
                  <a:moveTo>
                    <a:pt x="0" y="0"/>
                  </a:moveTo>
                  <a:lnTo>
                    <a:pt x="10820400" y="0"/>
                  </a:lnTo>
                  <a:lnTo>
                    <a:pt x="10820400" y="2362200"/>
                  </a:lnTo>
                  <a:lnTo>
                    <a:pt x="0" y="23622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9486900" y="1828800"/>
            <a:ext cx="342900" cy="342900"/>
            <a:chOff x="0" y="0"/>
            <a:chExt cx="457200" cy="457200"/>
          </a:xfrm>
        </p:grpSpPr>
        <p:sp>
          <p:nvSpPr>
            <p:cNvPr name="Freeform 9" id="9"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9486900" y="3371850"/>
            <a:ext cx="8115300" cy="2914650"/>
            <a:chOff x="0" y="0"/>
            <a:chExt cx="10820400" cy="3886200"/>
          </a:xfrm>
        </p:grpSpPr>
        <p:sp>
          <p:nvSpPr>
            <p:cNvPr name="Freeform 11" id="11" descr="preencoded.png"/>
            <p:cNvSpPr/>
            <p:nvPr/>
          </p:nvSpPr>
          <p:spPr>
            <a:xfrm flipH="false" flipV="false" rot="0">
              <a:off x="0" y="0"/>
              <a:ext cx="10820400" cy="3886200"/>
            </a:xfrm>
            <a:custGeom>
              <a:avLst/>
              <a:gdLst/>
              <a:ahLst/>
              <a:cxnLst/>
              <a:rect r="r" b="b" t="t" l="l"/>
              <a:pathLst>
                <a:path h="3886200" w="10820400">
                  <a:moveTo>
                    <a:pt x="0" y="0"/>
                  </a:moveTo>
                  <a:lnTo>
                    <a:pt x="10820400" y="0"/>
                  </a:lnTo>
                  <a:lnTo>
                    <a:pt x="10820400" y="3886200"/>
                  </a:lnTo>
                  <a:lnTo>
                    <a:pt x="0" y="3886200"/>
                  </a:lnTo>
                  <a:lnTo>
                    <a:pt x="0" y="0"/>
                  </a:lnTo>
                  <a:close/>
                </a:path>
              </a:pathLst>
            </a:custGeom>
            <a:blipFill>
              <a:blip r:embed="rId7"/>
              <a:stretch>
                <a:fillRect l="0" t="0" r="0" b="0"/>
              </a:stretch>
            </a:blipFill>
          </p:spPr>
        </p:sp>
      </p:grpSp>
      <p:sp>
        <p:nvSpPr>
          <p:cNvPr name="TextBox 12" id="12"/>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Variables en Python</a:t>
            </a:r>
          </a:p>
        </p:txBody>
      </p:sp>
      <p:sp>
        <p:nvSpPr>
          <p:cNvPr name="TextBox 13" id="13"/>
          <p:cNvSpPr txBox="true"/>
          <p:nvPr/>
        </p:nvSpPr>
        <p:spPr>
          <a:xfrm rot="0">
            <a:off x="1157288" y="1714500"/>
            <a:ext cx="81153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Types de Variables</a:t>
            </a:r>
          </a:p>
        </p:txBody>
      </p:sp>
      <p:sp>
        <p:nvSpPr>
          <p:cNvPr name="TextBox 14" id="14"/>
          <p:cNvSpPr txBox="true"/>
          <p:nvPr/>
        </p:nvSpPr>
        <p:spPr>
          <a:xfrm rot="0">
            <a:off x="685800" y="2266950"/>
            <a:ext cx="8115300"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En Python, les variables sont des conteneurs qui stockent des valeurs. Le type est déterminé automatiquement :</a:t>
            </a:r>
          </a:p>
        </p:txBody>
      </p:sp>
      <p:sp>
        <p:nvSpPr>
          <p:cNvPr name="TextBox 15" id="15"/>
          <p:cNvSpPr txBox="true"/>
          <p:nvPr/>
        </p:nvSpPr>
        <p:spPr>
          <a:xfrm rot="0">
            <a:off x="685800" y="3314700"/>
            <a:ext cx="8115300"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Nombres</a:t>
            </a:r>
          </a:p>
        </p:txBody>
      </p:sp>
      <p:sp>
        <p:nvSpPr>
          <p:cNvPr name="TextBox 16" id="16"/>
          <p:cNvSpPr txBox="true"/>
          <p:nvPr/>
        </p:nvSpPr>
        <p:spPr>
          <a:xfrm rot="0">
            <a:off x="771525" y="3810000"/>
            <a:ext cx="81153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int : Entiers (3, -5, 0)</a:t>
            </a:r>
          </a:p>
        </p:txBody>
      </p:sp>
      <p:sp>
        <p:nvSpPr>
          <p:cNvPr name="TextBox 17" id="17"/>
          <p:cNvSpPr txBox="true"/>
          <p:nvPr/>
        </p:nvSpPr>
        <p:spPr>
          <a:xfrm rot="0">
            <a:off x="771525" y="421005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float : Décimaux (3.14, -5.7)</a:t>
            </a:r>
          </a:p>
        </p:txBody>
      </p:sp>
      <p:sp>
        <p:nvSpPr>
          <p:cNvPr name="TextBox 18" id="18"/>
          <p:cNvSpPr txBox="true"/>
          <p:nvPr/>
        </p:nvSpPr>
        <p:spPr>
          <a:xfrm rot="0">
            <a:off x="771525" y="461010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complex : Nombres complexes (1+2j)</a:t>
            </a:r>
          </a:p>
        </p:txBody>
      </p:sp>
      <p:sp>
        <p:nvSpPr>
          <p:cNvPr name="TextBox 19" id="19"/>
          <p:cNvSpPr txBox="true"/>
          <p:nvPr/>
        </p:nvSpPr>
        <p:spPr>
          <a:xfrm rot="0">
            <a:off x="685800" y="5314950"/>
            <a:ext cx="8115300"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Texte et Booléen</a:t>
            </a:r>
          </a:p>
        </p:txBody>
      </p:sp>
      <p:sp>
        <p:nvSpPr>
          <p:cNvPr name="TextBox 20" id="20"/>
          <p:cNvSpPr txBox="true"/>
          <p:nvPr/>
        </p:nvSpPr>
        <p:spPr>
          <a:xfrm rot="0">
            <a:off x="771525" y="581025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str : Chaînes de caractères ("Python")</a:t>
            </a:r>
          </a:p>
        </p:txBody>
      </p:sp>
      <p:sp>
        <p:nvSpPr>
          <p:cNvPr name="TextBox 21" id="21"/>
          <p:cNvSpPr txBox="true"/>
          <p:nvPr/>
        </p:nvSpPr>
        <p:spPr>
          <a:xfrm rot="0">
            <a:off x="771525" y="6210300"/>
            <a:ext cx="81153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bool : </a:t>
            </a:r>
            <a:r>
              <a:rPr lang="en-US" sz="1800">
                <a:solidFill>
                  <a:srgbClr val="16A34A"/>
                </a:solidFill>
                <a:latin typeface="Arimo"/>
                <a:ea typeface="Arimo"/>
                <a:cs typeface="Arimo"/>
                <a:sym typeface="Arimo"/>
              </a:rPr>
              <a:t>True</a:t>
            </a:r>
            <a:r>
              <a:rPr lang="en-US" sz="1800">
                <a:solidFill>
                  <a:srgbClr val="374151"/>
                </a:solidFill>
                <a:latin typeface="Arimo"/>
                <a:ea typeface="Arimo"/>
                <a:cs typeface="Arimo"/>
                <a:sym typeface="Arimo"/>
              </a:rPr>
              <a:t> ou </a:t>
            </a:r>
            <a:r>
              <a:rPr lang="en-US" sz="1800">
                <a:solidFill>
                  <a:srgbClr val="EF4444"/>
                </a:solidFill>
                <a:latin typeface="Arimo"/>
                <a:ea typeface="Arimo"/>
                <a:cs typeface="Arimo"/>
                <a:sym typeface="Arimo"/>
              </a:rPr>
              <a:t>False</a:t>
            </a:r>
          </a:p>
        </p:txBody>
      </p:sp>
      <p:sp>
        <p:nvSpPr>
          <p:cNvPr name="TextBox 22" id="22"/>
          <p:cNvSpPr txBox="true"/>
          <p:nvPr/>
        </p:nvSpPr>
        <p:spPr>
          <a:xfrm rot="0">
            <a:off x="857250" y="6934200"/>
            <a:ext cx="8115300" cy="180975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Variables de différents types</a:t>
            </a:r>
          </a:p>
          <a:p>
            <a:pPr algn="l">
              <a:lnSpc>
                <a:spcPts val="2250"/>
              </a:lnSpc>
            </a:pPr>
            <a:r>
              <a:rPr lang="en-US" sz="1575">
                <a:solidFill>
                  <a:srgbClr val="569CD6"/>
                </a:solidFill>
                <a:latin typeface="Courier New"/>
                <a:ea typeface="Courier New"/>
                <a:cs typeface="Courier New"/>
                <a:sym typeface="Courier New"/>
              </a:rPr>
              <a:t>age</a:t>
            </a:r>
            <a:r>
              <a:rPr lang="en-US" sz="1575">
                <a:solidFill>
                  <a:srgbClr val="000000"/>
                </a:solidFill>
                <a:latin typeface="Courier New"/>
                <a:ea typeface="Courier New"/>
                <a:cs typeface="Courier New"/>
                <a:sym typeface="Courier New"/>
              </a:rPr>
              <a:t> = 25 </a:t>
            </a:r>
            <a:r>
              <a:rPr lang="en-US" sz="1575">
                <a:solidFill>
                  <a:srgbClr val="6A9955"/>
                </a:solidFill>
                <a:latin typeface="Courier New"/>
                <a:ea typeface="Courier New"/>
                <a:cs typeface="Courier New"/>
                <a:sym typeface="Courier New"/>
              </a:rPr>
              <a:t># int</a:t>
            </a:r>
          </a:p>
          <a:p>
            <a:pPr algn="l">
              <a:lnSpc>
                <a:spcPts val="2250"/>
              </a:lnSpc>
            </a:pPr>
            <a:r>
              <a:rPr lang="en-US" sz="1575">
                <a:solidFill>
                  <a:srgbClr val="569CD6"/>
                </a:solidFill>
                <a:latin typeface="Courier New"/>
                <a:ea typeface="Courier New"/>
                <a:cs typeface="Courier New"/>
                <a:sym typeface="Courier New"/>
              </a:rPr>
              <a:t>taille</a:t>
            </a:r>
            <a:r>
              <a:rPr lang="en-US" sz="1575">
                <a:solidFill>
                  <a:srgbClr val="000000"/>
                </a:solidFill>
                <a:latin typeface="Courier New"/>
                <a:ea typeface="Courier New"/>
                <a:cs typeface="Courier New"/>
                <a:sym typeface="Courier New"/>
              </a:rPr>
              <a:t> = 1.75 </a:t>
            </a:r>
            <a:r>
              <a:rPr lang="en-US" sz="1575">
                <a:solidFill>
                  <a:srgbClr val="6A9955"/>
                </a:solidFill>
                <a:latin typeface="Courier New"/>
                <a:ea typeface="Courier New"/>
                <a:cs typeface="Courier New"/>
                <a:sym typeface="Courier New"/>
              </a:rPr>
              <a:t># float</a:t>
            </a:r>
          </a:p>
          <a:p>
            <a:pPr algn="l">
              <a:lnSpc>
                <a:spcPts val="2250"/>
              </a:lnSpc>
            </a:pPr>
            <a:r>
              <a:rPr lang="en-US" sz="1575">
                <a:solidFill>
                  <a:srgbClr val="569CD6"/>
                </a:solidFill>
                <a:latin typeface="Courier New"/>
                <a:ea typeface="Courier New"/>
                <a:cs typeface="Courier New"/>
                <a:sym typeface="Courier New"/>
              </a:rPr>
              <a:t>nom</a:t>
            </a:r>
            <a:r>
              <a:rPr lang="en-US" sz="1575">
                <a:solidFill>
                  <a:srgbClr val="000000"/>
                </a:solidFill>
                <a:latin typeface="Courier New"/>
                <a:ea typeface="Courier New"/>
                <a:cs typeface="Courier New"/>
                <a:sym typeface="Courier New"/>
              </a:rPr>
              <a:t> = "Alice" </a:t>
            </a:r>
            <a:r>
              <a:rPr lang="en-US" sz="1575">
                <a:solidFill>
                  <a:srgbClr val="6A9955"/>
                </a:solidFill>
                <a:latin typeface="Courier New"/>
                <a:ea typeface="Courier New"/>
                <a:cs typeface="Courier New"/>
                <a:sym typeface="Courier New"/>
              </a:rPr>
              <a:t># str</a:t>
            </a:r>
          </a:p>
          <a:p>
            <a:pPr algn="l">
              <a:lnSpc>
                <a:spcPts val="2250"/>
              </a:lnSpc>
            </a:pPr>
            <a:r>
              <a:rPr lang="en-US" sz="1575">
                <a:solidFill>
                  <a:srgbClr val="569CD6"/>
                </a:solidFill>
                <a:latin typeface="Courier New"/>
                <a:ea typeface="Courier New"/>
                <a:cs typeface="Courier New"/>
                <a:sym typeface="Courier New"/>
              </a:rPr>
              <a:t>est_majeur</a:t>
            </a:r>
            <a:r>
              <a:rPr lang="en-US" sz="1575">
                <a:solidFill>
                  <a:srgbClr val="000000"/>
                </a:solidFill>
                <a:latin typeface="Courier New"/>
                <a:ea typeface="Courier New"/>
                <a:cs typeface="Courier New"/>
                <a:sym typeface="Courier New"/>
              </a:rPr>
              <a:t> = </a:t>
            </a:r>
            <a:r>
              <a:rPr lang="en-US" sz="1575">
                <a:solidFill>
                  <a:srgbClr val="569CD6"/>
                </a:solidFill>
                <a:latin typeface="Courier New"/>
                <a:ea typeface="Courier New"/>
                <a:cs typeface="Courier New"/>
                <a:sym typeface="Courier New"/>
              </a:rPr>
              <a:t>True</a:t>
            </a:r>
            <a:r>
              <a:rPr lang="en-US" sz="1575">
                <a:solidFill>
                  <a:srgbClr val="000000"/>
                </a:solidFill>
                <a:latin typeface="Courier New"/>
                <a:ea typeface="Courier New"/>
                <a:cs typeface="Courier New"/>
                <a:sym typeface="Courier New"/>
              </a:rPr>
              <a:t> </a:t>
            </a:r>
            <a:r>
              <a:rPr lang="en-US" sz="1575">
                <a:solidFill>
                  <a:srgbClr val="6A9955"/>
                </a:solidFill>
                <a:latin typeface="Courier New"/>
                <a:ea typeface="Courier New"/>
                <a:cs typeface="Courier New"/>
                <a:sym typeface="Courier New"/>
              </a:rPr>
              <a:t># bool</a:t>
            </a:r>
          </a:p>
        </p:txBody>
      </p:sp>
      <p:sp>
        <p:nvSpPr>
          <p:cNvPr name="TextBox 23" id="23"/>
          <p:cNvSpPr txBox="true"/>
          <p:nvPr/>
        </p:nvSpPr>
        <p:spPr>
          <a:xfrm rot="0">
            <a:off x="10001250" y="1714500"/>
            <a:ext cx="973836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Déclaration &amp; Affectation</a:t>
            </a:r>
          </a:p>
        </p:txBody>
      </p:sp>
      <p:sp>
        <p:nvSpPr>
          <p:cNvPr name="TextBox 24" id="24"/>
          <p:cNvSpPr txBox="true"/>
          <p:nvPr/>
        </p:nvSpPr>
        <p:spPr>
          <a:xfrm rot="0">
            <a:off x="9486900" y="2266950"/>
            <a:ext cx="8115300"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En Python, les variables sont définies par affectation sans déclaration explicite :</a:t>
            </a:r>
          </a:p>
        </p:txBody>
      </p:sp>
      <p:sp>
        <p:nvSpPr>
          <p:cNvPr name="TextBox 25" id="25"/>
          <p:cNvSpPr txBox="true"/>
          <p:nvPr/>
        </p:nvSpPr>
        <p:spPr>
          <a:xfrm rot="0">
            <a:off x="9658350" y="3333750"/>
            <a:ext cx="8115300" cy="295275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Déclaration et initialisation</a:t>
            </a:r>
          </a:p>
          <a:p>
            <a:pPr algn="l">
              <a:lnSpc>
                <a:spcPts val="2250"/>
              </a:lnSpc>
            </a:pPr>
            <a:r>
              <a:rPr lang="en-US" sz="1575">
                <a:solidFill>
                  <a:srgbClr val="569CD6"/>
                </a:solidFill>
                <a:latin typeface="Courier New"/>
                <a:ea typeface="Courier New"/>
                <a:cs typeface="Courier New"/>
                <a:sym typeface="Courier New"/>
              </a:rPr>
              <a:t>nombre</a:t>
            </a:r>
            <a:r>
              <a:rPr lang="en-US" sz="1575">
                <a:solidFill>
                  <a:srgbClr val="000000"/>
                </a:solidFill>
                <a:latin typeface="Courier New"/>
                <a:ea typeface="Courier New"/>
                <a:cs typeface="Courier New"/>
                <a:sym typeface="Courier New"/>
              </a:rPr>
              <a:t> = 42 </a:t>
            </a:r>
            <a:r>
              <a:rPr lang="en-US" sz="1575">
                <a:solidFill>
                  <a:srgbClr val="6A9955"/>
                </a:solidFill>
                <a:latin typeface="Courier New"/>
                <a:ea typeface="Courier New"/>
                <a:cs typeface="Courier New"/>
                <a:sym typeface="Courier New"/>
              </a:rPr>
              <a:t># Création automatique</a:t>
            </a:r>
          </a:p>
          <a:p>
            <a:pPr algn="l">
              <a:lnSpc>
                <a:spcPts val="2250"/>
              </a:lnSpc>
            </a:pPr>
            <a:r>
              <a:rPr lang="en-US" sz="1575">
                <a:solidFill>
                  <a:srgbClr val="569CD6"/>
                </a:solidFill>
                <a:latin typeface="Courier New"/>
                <a:ea typeface="Courier New"/>
                <a:cs typeface="Courier New"/>
                <a:sym typeface="Courier New"/>
              </a:rPr>
              <a:t>message</a:t>
            </a:r>
            <a:r>
              <a:rPr lang="en-US" sz="1575">
                <a:solidFill>
                  <a:srgbClr val="000000"/>
                </a:solidFill>
                <a:latin typeface="Courier New"/>
                <a:ea typeface="Courier New"/>
                <a:cs typeface="Courier New"/>
                <a:sym typeface="Courier New"/>
              </a:rPr>
              <a:t> = "Hello"</a:t>
            </a:r>
          </a:p>
          <a:p>
            <a:pPr algn="l">
              <a:lnSpc>
                <a:spcPts val="2250"/>
              </a:lnSpc>
            </a:pPr>
          </a:p>
          <a:p>
            <a:pPr algn="l">
              <a:lnSpc>
                <a:spcPts val="2250"/>
              </a:lnSpc>
            </a:pPr>
            <a:r>
              <a:rPr lang="en-US" sz="1575">
                <a:solidFill>
                  <a:srgbClr val="6A9955"/>
                </a:solidFill>
                <a:latin typeface="Courier New"/>
                <a:ea typeface="Courier New"/>
                <a:cs typeface="Courier New"/>
                <a:sym typeface="Courier New"/>
              </a:rPr>
              <a:t># Multiple assignation</a:t>
            </a:r>
          </a:p>
          <a:p>
            <a:pPr algn="l">
              <a:lnSpc>
                <a:spcPts val="2250"/>
              </a:lnSpc>
            </a:pPr>
            <a:r>
              <a:rPr lang="en-US" sz="1575">
                <a:solidFill>
                  <a:srgbClr val="569CD6"/>
                </a:solidFill>
                <a:latin typeface="Courier New"/>
                <a:ea typeface="Courier New"/>
                <a:cs typeface="Courier New"/>
                <a:sym typeface="Courier New"/>
              </a:rPr>
              <a:t>x</a:t>
            </a:r>
            <a:r>
              <a:rPr lang="en-US" sz="1575">
                <a:solidFill>
                  <a:srgbClr val="000000"/>
                </a:solidFill>
                <a:latin typeface="Courier New"/>
                <a:ea typeface="Courier New"/>
                <a:cs typeface="Courier New"/>
                <a:sym typeface="Courier New"/>
              </a:rPr>
              <a:t>, </a:t>
            </a:r>
            <a:r>
              <a:rPr lang="en-US" sz="1575">
                <a:solidFill>
                  <a:srgbClr val="569CD6"/>
                </a:solidFill>
                <a:latin typeface="Courier New"/>
                <a:ea typeface="Courier New"/>
                <a:cs typeface="Courier New"/>
                <a:sym typeface="Courier New"/>
              </a:rPr>
              <a:t>y</a:t>
            </a:r>
            <a:r>
              <a:rPr lang="en-US" sz="1575">
                <a:solidFill>
                  <a:srgbClr val="000000"/>
                </a:solidFill>
                <a:latin typeface="Courier New"/>
                <a:ea typeface="Courier New"/>
                <a:cs typeface="Courier New"/>
                <a:sym typeface="Courier New"/>
              </a:rPr>
              <a:t> = 10, 20 </a:t>
            </a:r>
            <a:r>
              <a:rPr lang="en-US" sz="1575">
                <a:solidFill>
                  <a:srgbClr val="6A9955"/>
                </a:solidFill>
                <a:latin typeface="Courier New"/>
                <a:ea typeface="Courier New"/>
                <a:cs typeface="Courier New"/>
                <a:sym typeface="Courier New"/>
              </a:rPr>
              <a:t># x=10, y=20</a:t>
            </a:r>
          </a:p>
          <a:p>
            <a:pPr algn="l">
              <a:lnSpc>
                <a:spcPts val="2250"/>
              </a:lnSpc>
            </a:pPr>
          </a:p>
          <a:p>
            <a:pPr algn="l">
              <a:lnSpc>
                <a:spcPts val="2250"/>
              </a:lnSpc>
            </a:pPr>
            <a:r>
              <a:rPr lang="en-US" sz="1575">
                <a:solidFill>
                  <a:srgbClr val="569CD6"/>
                </a:solidFill>
                <a:latin typeface="Courier New"/>
                <a:ea typeface="Courier New"/>
                <a:cs typeface="Courier New"/>
                <a:sym typeface="Courier New"/>
              </a:rPr>
              <a:t>a</a:t>
            </a:r>
            <a:r>
              <a:rPr lang="en-US" sz="1575">
                <a:solidFill>
                  <a:srgbClr val="000000"/>
                </a:solidFill>
                <a:latin typeface="Courier New"/>
                <a:ea typeface="Courier New"/>
                <a:cs typeface="Courier New"/>
                <a:sym typeface="Courier New"/>
              </a:rPr>
              <a:t>, </a:t>
            </a:r>
            <a:r>
              <a:rPr lang="en-US" sz="1575">
                <a:solidFill>
                  <a:srgbClr val="569CD6"/>
                </a:solidFill>
                <a:latin typeface="Courier New"/>
                <a:ea typeface="Courier New"/>
                <a:cs typeface="Courier New"/>
                <a:sym typeface="Courier New"/>
              </a:rPr>
              <a:t>b</a:t>
            </a:r>
            <a:r>
              <a:rPr lang="en-US" sz="1575">
                <a:solidFill>
                  <a:srgbClr val="000000"/>
                </a:solidFill>
                <a:latin typeface="Courier New"/>
                <a:ea typeface="Courier New"/>
                <a:cs typeface="Courier New"/>
                <a:sym typeface="Courier New"/>
              </a:rPr>
              <a:t>, </a:t>
            </a:r>
            <a:r>
              <a:rPr lang="en-US" sz="1575">
                <a:solidFill>
                  <a:srgbClr val="569CD6"/>
                </a:solidFill>
                <a:latin typeface="Courier New"/>
                <a:ea typeface="Courier New"/>
                <a:cs typeface="Courier New"/>
                <a:sym typeface="Courier New"/>
              </a:rPr>
              <a:t>c</a:t>
            </a:r>
            <a:r>
              <a:rPr lang="en-US" sz="1575">
                <a:solidFill>
                  <a:srgbClr val="000000"/>
                </a:solidFill>
                <a:latin typeface="Courier New"/>
                <a:ea typeface="Courier New"/>
                <a:cs typeface="Courier New"/>
                <a:sym typeface="Courier New"/>
              </a:rPr>
              <a:t> = "rouge", "vert", "bleu" </a:t>
            </a:r>
            <a:r>
              <a:rPr lang="en-US" sz="1575">
                <a:solidFill>
                  <a:srgbClr val="6A9955"/>
                </a:solidFill>
                <a:latin typeface="Courier New"/>
                <a:ea typeface="Courier New"/>
                <a:cs typeface="Courier New"/>
                <a:sym typeface="Courier New"/>
              </a:rPr>
              <a:t># a="rouge", b="vert", c="bleu"</a:t>
            </a:r>
          </a:p>
        </p:txBody>
      </p:sp>
      <p:sp>
        <p:nvSpPr>
          <p:cNvPr name="TextBox 26" id="26"/>
          <p:cNvSpPr txBox="true"/>
          <p:nvPr/>
        </p:nvSpPr>
        <p:spPr>
          <a:xfrm rot="0">
            <a:off x="9486900" y="6572250"/>
            <a:ext cx="9738360"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Bonne Pratique de Nomming</a:t>
            </a:r>
          </a:p>
        </p:txBody>
      </p:sp>
      <p:sp>
        <p:nvSpPr>
          <p:cNvPr name="TextBox 27" id="27"/>
          <p:cNvSpPr txBox="true"/>
          <p:nvPr/>
        </p:nvSpPr>
        <p:spPr>
          <a:xfrm rot="0">
            <a:off x="9486900" y="706755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UnderScoreNaming pour les variables </a:t>
            </a:r>
            <a:r>
              <a:rPr lang="en-US" sz="1800">
                <a:solidFill>
                  <a:srgbClr val="16A34A"/>
                </a:solidFill>
                <a:latin typeface="Arimo"/>
                <a:ea typeface="Arimo"/>
                <a:cs typeface="Arimo"/>
                <a:sym typeface="Arimo"/>
              </a:rPr>
              <a:t>nombre_etudiant</a:t>
            </a:r>
          </a:p>
        </p:txBody>
      </p:sp>
      <p:sp>
        <p:nvSpPr>
          <p:cNvPr name="TextBox 28" id="28"/>
          <p:cNvSpPr txBox="true"/>
          <p:nvPr/>
        </p:nvSpPr>
        <p:spPr>
          <a:xfrm rot="0">
            <a:off x="9486900" y="746760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PascalCase pour les classes </a:t>
            </a:r>
            <a:r>
              <a:rPr lang="en-US" sz="1800">
                <a:solidFill>
                  <a:srgbClr val="16A34A"/>
                </a:solidFill>
                <a:latin typeface="Arimo"/>
                <a:ea typeface="Arimo"/>
                <a:cs typeface="Arimo"/>
                <a:sym typeface="Arimo"/>
              </a:rPr>
              <a:t>MaClasse</a:t>
            </a:r>
          </a:p>
        </p:txBody>
      </p:sp>
      <p:sp>
        <p:nvSpPr>
          <p:cNvPr name="TextBox 29" id="29"/>
          <p:cNvSpPr txBox="true"/>
          <p:nvPr/>
        </p:nvSpPr>
        <p:spPr>
          <a:xfrm rot="0">
            <a:off x="9486900" y="786765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UPPER_CASE pour les constantes </a:t>
            </a:r>
            <a:r>
              <a:rPr lang="en-US" sz="1800">
                <a:solidFill>
                  <a:srgbClr val="9333EA"/>
                </a:solidFill>
                <a:latin typeface="Arimo"/>
                <a:ea typeface="Arimo"/>
                <a:cs typeface="Arimo"/>
                <a:sym typeface="Arimo"/>
              </a:rPr>
              <a:t>PI = 3.14159</a:t>
            </a:r>
          </a:p>
        </p:txBody>
      </p:sp>
      <p:sp>
        <p:nvSpPr>
          <p:cNvPr name="TextBox 30" id="30"/>
          <p:cNvSpPr txBox="true"/>
          <p:nvPr/>
        </p:nvSpPr>
        <p:spPr>
          <a:xfrm rot="0">
            <a:off x="9486900" y="8267700"/>
            <a:ext cx="973836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Éviter les mots réservés comme </a:t>
            </a:r>
            <a:r>
              <a:rPr lang="en-US" sz="1800">
                <a:solidFill>
                  <a:srgbClr val="EF4444"/>
                </a:solidFill>
                <a:latin typeface="Arimo"/>
                <a:ea typeface="Arimo"/>
                <a:cs typeface="Arimo"/>
                <a:sym typeface="Arimo"/>
              </a:rPr>
              <a:t>if</a:t>
            </a:r>
            <a:r>
              <a:rPr lang="en-US" sz="1800">
                <a:solidFill>
                  <a:srgbClr val="374151"/>
                </a:solidFill>
                <a:latin typeface="Arimo"/>
                <a:ea typeface="Arimo"/>
                <a:cs typeface="Arimo"/>
                <a:sym typeface="Arimo"/>
              </a:rPr>
              <a:t>, </a:t>
            </a:r>
            <a:r>
              <a:rPr lang="en-US" sz="1800">
                <a:solidFill>
                  <a:srgbClr val="EF4444"/>
                </a:solidFill>
                <a:latin typeface="Arimo"/>
                <a:ea typeface="Arimo"/>
                <a:cs typeface="Arimo"/>
                <a:sym typeface="Arimo"/>
              </a:rPr>
              <a:t>for</a:t>
            </a:r>
            <a:r>
              <a:rPr lang="en-US" sz="1800">
                <a:solidFill>
                  <a:srgbClr val="374151"/>
                </a:solidFill>
                <a:latin typeface="Arimo"/>
                <a:ea typeface="Arimo"/>
                <a:cs typeface="Arimo"/>
                <a:sym typeface="Arimo"/>
              </a:rPr>
              <a:t>, </a:t>
            </a:r>
            <a:r>
              <a:rPr lang="en-US" sz="1800">
                <a:solidFill>
                  <a:srgbClr val="EF4444"/>
                </a:solidFill>
                <a:latin typeface="Arimo"/>
                <a:ea typeface="Arimo"/>
                <a:cs typeface="Arimo"/>
                <a:sym typeface="Arimo"/>
              </a:rPr>
              <a:t>class</a:t>
            </a:r>
          </a:p>
        </p:txBody>
      </p:sp>
      <p:sp>
        <p:nvSpPr>
          <p:cNvPr name="TextBox 31" id="31"/>
          <p:cNvSpPr txBox="true"/>
          <p:nvPr/>
        </p:nvSpPr>
        <p:spPr>
          <a:xfrm rot="0">
            <a:off x="685800" y="932497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5 sur 15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771650"/>
            <a:ext cx="5410052" cy="7200900"/>
            <a:chOff x="0" y="0"/>
            <a:chExt cx="7213402" cy="9601200"/>
          </a:xfrm>
        </p:grpSpPr>
        <p:sp>
          <p:nvSpPr>
            <p:cNvPr name="Freeform 5" id="5" descr="preencoded.png"/>
            <p:cNvSpPr/>
            <p:nvPr/>
          </p:nvSpPr>
          <p:spPr>
            <a:xfrm flipH="false" flipV="false" rot="0">
              <a:off x="0" y="0"/>
              <a:ext cx="7213346" cy="9601200"/>
            </a:xfrm>
            <a:custGeom>
              <a:avLst/>
              <a:gdLst/>
              <a:ahLst/>
              <a:cxnLst/>
              <a:rect r="r" b="b" t="t" l="l"/>
              <a:pathLst>
                <a:path h="9601200" w="7213346">
                  <a:moveTo>
                    <a:pt x="0" y="0"/>
                  </a:moveTo>
                  <a:lnTo>
                    <a:pt x="7213346" y="0"/>
                  </a:lnTo>
                  <a:lnTo>
                    <a:pt x="7213346" y="9601200"/>
                  </a:lnTo>
                  <a:lnTo>
                    <a:pt x="0" y="9601200"/>
                  </a:lnTo>
                  <a:lnTo>
                    <a:pt x="0" y="0"/>
                  </a:lnTo>
                  <a:close/>
                </a:path>
              </a:pathLst>
            </a:custGeom>
            <a:blipFill>
              <a:blip r:embed="rId4"/>
              <a:stretch>
                <a:fillRect l="0" t="-86" r="0" b="-86"/>
              </a:stretch>
            </a:blipFill>
          </p:spPr>
        </p:sp>
      </p:grpSp>
      <p:grpSp>
        <p:nvGrpSpPr>
          <p:cNvPr name="Group 6" id="6"/>
          <p:cNvGrpSpPr>
            <a:grpSpLocks noChangeAspect="true"/>
          </p:cNvGrpSpPr>
          <p:nvPr/>
        </p:nvGrpSpPr>
        <p:grpSpPr>
          <a:xfrm rot="0">
            <a:off x="971550" y="2057400"/>
            <a:ext cx="342900" cy="457200"/>
            <a:chOff x="0" y="0"/>
            <a:chExt cx="457200" cy="609600"/>
          </a:xfrm>
        </p:grpSpPr>
        <p:sp>
          <p:nvSpPr>
            <p:cNvPr name="Freeform 7" id="7"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971550" y="3543300"/>
            <a:ext cx="4838552" cy="2286000"/>
            <a:chOff x="0" y="0"/>
            <a:chExt cx="6451402" cy="3048000"/>
          </a:xfrm>
        </p:grpSpPr>
        <p:sp>
          <p:nvSpPr>
            <p:cNvPr name="Freeform 9" id="9" descr="preencoded.png"/>
            <p:cNvSpPr/>
            <p:nvPr/>
          </p:nvSpPr>
          <p:spPr>
            <a:xfrm flipH="false" flipV="false" rot="0">
              <a:off x="0" y="0"/>
              <a:ext cx="6451346" cy="3048000"/>
            </a:xfrm>
            <a:custGeom>
              <a:avLst/>
              <a:gdLst/>
              <a:ahLst/>
              <a:cxnLst/>
              <a:rect r="r" b="b" t="t" l="l"/>
              <a:pathLst>
                <a:path h="3048000" w="6451346">
                  <a:moveTo>
                    <a:pt x="0" y="0"/>
                  </a:moveTo>
                  <a:lnTo>
                    <a:pt x="6451346" y="0"/>
                  </a:lnTo>
                  <a:lnTo>
                    <a:pt x="6451346" y="3048000"/>
                  </a:lnTo>
                  <a:lnTo>
                    <a:pt x="0" y="3048000"/>
                  </a:lnTo>
                  <a:lnTo>
                    <a:pt x="0" y="0"/>
                  </a:lnTo>
                  <a:close/>
                </a:path>
              </a:pathLst>
            </a:custGeom>
            <a:blipFill>
              <a:blip r:embed="rId6"/>
              <a:stretch>
                <a:fillRect l="0" t="-97" r="0" b="-97"/>
              </a:stretch>
            </a:blipFill>
          </p:spPr>
        </p:sp>
      </p:grpSp>
      <p:grpSp>
        <p:nvGrpSpPr>
          <p:cNvPr name="Group 10" id="10"/>
          <p:cNvGrpSpPr>
            <a:grpSpLocks noChangeAspect="true"/>
          </p:cNvGrpSpPr>
          <p:nvPr/>
        </p:nvGrpSpPr>
        <p:grpSpPr>
          <a:xfrm rot="0">
            <a:off x="971550" y="6043612"/>
            <a:ext cx="200025" cy="200025"/>
            <a:chOff x="0" y="0"/>
            <a:chExt cx="266700" cy="266700"/>
          </a:xfrm>
        </p:grpSpPr>
        <p:sp>
          <p:nvSpPr>
            <p:cNvPr name="Freeform 11" id="11" descr="preencoded.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6438752" y="1771650"/>
            <a:ext cx="5410275" cy="7200900"/>
            <a:chOff x="0" y="0"/>
            <a:chExt cx="7213700" cy="9601200"/>
          </a:xfrm>
        </p:grpSpPr>
        <p:sp>
          <p:nvSpPr>
            <p:cNvPr name="Freeform 13" id="13" descr="preencoded.png"/>
            <p:cNvSpPr/>
            <p:nvPr/>
          </p:nvSpPr>
          <p:spPr>
            <a:xfrm flipH="false" flipV="false" rot="0">
              <a:off x="0" y="0"/>
              <a:ext cx="7213727" cy="9601200"/>
            </a:xfrm>
            <a:custGeom>
              <a:avLst/>
              <a:gdLst/>
              <a:ahLst/>
              <a:cxnLst/>
              <a:rect r="r" b="b" t="t" l="l"/>
              <a:pathLst>
                <a:path h="9601200" w="7213727">
                  <a:moveTo>
                    <a:pt x="0" y="0"/>
                  </a:moveTo>
                  <a:lnTo>
                    <a:pt x="7213727" y="0"/>
                  </a:lnTo>
                  <a:lnTo>
                    <a:pt x="7213727" y="9601200"/>
                  </a:lnTo>
                  <a:lnTo>
                    <a:pt x="0" y="9601200"/>
                  </a:lnTo>
                  <a:lnTo>
                    <a:pt x="0" y="0"/>
                  </a:lnTo>
                  <a:close/>
                </a:path>
              </a:pathLst>
            </a:custGeom>
            <a:blipFill>
              <a:blip r:embed="rId8"/>
              <a:stretch>
                <a:fillRect l="0" t="-88" r="0" b="-88"/>
              </a:stretch>
            </a:blipFill>
          </p:spPr>
        </p:sp>
      </p:grpSp>
      <p:grpSp>
        <p:nvGrpSpPr>
          <p:cNvPr name="Group 14" id="14"/>
          <p:cNvGrpSpPr>
            <a:grpSpLocks noChangeAspect="true"/>
          </p:cNvGrpSpPr>
          <p:nvPr/>
        </p:nvGrpSpPr>
        <p:grpSpPr>
          <a:xfrm rot="0">
            <a:off x="6724502" y="2057400"/>
            <a:ext cx="342900" cy="457200"/>
            <a:chOff x="0" y="0"/>
            <a:chExt cx="457200" cy="609600"/>
          </a:xfrm>
        </p:grpSpPr>
        <p:sp>
          <p:nvSpPr>
            <p:cNvPr name="Freeform 15" id="15"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6724502" y="3886200"/>
            <a:ext cx="4838775" cy="2286000"/>
            <a:chOff x="0" y="0"/>
            <a:chExt cx="6451700" cy="3048000"/>
          </a:xfrm>
        </p:grpSpPr>
        <p:sp>
          <p:nvSpPr>
            <p:cNvPr name="Freeform 17" id="17" descr="preencoded.png"/>
            <p:cNvSpPr/>
            <p:nvPr/>
          </p:nvSpPr>
          <p:spPr>
            <a:xfrm flipH="false" flipV="false" rot="0">
              <a:off x="0" y="0"/>
              <a:ext cx="6451727" cy="3048000"/>
            </a:xfrm>
            <a:custGeom>
              <a:avLst/>
              <a:gdLst/>
              <a:ahLst/>
              <a:cxnLst/>
              <a:rect r="r" b="b" t="t" l="l"/>
              <a:pathLst>
                <a:path h="3048000" w="6451727">
                  <a:moveTo>
                    <a:pt x="0" y="0"/>
                  </a:moveTo>
                  <a:lnTo>
                    <a:pt x="6451727" y="0"/>
                  </a:lnTo>
                  <a:lnTo>
                    <a:pt x="6451727" y="3048000"/>
                  </a:lnTo>
                  <a:lnTo>
                    <a:pt x="0" y="3048000"/>
                  </a:lnTo>
                  <a:lnTo>
                    <a:pt x="0" y="0"/>
                  </a:lnTo>
                  <a:close/>
                </a:path>
              </a:pathLst>
            </a:custGeom>
            <a:blipFill>
              <a:blip r:embed="rId10"/>
              <a:stretch>
                <a:fillRect l="0" t="-99" r="0" b="-99"/>
              </a:stretch>
            </a:blipFill>
          </p:spPr>
        </p:sp>
      </p:grpSp>
      <p:grpSp>
        <p:nvGrpSpPr>
          <p:cNvPr name="Group 18" id="18"/>
          <p:cNvGrpSpPr>
            <a:grpSpLocks noChangeAspect="true"/>
          </p:cNvGrpSpPr>
          <p:nvPr/>
        </p:nvGrpSpPr>
        <p:grpSpPr>
          <a:xfrm rot="0">
            <a:off x="6724502" y="6529388"/>
            <a:ext cx="200025" cy="200025"/>
            <a:chOff x="0" y="0"/>
            <a:chExt cx="266700" cy="266700"/>
          </a:xfrm>
        </p:grpSpPr>
        <p:sp>
          <p:nvSpPr>
            <p:cNvPr name="Freeform 19" id="19" descr="preencoded.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7"/>
              <a:stretch>
                <a:fillRect l="0" t="0" r="0" b="0"/>
              </a:stretch>
            </a:blipFill>
          </p:spPr>
        </p:sp>
      </p:grpSp>
      <p:grpSp>
        <p:nvGrpSpPr>
          <p:cNvPr name="Group 20" id="20"/>
          <p:cNvGrpSpPr>
            <a:grpSpLocks noChangeAspect="true"/>
          </p:cNvGrpSpPr>
          <p:nvPr/>
        </p:nvGrpSpPr>
        <p:grpSpPr>
          <a:xfrm rot="0">
            <a:off x="12191925" y="1771650"/>
            <a:ext cx="5410052" cy="7200900"/>
            <a:chOff x="0" y="0"/>
            <a:chExt cx="7213402" cy="9601200"/>
          </a:xfrm>
        </p:grpSpPr>
        <p:sp>
          <p:nvSpPr>
            <p:cNvPr name="Freeform 21" id="21" descr="preencoded.png"/>
            <p:cNvSpPr/>
            <p:nvPr/>
          </p:nvSpPr>
          <p:spPr>
            <a:xfrm flipH="false" flipV="false" rot="0">
              <a:off x="0" y="0"/>
              <a:ext cx="7213346" cy="9601200"/>
            </a:xfrm>
            <a:custGeom>
              <a:avLst/>
              <a:gdLst/>
              <a:ahLst/>
              <a:cxnLst/>
              <a:rect r="r" b="b" t="t" l="l"/>
              <a:pathLst>
                <a:path h="9601200" w="7213346">
                  <a:moveTo>
                    <a:pt x="0" y="0"/>
                  </a:moveTo>
                  <a:lnTo>
                    <a:pt x="7213346" y="0"/>
                  </a:lnTo>
                  <a:lnTo>
                    <a:pt x="7213346" y="9601200"/>
                  </a:lnTo>
                  <a:lnTo>
                    <a:pt x="0" y="9601200"/>
                  </a:lnTo>
                  <a:lnTo>
                    <a:pt x="0" y="0"/>
                  </a:lnTo>
                  <a:close/>
                </a:path>
              </a:pathLst>
            </a:custGeom>
            <a:blipFill>
              <a:blip r:embed="rId11"/>
              <a:stretch>
                <a:fillRect l="0" t="-86" r="0" b="-86"/>
              </a:stretch>
            </a:blipFill>
          </p:spPr>
        </p:sp>
      </p:grpSp>
      <p:grpSp>
        <p:nvGrpSpPr>
          <p:cNvPr name="Group 22" id="22"/>
          <p:cNvGrpSpPr>
            <a:grpSpLocks noChangeAspect="true"/>
          </p:cNvGrpSpPr>
          <p:nvPr/>
        </p:nvGrpSpPr>
        <p:grpSpPr>
          <a:xfrm rot="0">
            <a:off x="12477675" y="2057400"/>
            <a:ext cx="342900" cy="457200"/>
            <a:chOff x="0" y="0"/>
            <a:chExt cx="457200" cy="609600"/>
          </a:xfrm>
        </p:grpSpPr>
        <p:sp>
          <p:nvSpPr>
            <p:cNvPr name="Freeform 23" id="23"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2"/>
              <a:stretch>
                <a:fillRect l="0" t="0" r="0" b="0"/>
              </a:stretch>
            </a:blipFill>
          </p:spPr>
        </p:sp>
      </p:grpSp>
      <p:grpSp>
        <p:nvGrpSpPr>
          <p:cNvPr name="Group 24" id="24"/>
          <p:cNvGrpSpPr>
            <a:grpSpLocks noChangeAspect="true"/>
          </p:cNvGrpSpPr>
          <p:nvPr/>
        </p:nvGrpSpPr>
        <p:grpSpPr>
          <a:xfrm rot="0">
            <a:off x="12477675" y="4229100"/>
            <a:ext cx="4838552" cy="2000250"/>
            <a:chOff x="0" y="0"/>
            <a:chExt cx="6451402" cy="2667000"/>
          </a:xfrm>
        </p:grpSpPr>
        <p:sp>
          <p:nvSpPr>
            <p:cNvPr name="Freeform 25" id="25" descr="preencoded.png"/>
            <p:cNvSpPr/>
            <p:nvPr/>
          </p:nvSpPr>
          <p:spPr>
            <a:xfrm flipH="false" flipV="false" rot="0">
              <a:off x="0" y="0"/>
              <a:ext cx="6451346" cy="2667000"/>
            </a:xfrm>
            <a:custGeom>
              <a:avLst/>
              <a:gdLst/>
              <a:ahLst/>
              <a:cxnLst/>
              <a:rect r="r" b="b" t="t" l="l"/>
              <a:pathLst>
                <a:path h="2667000" w="6451346">
                  <a:moveTo>
                    <a:pt x="0" y="0"/>
                  </a:moveTo>
                  <a:lnTo>
                    <a:pt x="6451346" y="0"/>
                  </a:lnTo>
                  <a:lnTo>
                    <a:pt x="6451346" y="2667000"/>
                  </a:lnTo>
                  <a:lnTo>
                    <a:pt x="0" y="2667000"/>
                  </a:lnTo>
                  <a:lnTo>
                    <a:pt x="0" y="0"/>
                  </a:lnTo>
                  <a:close/>
                </a:path>
              </a:pathLst>
            </a:custGeom>
            <a:blipFill>
              <a:blip r:embed="rId13"/>
              <a:stretch>
                <a:fillRect l="0" t="-97" r="0" b="-97"/>
              </a:stretch>
            </a:blipFill>
          </p:spPr>
        </p:sp>
      </p:grpSp>
      <p:grpSp>
        <p:nvGrpSpPr>
          <p:cNvPr name="Group 26" id="26"/>
          <p:cNvGrpSpPr>
            <a:grpSpLocks noChangeAspect="true"/>
          </p:cNvGrpSpPr>
          <p:nvPr/>
        </p:nvGrpSpPr>
        <p:grpSpPr>
          <a:xfrm rot="0">
            <a:off x="12477675" y="6586538"/>
            <a:ext cx="200025" cy="200025"/>
            <a:chOff x="0" y="0"/>
            <a:chExt cx="266700" cy="266700"/>
          </a:xfrm>
        </p:grpSpPr>
        <p:sp>
          <p:nvSpPr>
            <p:cNvPr name="Freeform 27" id="27" descr="preencoded.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7"/>
              <a:stretch>
                <a:fillRect l="0" t="0" r="0" b="0"/>
              </a:stretch>
            </a:blipFill>
          </p:spPr>
        </p:sp>
      </p:grpSp>
      <p:grpSp>
        <p:nvGrpSpPr>
          <p:cNvPr name="Group 28" id="28"/>
          <p:cNvGrpSpPr>
            <a:grpSpLocks noChangeAspect="true"/>
          </p:cNvGrpSpPr>
          <p:nvPr/>
        </p:nvGrpSpPr>
        <p:grpSpPr>
          <a:xfrm rot="0">
            <a:off x="685800" y="9358312"/>
            <a:ext cx="200025" cy="200025"/>
            <a:chOff x="0" y="0"/>
            <a:chExt cx="266700" cy="266700"/>
          </a:xfrm>
        </p:grpSpPr>
        <p:sp>
          <p:nvSpPr>
            <p:cNvPr name="Freeform 29" id="29" descr="preencoded.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14"/>
              <a:stretch>
                <a:fillRect l="0" t="0" r="0" b="0"/>
              </a:stretch>
            </a:blipFill>
          </p:spPr>
        </p:sp>
      </p:grpSp>
      <p:sp>
        <p:nvSpPr>
          <p:cNvPr name="TextBox 30" id="30"/>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Types de Données Essentiels</a:t>
            </a:r>
          </a:p>
        </p:txBody>
      </p:sp>
      <p:sp>
        <p:nvSpPr>
          <p:cNvPr name="TextBox 31" id="31"/>
          <p:cNvSpPr txBox="true"/>
          <p:nvPr/>
        </p:nvSpPr>
        <p:spPr>
          <a:xfrm rot="0">
            <a:off x="1485900" y="2000250"/>
            <a:ext cx="1368921"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Listes</a:t>
            </a:r>
          </a:p>
        </p:txBody>
      </p:sp>
      <p:sp>
        <p:nvSpPr>
          <p:cNvPr name="TextBox 32" id="32"/>
          <p:cNvSpPr txBox="true"/>
          <p:nvPr/>
        </p:nvSpPr>
        <p:spPr>
          <a:xfrm rot="0">
            <a:off x="971550" y="2609850"/>
            <a:ext cx="4838552"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Collections ordonnées et modifiables d'éléments de types différents.</a:t>
            </a:r>
          </a:p>
        </p:txBody>
      </p:sp>
      <p:sp>
        <p:nvSpPr>
          <p:cNvPr name="TextBox 33" id="33"/>
          <p:cNvSpPr txBox="true"/>
          <p:nvPr/>
        </p:nvSpPr>
        <p:spPr>
          <a:xfrm rot="0">
            <a:off x="1114425" y="3505200"/>
            <a:ext cx="4838552" cy="170688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Exemple de liste</a:t>
            </a:r>
          </a:p>
          <a:p>
            <a:pPr algn="l">
              <a:lnSpc>
                <a:spcPts val="2250"/>
              </a:lnSpc>
            </a:pPr>
            <a:r>
              <a:rPr lang="en-US" sz="1575" b="true">
                <a:solidFill>
                  <a:srgbClr val="FF9100"/>
                </a:solidFill>
                <a:latin typeface="Courier New Bold"/>
                <a:ea typeface="Courier New Bold"/>
                <a:cs typeface="Courier New Bold"/>
                <a:sym typeface="Courier New Bold"/>
              </a:rPr>
              <a:t>ma_liste </a:t>
            </a:r>
            <a:r>
              <a:rPr lang="en-US" sz="1575">
                <a:solidFill>
                  <a:srgbClr val="333333"/>
                </a:solidFill>
                <a:latin typeface="Courier New"/>
                <a:ea typeface="Courier New"/>
                <a:cs typeface="Courier New"/>
                <a:sym typeface="Courier New"/>
              </a:rPr>
              <a:t>= [ </a:t>
            </a:r>
            <a:r>
              <a:rPr lang="en-US" sz="1575">
                <a:solidFill>
                  <a:srgbClr val="BD93F9"/>
                </a:solidFill>
                <a:latin typeface="Courier New"/>
                <a:ea typeface="Courier New"/>
                <a:cs typeface="Courier New"/>
                <a:sym typeface="Courier New"/>
              </a:rPr>
              <a:t>1 </a:t>
            </a:r>
            <a:r>
              <a:rPr lang="en-US" sz="1575">
                <a:solidFill>
                  <a:srgbClr val="333333"/>
                </a:solidFill>
                <a:latin typeface="Courier New"/>
                <a:ea typeface="Courier New"/>
                <a:cs typeface="Courier New"/>
                <a:sym typeface="Courier New"/>
              </a:rPr>
              <a:t>, </a:t>
            </a:r>
            <a:r>
              <a:rPr lang="en-US" sz="1575">
                <a:solidFill>
                  <a:srgbClr val="16A34A"/>
                </a:solidFill>
                <a:latin typeface="Courier New"/>
                <a:ea typeface="Courier New"/>
                <a:cs typeface="Courier New"/>
                <a:sym typeface="Courier New"/>
              </a:rPr>
              <a:t>"pomme"</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3.14 </a:t>
            </a:r>
            <a:r>
              <a:rPr lang="en-US" sz="1575">
                <a:solidFill>
                  <a:srgbClr val="333333"/>
                </a:solidFill>
                <a:latin typeface="Courier New"/>
                <a:ea typeface="Courier New"/>
                <a:cs typeface="Courier New"/>
                <a:sym typeface="Courier New"/>
              </a:rPr>
              <a:t>, </a:t>
            </a:r>
            <a:r>
              <a:rPr lang="en-US" sz="1575" b="true">
                <a:solidFill>
                  <a:srgbClr val="FF9100"/>
                </a:solidFill>
                <a:latin typeface="Courier New Bold"/>
                <a:ea typeface="Courier New Bold"/>
                <a:cs typeface="Courier New Bold"/>
                <a:sym typeface="Courier New Bold"/>
              </a:rPr>
              <a:t>True </a:t>
            </a:r>
            <a:r>
              <a:rPr lang="en-US" sz="1575">
                <a:solidFill>
                  <a:srgbClr val="333333"/>
                </a:solidFill>
                <a:latin typeface="Courier New"/>
                <a:ea typeface="Courier New"/>
                <a:cs typeface="Courier New"/>
                <a:sym typeface="Courier New"/>
              </a:rPr>
              <a:t>]</a:t>
            </a:r>
          </a:p>
          <a:p>
            <a:pPr algn="l">
              <a:lnSpc>
                <a:spcPts val="2250"/>
              </a:lnSpc>
            </a:pPr>
            <a:r>
              <a:rPr lang="en-US" sz="1575" b="true">
                <a:solidFill>
                  <a:srgbClr val="FF9100"/>
                </a:solidFill>
                <a:latin typeface="Courier New Bold"/>
                <a:ea typeface="Courier New Bold"/>
                <a:cs typeface="Courier New Bold"/>
                <a:sym typeface="Courier New Bold"/>
              </a:rPr>
              <a:t>print </a:t>
            </a:r>
            <a:r>
              <a:rPr lang="en-US" sz="1575">
                <a:solidFill>
                  <a:srgbClr val="333333"/>
                </a:solidFill>
                <a:latin typeface="Courier New"/>
                <a:ea typeface="Courier New"/>
                <a:cs typeface="Courier New"/>
                <a:sym typeface="Courier New"/>
              </a:rPr>
              <a:t>(ma_liste[ </a:t>
            </a:r>
            <a:r>
              <a:rPr lang="en-US" sz="1575">
                <a:solidFill>
                  <a:srgbClr val="BD93F9"/>
                </a:solidFill>
                <a:latin typeface="Courier New"/>
                <a:ea typeface="Courier New"/>
                <a:cs typeface="Courier New"/>
                <a:sym typeface="Courier New"/>
              </a:rPr>
              <a:t>1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Accéder à un élément</a:t>
            </a:r>
          </a:p>
          <a:p>
            <a:pPr algn="l">
              <a:lnSpc>
                <a:spcPts val="2250"/>
              </a:lnSpc>
            </a:pPr>
            <a:r>
              <a:rPr lang="en-US" sz="1575">
                <a:solidFill>
                  <a:srgbClr val="333333"/>
                </a:solidFill>
                <a:latin typeface="Courier New"/>
                <a:ea typeface="Courier New"/>
                <a:cs typeface="Courier New"/>
                <a:sym typeface="Courier New"/>
              </a:rPr>
              <a:t>ma_liste. </a:t>
            </a:r>
            <a:r>
              <a:rPr lang="en-US" sz="1575" b="true">
                <a:solidFill>
                  <a:srgbClr val="FF9100"/>
                </a:solidFill>
                <a:latin typeface="Courier New Bold"/>
                <a:ea typeface="Courier New Bold"/>
                <a:cs typeface="Courier New Bold"/>
                <a:sym typeface="Courier New Bold"/>
              </a:rPr>
              <a:t>append </a:t>
            </a:r>
            <a:r>
              <a:rPr lang="en-US" sz="1575">
                <a:solidFill>
                  <a:srgbClr val="333333"/>
                </a:solidFill>
                <a:latin typeface="Courier New"/>
                <a:ea typeface="Courier New"/>
                <a:cs typeface="Courier New"/>
                <a:sym typeface="Courier New"/>
              </a:rPr>
              <a:t>( </a:t>
            </a:r>
            <a:r>
              <a:rPr lang="en-US" sz="1575">
                <a:solidFill>
                  <a:srgbClr val="16A34A"/>
                </a:solidFill>
                <a:latin typeface="Courier New"/>
                <a:ea typeface="Courier New"/>
                <a:cs typeface="Courier New"/>
                <a:sym typeface="Courier New"/>
              </a:rPr>
              <a:t>"orange"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Ajouter un élément</a:t>
            </a:r>
          </a:p>
        </p:txBody>
      </p:sp>
      <p:sp>
        <p:nvSpPr>
          <p:cNvPr name="TextBox 34" id="34"/>
          <p:cNvSpPr txBox="true"/>
          <p:nvPr/>
        </p:nvSpPr>
        <p:spPr>
          <a:xfrm rot="0">
            <a:off x="1285875" y="5953125"/>
            <a:ext cx="5353526" cy="333375"/>
          </a:xfrm>
          <a:prstGeom prst="rect">
            <a:avLst/>
          </a:prstGeom>
        </p:spPr>
        <p:txBody>
          <a:bodyPr anchor="t" rtlCol="false" tIns="0" lIns="0" bIns="0" rIns="0">
            <a:spAutoFit/>
          </a:bodyPr>
          <a:lstStyle/>
          <a:p>
            <a:pPr algn="l">
              <a:lnSpc>
                <a:spcPts val="2250"/>
              </a:lnSpc>
            </a:pPr>
            <a:r>
              <a:rPr lang="en-US" sz="1575">
                <a:solidFill>
                  <a:srgbClr val="4B5563"/>
                </a:solidFill>
                <a:latin typeface="Arimo"/>
                <a:ea typeface="Arimo"/>
                <a:cs typeface="Arimo"/>
                <a:sym typeface="Arimo"/>
              </a:rPr>
              <a:t>Idéal pour stocker des séquences de valeurs</a:t>
            </a:r>
          </a:p>
        </p:txBody>
      </p:sp>
      <p:sp>
        <p:nvSpPr>
          <p:cNvPr name="TextBox 35" id="35"/>
          <p:cNvSpPr txBox="true"/>
          <p:nvPr/>
        </p:nvSpPr>
        <p:spPr>
          <a:xfrm rot="0">
            <a:off x="7238852" y="2000250"/>
            <a:ext cx="3078599"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Dictionnaires</a:t>
            </a:r>
          </a:p>
        </p:txBody>
      </p:sp>
      <p:sp>
        <p:nvSpPr>
          <p:cNvPr name="TextBox 36" id="36"/>
          <p:cNvSpPr txBox="true"/>
          <p:nvPr/>
        </p:nvSpPr>
        <p:spPr>
          <a:xfrm rot="0">
            <a:off x="6724502" y="2609850"/>
            <a:ext cx="4838775" cy="11049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Stockent des données sous forme de paires clé-valeur. Les clés doivent être uniques et immuables.</a:t>
            </a:r>
          </a:p>
        </p:txBody>
      </p:sp>
      <p:sp>
        <p:nvSpPr>
          <p:cNvPr name="TextBox 37" id="37"/>
          <p:cNvSpPr txBox="true"/>
          <p:nvPr/>
        </p:nvSpPr>
        <p:spPr>
          <a:xfrm rot="0">
            <a:off x="6867377" y="3848100"/>
            <a:ext cx="4838775" cy="199263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Exemple de dictionnaire</a:t>
            </a:r>
          </a:p>
          <a:p>
            <a:pPr algn="l">
              <a:lnSpc>
                <a:spcPts val="2250"/>
              </a:lnSpc>
            </a:pPr>
            <a:r>
              <a:rPr lang="en-US" sz="1575" b="true">
                <a:solidFill>
                  <a:srgbClr val="FF9100"/>
                </a:solidFill>
                <a:latin typeface="Courier New Bold"/>
                <a:ea typeface="Courier New Bold"/>
                <a:cs typeface="Courier New Bold"/>
                <a:sym typeface="Courier New Bold"/>
              </a:rPr>
              <a:t>mon_dictionnaire </a:t>
            </a:r>
            <a:r>
              <a:rPr lang="en-US" sz="1575">
                <a:solidFill>
                  <a:srgbClr val="333333"/>
                </a:solidFill>
                <a:latin typeface="Courier New"/>
                <a:ea typeface="Courier New"/>
                <a:cs typeface="Courier New"/>
                <a:sym typeface="Courier New"/>
              </a:rPr>
              <a:t>= { </a:t>
            </a:r>
            <a:r>
              <a:rPr lang="en-US" sz="1575">
                <a:solidFill>
                  <a:srgbClr val="16A34A"/>
                </a:solidFill>
                <a:latin typeface="Courier New"/>
                <a:ea typeface="Courier New"/>
                <a:cs typeface="Courier New"/>
                <a:sym typeface="Courier New"/>
              </a:rPr>
              <a:t>"nom"</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16A34A"/>
                </a:solidFill>
                <a:latin typeface="Courier New"/>
                <a:ea typeface="Courier New"/>
                <a:cs typeface="Courier New"/>
                <a:sym typeface="Courier New"/>
              </a:rPr>
              <a:t>"Alice" </a:t>
            </a:r>
            <a:r>
              <a:rPr lang="en-US" sz="1575">
                <a:solidFill>
                  <a:srgbClr val="333333"/>
                </a:solidFill>
                <a:latin typeface="Courier New"/>
                <a:ea typeface="Courier New"/>
                <a:cs typeface="Courier New"/>
                <a:sym typeface="Courier New"/>
              </a:rPr>
              <a:t>, </a:t>
            </a:r>
            <a:r>
              <a:rPr lang="en-US" sz="1575">
                <a:solidFill>
                  <a:srgbClr val="16A34A"/>
                </a:solidFill>
                <a:latin typeface="Courier New"/>
                <a:ea typeface="Courier New"/>
                <a:cs typeface="Courier New"/>
                <a:sym typeface="Courier New"/>
              </a:rPr>
              <a:t>"age"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30 </a:t>
            </a:r>
            <a:r>
              <a:rPr lang="en-US" sz="1575">
                <a:solidFill>
                  <a:srgbClr val="333333"/>
                </a:solidFill>
                <a:latin typeface="Courier New"/>
                <a:ea typeface="Courier New"/>
                <a:cs typeface="Courier New"/>
                <a:sym typeface="Courier New"/>
              </a:rPr>
              <a:t>}</a:t>
            </a:r>
          </a:p>
          <a:p>
            <a:pPr algn="l">
              <a:lnSpc>
                <a:spcPts val="2250"/>
              </a:lnSpc>
            </a:pPr>
            <a:r>
              <a:rPr lang="en-US" sz="1575" b="true">
                <a:solidFill>
                  <a:srgbClr val="FF9100"/>
                </a:solidFill>
                <a:latin typeface="Courier New Bold"/>
                <a:ea typeface="Courier New Bold"/>
                <a:cs typeface="Courier New Bold"/>
                <a:sym typeface="Courier New Bold"/>
              </a:rPr>
              <a:t>print </a:t>
            </a:r>
            <a:r>
              <a:rPr lang="en-US" sz="1575">
                <a:solidFill>
                  <a:srgbClr val="333333"/>
                </a:solidFill>
                <a:latin typeface="Courier New"/>
                <a:ea typeface="Courier New"/>
                <a:cs typeface="Courier New"/>
                <a:sym typeface="Courier New"/>
              </a:rPr>
              <a:t>(mon_dictionnaire[</a:t>
            </a:r>
            <a:r>
              <a:rPr lang="en-US" sz="1575">
                <a:solidFill>
                  <a:srgbClr val="16A34A"/>
                </a:solidFill>
                <a:latin typeface="Courier New"/>
                <a:ea typeface="Courier New"/>
                <a:cs typeface="Courier New"/>
                <a:sym typeface="Courier New"/>
              </a:rPr>
              <a:t> "nom"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Accéder à une valeur</a:t>
            </a:r>
          </a:p>
          <a:p>
            <a:pPr algn="l">
              <a:lnSpc>
                <a:spcPts val="2250"/>
              </a:lnSpc>
            </a:pPr>
            <a:r>
              <a:rPr lang="en-US" sz="1575">
                <a:solidFill>
                  <a:srgbClr val="333333"/>
                </a:solidFill>
                <a:latin typeface="Courier New"/>
                <a:ea typeface="Courier New"/>
                <a:cs typeface="Courier New"/>
                <a:sym typeface="Courier New"/>
              </a:rPr>
              <a:t>mon_dictionnaire[</a:t>
            </a:r>
            <a:r>
              <a:rPr lang="en-US" sz="1575">
                <a:solidFill>
                  <a:srgbClr val="16A34A"/>
                </a:solidFill>
                <a:latin typeface="Courier New"/>
                <a:ea typeface="Courier New"/>
                <a:cs typeface="Courier New"/>
                <a:sym typeface="Courier New"/>
              </a:rPr>
              <a:t> "age" </a:t>
            </a:r>
            <a:r>
              <a:rPr lang="en-US" sz="1575">
                <a:solidFill>
                  <a:srgbClr val="333333"/>
                </a:solidFill>
                <a:latin typeface="Courier New"/>
                <a:ea typeface="Courier New"/>
                <a:cs typeface="Courier New"/>
                <a:sym typeface="Courier New"/>
              </a:rPr>
              <a:t>] = </a:t>
            </a:r>
            <a:r>
              <a:rPr lang="en-US" sz="1575">
                <a:solidFill>
                  <a:srgbClr val="BD93F9"/>
                </a:solidFill>
                <a:latin typeface="Courier New"/>
                <a:ea typeface="Courier New"/>
                <a:cs typeface="Courier New"/>
                <a:sym typeface="Courier New"/>
              </a:rPr>
              <a:t>31 </a:t>
            </a:r>
            <a:r>
              <a:rPr lang="en-US" sz="1575">
                <a:solidFill>
                  <a:srgbClr val="6272A4"/>
                </a:solidFill>
                <a:latin typeface="Courier New"/>
                <a:ea typeface="Courier New"/>
                <a:cs typeface="Courier New"/>
                <a:sym typeface="Courier New"/>
              </a:rPr>
              <a:t># Modifier une valeur</a:t>
            </a:r>
          </a:p>
        </p:txBody>
      </p:sp>
      <p:sp>
        <p:nvSpPr>
          <p:cNvPr name="TextBox 38" id="38"/>
          <p:cNvSpPr txBox="true"/>
          <p:nvPr/>
        </p:nvSpPr>
        <p:spPr>
          <a:xfrm rot="0">
            <a:off x="7038827" y="6296025"/>
            <a:ext cx="4524450" cy="619125"/>
          </a:xfrm>
          <a:prstGeom prst="rect">
            <a:avLst/>
          </a:prstGeom>
        </p:spPr>
        <p:txBody>
          <a:bodyPr anchor="t" rtlCol="false" tIns="0" lIns="0" bIns="0" rIns="0">
            <a:spAutoFit/>
          </a:bodyPr>
          <a:lstStyle/>
          <a:p>
            <a:pPr algn="l">
              <a:lnSpc>
                <a:spcPts val="2250"/>
              </a:lnSpc>
            </a:pPr>
            <a:r>
              <a:rPr lang="en-US" sz="1575">
                <a:solidFill>
                  <a:srgbClr val="4B5563"/>
                </a:solidFill>
                <a:latin typeface="Arimo"/>
                <a:ea typeface="Arimo"/>
                <a:cs typeface="Arimo"/>
                <a:sym typeface="Arimo"/>
              </a:rPr>
              <a:t>Parfait pour représenter des données structurées</a:t>
            </a:r>
          </a:p>
        </p:txBody>
      </p:sp>
      <p:sp>
        <p:nvSpPr>
          <p:cNvPr name="TextBox 39" id="39"/>
          <p:cNvSpPr txBox="true"/>
          <p:nvPr/>
        </p:nvSpPr>
        <p:spPr>
          <a:xfrm rot="0">
            <a:off x="12992025" y="2000250"/>
            <a:ext cx="384289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Tableaux NumPy</a:t>
            </a:r>
          </a:p>
        </p:txBody>
      </p:sp>
      <p:sp>
        <p:nvSpPr>
          <p:cNvPr name="TextBox 40" id="40"/>
          <p:cNvSpPr txBox="true"/>
          <p:nvPr/>
        </p:nvSpPr>
        <p:spPr>
          <a:xfrm rot="0">
            <a:off x="12477675" y="2609850"/>
            <a:ext cx="4838552" cy="14478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Structures de données pour stocker des tableaux multidimensionnels d'éléments de même type, optimisés pour les opérations numériques.</a:t>
            </a:r>
          </a:p>
        </p:txBody>
      </p:sp>
      <p:sp>
        <p:nvSpPr>
          <p:cNvPr name="TextBox 41" id="41"/>
          <p:cNvSpPr txBox="true"/>
          <p:nvPr/>
        </p:nvSpPr>
        <p:spPr>
          <a:xfrm rot="0">
            <a:off x="12620550" y="4191000"/>
            <a:ext cx="4838552" cy="203835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Exemple de tableau NumPy</a:t>
            </a:r>
          </a:p>
          <a:p>
            <a:pPr algn="l">
              <a:lnSpc>
                <a:spcPts val="2250"/>
              </a:lnSpc>
            </a:pPr>
            <a:r>
              <a:rPr lang="en-US" sz="1575" b="true">
                <a:solidFill>
                  <a:srgbClr val="FF9100"/>
                </a:solidFill>
                <a:latin typeface="Courier New Bold"/>
                <a:ea typeface="Courier New Bold"/>
                <a:cs typeface="Courier New Bold"/>
                <a:sym typeface="Courier New Bold"/>
              </a:rPr>
              <a:t>import </a:t>
            </a:r>
            <a:r>
              <a:rPr lang="en-US" sz="1575">
                <a:solidFill>
                  <a:srgbClr val="333333"/>
                </a:solidFill>
                <a:latin typeface="Courier New"/>
                <a:ea typeface="Courier New"/>
                <a:cs typeface="Courier New"/>
                <a:sym typeface="Courier New"/>
              </a:rPr>
              <a:t>numpy </a:t>
            </a:r>
            <a:r>
              <a:rPr lang="en-US" sz="1575" b="true">
                <a:solidFill>
                  <a:srgbClr val="FF9100"/>
                </a:solidFill>
                <a:latin typeface="Courier New Bold"/>
                <a:ea typeface="Courier New Bold"/>
                <a:cs typeface="Courier New Bold"/>
                <a:sym typeface="Courier New Bold"/>
              </a:rPr>
              <a:t>as </a:t>
            </a:r>
            <a:r>
              <a:rPr lang="en-US" sz="1575">
                <a:solidFill>
                  <a:srgbClr val="333333"/>
                </a:solidFill>
                <a:latin typeface="Courier New"/>
                <a:ea typeface="Courier New"/>
                <a:cs typeface="Courier New"/>
                <a:sym typeface="Courier New"/>
              </a:rPr>
              <a:t>np</a:t>
            </a:r>
          </a:p>
          <a:p>
            <a:pPr algn="l">
              <a:lnSpc>
                <a:spcPts val="2250"/>
              </a:lnSpc>
            </a:pPr>
            <a:r>
              <a:rPr lang="en-US" sz="1575" b="true">
                <a:solidFill>
                  <a:srgbClr val="FF9100"/>
                </a:solidFill>
                <a:latin typeface="Courier New Bold"/>
                <a:ea typeface="Courier New Bold"/>
                <a:cs typeface="Courier New Bold"/>
                <a:sym typeface="Courier New Bold"/>
              </a:rPr>
              <a:t>mon_tableau </a:t>
            </a:r>
            <a:r>
              <a:rPr lang="en-US" sz="1575">
                <a:solidFill>
                  <a:srgbClr val="333333"/>
                </a:solidFill>
                <a:latin typeface="Courier New"/>
                <a:ea typeface="Courier New"/>
                <a:cs typeface="Courier New"/>
                <a:sym typeface="Courier New"/>
              </a:rPr>
              <a:t>= np. </a:t>
            </a:r>
            <a:r>
              <a:rPr lang="en-US" sz="1575" b="true">
                <a:solidFill>
                  <a:srgbClr val="FF9100"/>
                </a:solidFill>
                <a:latin typeface="Courier New Bold"/>
                <a:ea typeface="Courier New Bold"/>
                <a:cs typeface="Courier New Bold"/>
                <a:sym typeface="Courier New Bold"/>
              </a:rPr>
              <a:t>array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1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2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3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4 </a:t>
            </a:r>
            <a:r>
              <a:rPr lang="en-US" sz="1575">
                <a:solidFill>
                  <a:srgbClr val="333333"/>
                </a:solidFill>
                <a:latin typeface="Courier New"/>
                <a:ea typeface="Courier New"/>
                <a:cs typeface="Courier New"/>
                <a:sym typeface="Courier New"/>
              </a:rPr>
              <a:t>, </a:t>
            </a:r>
            <a:r>
              <a:rPr lang="en-US" sz="1575">
                <a:solidFill>
                  <a:srgbClr val="BD93F9"/>
                </a:solidFill>
                <a:latin typeface="Courier New"/>
                <a:ea typeface="Courier New"/>
                <a:cs typeface="Courier New"/>
                <a:sym typeface="Courier New"/>
              </a:rPr>
              <a:t>5 </a:t>
            </a:r>
            <a:r>
              <a:rPr lang="en-US" sz="1575">
                <a:solidFill>
                  <a:srgbClr val="333333"/>
                </a:solidFill>
                <a:latin typeface="Courier New"/>
                <a:ea typeface="Courier New"/>
                <a:cs typeface="Courier New"/>
                <a:sym typeface="Courier New"/>
              </a:rPr>
              <a:t>])</a:t>
            </a:r>
          </a:p>
          <a:p>
            <a:pPr algn="l">
              <a:lnSpc>
                <a:spcPts val="2250"/>
              </a:lnSpc>
            </a:pPr>
            <a:r>
              <a:rPr lang="en-US" sz="1575" b="true">
                <a:solidFill>
                  <a:srgbClr val="FF9100"/>
                </a:solidFill>
                <a:latin typeface="Courier New Bold"/>
                <a:ea typeface="Courier New Bold"/>
                <a:cs typeface="Courier New Bold"/>
                <a:sym typeface="Courier New Bold"/>
              </a:rPr>
              <a:t>print </a:t>
            </a:r>
            <a:r>
              <a:rPr lang="en-US" sz="1575">
                <a:solidFill>
                  <a:srgbClr val="333333"/>
                </a:solidFill>
                <a:latin typeface="Courier New"/>
                <a:ea typeface="Courier New"/>
                <a:cs typeface="Courier New"/>
                <a:sym typeface="Courier New"/>
              </a:rPr>
              <a:t>(mon_tableau * </a:t>
            </a:r>
            <a:r>
              <a:rPr lang="en-US" sz="1575">
                <a:solidFill>
                  <a:srgbClr val="BD93F9"/>
                </a:solidFill>
                <a:latin typeface="Courier New"/>
                <a:ea typeface="Courier New"/>
                <a:cs typeface="Courier New"/>
                <a:sym typeface="Courier New"/>
              </a:rPr>
              <a:t>2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Opération vectorisée</a:t>
            </a:r>
          </a:p>
        </p:txBody>
      </p:sp>
      <p:sp>
        <p:nvSpPr>
          <p:cNvPr name="TextBox 42" id="42"/>
          <p:cNvSpPr txBox="true"/>
          <p:nvPr/>
        </p:nvSpPr>
        <p:spPr>
          <a:xfrm rot="0">
            <a:off x="12792000" y="6353175"/>
            <a:ext cx="4524227" cy="619125"/>
          </a:xfrm>
          <a:prstGeom prst="rect">
            <a:avLst/>
          </a:prstGeom>
        </p:spPr>
        <p:txBody>
          <a:bodyPr anchor="t" rtlCol="false" tIns="0" lIns="0" bIns="0" rIns="0">
            <a:spAutoFit/>
          </a:bodyPr>
          <a:lstStyle/>
          <a:p>
            <a:pPr algn="l">
              <a:lnSpc>
                <a:spcPts val="2250"/>
              </a:lnSpc>
            </a:pPr>
            <a:r>
              <a:rPr lang="en-US" sz="1575">
                <a:solidFill>
                  <a:srgbClr val="4B5563"/>
                </a:solidFill>
                <a:latin typeface="Arimo"/>
                <a:ea typeface="Arimo"/>
                <a:cs typeface="Arimo"/>
                <a:sym typeface="Arimo"/>
              </a:rPr>
              <a:t>Essentiel pour les calculs mathématiques à grande échelle</a:t>
            </a:r>
          </a:p>
        </p:txBody>
      </p:sp>
      <p:sp>
        <p:nvSpPr>
          <p:cNvPr name="TextBox 43" id="43"/>
          <p:cNvSpPr txBox="true"/>
          <p:nvPr/>
        </p:nvSpPr>
        <p:spPr>
          <a:xfrm rot="0">
            <a:off x="1000125" y="9267825"/>
            <a:ext cx="13085118"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Les tableaux NumPy offrent des performances supérieures aux listes Python pour les opérations numériques</a:t>
            </a:r>
          </a:p>
        </p:txBody>
      </p:sp>
      <p:sp>
        <p:nvSpPr>
          <p:cNvPr name="TextBox 44" id="44"/>
          <p:cNvSpPr txBox="true"/>
          <p:nvPr/>
        </p:nvSpPr>
        <p:spPr>
          <a:xfrm rot="0">
            <a:off x="16232163" y="9267825"/>
            <a:ext cx="1644045"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6 sur 15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a:grpSpLocks noChangeAspect="true"/>
          </p:cNvGrpSpPr>
          <p:nvPr/>
        </p:nvGrpSpPr>
        <p:grpSpPr>
          <a:xfrm rot="0">
            <a:off x="0" y="0"/>
            <a:ext cx="18288000" cy="10287000"/>
            <a:chOff x="0" y="0"/>
            <a:chExt cx="24384000" cy="13716000"/>
          </a:xfrm>
        </p:grpSpPr>
        <p:sp>
          <p:nvSpPr>
            <p:cNvPr name="Freeform 4" id="4"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5" id="5"/>
          <p:cNvGrpSpPr>
            <a:grpSpLocks noChangeAspect="true"/>
          </p:cNvGrpSpPr>
          <p:nvPr/>
        </p:nvGrpSpPr>
        <p:grpSpPr>
          <a:xfrm rot="0">
            <a:off x="685800" y="1571625"/>
            <a:ext cx="1143000" cy="57150"/>
            <a:chOff x="0" y="0"/>
            <a:chExt cx="1524000" cy="76200"/>
          </a:xfrm>
        </p:grpSpPr>
        <p:sp>
          <p:nvSpPr>
            <p:cNvPr name="Freeform 6" id="6" descr="preencoded.png"/>
            <p:cNvSpPr/>
            <p:nvPr/>
          </p:nvSpPr>
          <p:spPr>
            <a:xfrm flipH="false" flipV="false" rot="0">
              <a:off x="0" y="0"/>
              <a:ext cx="1524000" cy="76200"/>
            </a:xfrm>
            <a:custGeom>
              <a:avLst/>
              <a:gdLst/>
              <a:ahLst/>
              <a:cxnLst/>
              <a:rect r="r" b="b" t="t" l="l"/>
              <a:pathLst>
                <a:path h="76200" w="1524000">
                  <a:moveTo>
                    <a:pt x="0" y="0"/>
                  </a:moveTo>
                  <a:lnTo>
                    <a:pt x="1524000" y="0"/>
                  </a:lnTo>
                  <a:lnTo>
                    <a:pt x="1524000" y="76200"/>
                  </a:lnTo>
                  <a:lnTo>
                    <a:pt x="0" y="76200"/>
                  </a:lnTo>
                  <a:lnTo>
                    <a:pt x="0" y="0"/>
                  </a:lnTo>
                  <a:close/>
                </a:path>
              </a:pathLst>
            </a:custGeom>
            <a:blipFill>
              <a:blip r:embed="rId4"/>
              <a:stretch>
                <a:fillRect l="0" t="0" r="0" b="0"/>
              </a:stretch>
            </a:blipFill>
          </p:spPr>
        </p:sp>
      </p:grpSp>
      <p:grpSp>
        <p:nvGrpSpPr>
          <p:cNvPr name="Group 7" id="7"/>
          <p:cNvGrpSpPr>
            <a:grpSpLocks noChangeAspect="true"/>
          </p:cNvGrpSpPr>
          <p:nvPr/>
        </p:nvGrpSpPr>
        <p:grpSpPr>
          <a:xfrm rot="0">
            <a:off x="685800" y="2171700"/>
            <a:ext cx="300038" cy="342900"/>
            <a:chOff x="0" y="0"/>
            <a:chExt cx="400050" cy="457200"/>
          </a:xfrm>
        </p:grpSpPr>
        <p:sp>
          <p:nvSpPr>
            <p:cNvPr name="Freeform 8" id="8" descr="preencoded.png"/>
            <p:cNvSpPr/>
            <p:nvPr/>
          </p:nvSpPr>
          <p:spPr>
            <a:xfrm flipH="false" flipV="false" rot="0">
              <a:off x="0" y="0"/>
              <a:ext cx="400050" cy="457200"/>
            </a:xfrm>
            <a:custGeom>
              <a:avLst/>
              <a:gdLst/>
              <a:ahLst/>
              <a:cxnLst/>
              <a:rect r="r" b="b" t="t" l="l"/>
              <a:pathLst>
                <a:path h="457200" w="400050">
                  <a:moveTo>
                    <a:pt x="0" y="0"/>
                  </a:moveTo>
                  <a:lnTo>
                    <a:pt x="400050" y="0"/>
                  </a:lnTo>
                  <a:lnTo>
                    <a:pt x="400050" y="457200"/>
                  </a:lnTo>
                  <a:lnTo>
                    <a:pt x="0" y="457200"/>
                  </a:lnTo>
                  <a:lnTo>
                    <a:pt x="0" y="0"/>
                  </a:lnTo>
                  <a:close/>
                </a:path>
              </a:pathLst>
            </a:custGeom>
            <a:blipFill>
              <a:blip r:embed="rId5"/>
              <a:stretch>
                <a:fillRect l="0" t="0" r="0" b="0"/>
              </a:stretch>
            </a:blipFill>
          </p:spPr>
        </p:sp>
      </p:grpSp>
      <p:grpSp>
        <p:nvGrpSpPr>
          <p:cNvPr name="Group 9" id="9"/>
          <p:cNvGrpSpPr>
            <a:grpSpLocks noChangeAspect="true"/>
          </p:cNvGrpSpPr>
          <p:nvPr/>
        </p:nvGrpSpPr>
        <p:grpSpPr>
          <a:xfrm rot="0">
            <a:off x="685800" y="4550569"/>
            <a:ext cx="8229600" cy="1185862"/>
            <a:chOff x="0" y="0"/>
            <a:chExt cx="10972800" cy="1581150"/>
          </a:xfrm>
        </p:grpSpPr>
        <p:sp>
          <p:nvSpPr>
            <p:cNvPr name="Freeform 10" id="10" descr="preencoded.png"/>
            <p:cNvSpPr/>
            <p:nvPr/>
          </p:nvSpPr>
          <p:spPr>
            <a:xfrm flipH="false" flipV="false" rot="0">
              <a:off x="0" y="0"/>
              <a:ext cx="10972800" cy="1581150"/>
            </a:xfrm>
            <a:custGeom>
              <a:avLst/>
              <a:gdLst/>
              <a:ahLst/>
              <a:cxnLst/>
              <a:rect r="r" b="b" t="t" l="l"/>
              <a:pathLst>
                <a:path h="1581150" w="10972800">
                  <a:moveTo>
                    <a:pt x="0" y="0"/>
                  </a:moveTo>
                  <a:lnTo>
                    <a:pt x="10972800" y="0"/>
                  </a:lnTo>
                  <a:lnTo>
                    <a:pt x="10972800" y="1581150"/>
                  </a:lnTo>
                  <a:lnTo>
                    <a:pt x="0" y="1581150"/>
                  </a:lnTo>
                  <a:lnTo>
                    <a:pt x="0" y="0"/>
                  </a:lnTo>
                  <a:close/>
                </a:path>
              </a:pathLst>
            </a:custGeom>
            <a:blipFill>
              <a:blip r:embed="rId6"/>
              <a:stretch>
                <a:fillRect l="0" t="0" r="0" b="0"/>
              </a:stretch>
            </a:blipFill>
          </p:spPr>
        </p:sp>
      </p:grpSp>
      <p:grpSp>
        <p:nvGrpSpPr>
          <p:cNvPr name="Group 11" id="11"/>
          <p:cNvGrpSpPr>
            <a:grpSpLocks noChangeAspect="true"/>
          </p:cNvGrpSpPr>
          <p:nvPr/>
        </p:nvGrpSpPr>
        <p:grpSpPr>
          <a:xfrm rot="0">
            <a:off x="685800" y="6705600"/>
            <a:ext cx="8229600" cy="2057400"/>
            <a:chOff x="0" y="0"/>
            <a:chExt cx="10972800" cy="2743200"/>
          </a:xfrm>
        </p:grpSpPr>
        <p:sp>
          <p:nvSpPr>
            <p:cNvPr name="Freeform 12" id="12" descr="preencoded.png"/>
            <p:cNvSpPr/>
            <p:nvPr/>
          </p:nvSpPr>
          <p:spPr>
            <a:xfrm flipH="false" flipV="false" rot="0">
              <a:off x="0" y="0"/>
              <a:ext cx="10972800" cy="2743200"/>
            </a:xfrm>
            <a:custGeom>
              <a:avLst/>
              <a:gdLst/>
              <a:ahLst/>
              <a:cxnLst/>
              <a:rect r="r" b="b" t="t" l="l"/>
              <a:pathLst>
                <a:path h="2743200" w="10972800">
                  <a:moveTo>
                    <a:pt x="0" y="0"/>
                  </a:moveTo>
                  <a:lnTo>
                    <a:pt x="10972800" y="0"/>
                  </a:lnTo>
                  <a:lnTo>
                    <a:pt x="10972800" y="2743200"/>
                  </a:lnTo>
                  <a:lnTo>
                    <a:pt x="0" y="2743200"/>
                  </a:lnTo>
                  <a:lnTo>
                    <a:pt x="0" y="0"/>
                  </a:lnTo>
                  <a:close/>
                </a:path>
              </a:pathLst>
            </a:custGeom>
            <a:blipFill>
              <a:blip r:embed="rId7"/>
              <a:stretch>
                <a:fillRect l="0" t="0" r="0" b="0"/>
              </a:stretch>
            </a:blipFill>
          </p:spPr>
        </p:sp>
      </p:grpSp>
      <p:grpSp>
        <p:nvGrpSpPr>
          <p:cNvPr name="Group 13" id="13"/>
          <p:cNvGrpSpPr>
            <a:grpSpLocks noChangeAspect="true"/>
          </p:cNvGrpSpPr>
          <p:nvPr/>
        </p:nvGrpSpPr>
        <p:grpSpPr>
          <a:xfrm rot="0">
            <a:off x="9372600" y="2171700"/>
            <a:ext cx="342900" cy="342900"/>
            <a:chOff x="0" y="0"/>
            <a:chExt cx="457200" cy="457200"/>
          </a:xfrm>
        </p:grpSpPr>
        <p:sp>
          <p:nvSpPr>
            <p:cNvPr name="Freeform 14" id="14"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8"/>
              <a:stretch>
                <a:fillRect l="0" t="0" r="0" b="0"/>
              </a:stretch>
            </a:blipFill>
          </p:spPr>
        </p:sp>
      </p:grpSp>
      <p:grpSp>
        <p:nvGrpSpPr>
          <p:cNvPr name="Group 15" id="15"/>
          <p:cNvGrpSpPr>
            <a:grpSpLocks noChangeAspect="true"/>
          </p:cNvGrpSpPr>
          <p:nvPr/>
        </p:nvGrpSpPr>
        <p:grpSpPr>
          <a:xfrm rot="0">
            <a:off x="9372600" y="4048125"/>
            <a:ext cx="8229600" cy="1485900"/>
            <a:chOff x="0" y="0"/>
            <a:chExt cx="10972800" cy="1981200"/>
          </a:xfrm>
        </p:grpSpPr>
        <p:sp>
          <p:nvSpPr>
            <p:cNvPr name="Freeform 16" id="16" descr="preencoded.png"/>
            <p:cNvSpPr/>
            <p:nvPr/>
          </p:nvSpPr>
          <p:spPr>
            <a:xfrm flipH="false" flipV="false" rot="0">
              <a:off x="0" y="0"/>
              <a:ext cx="10972800" cy="1981200"/>
            </a:xfrm>
            <a:custGeom>
              <a:avLst/>
              <a:gdLst/>
              <a:ahLst/>
              <a:cxnLst/>
              <a:rect r="r" b="b" t="t" l="l"/>
              <a:pathLst>
                <a:path h="1981200" w="10972800">
                  <a:moveTo>
                    <a:pt x="0" y="0"/>
                  </a:moveTo>
                  <a:lnTo>
                    <a:pt x="10972800" y="0"/>
                  </a:lnTo>
                  <a:lnTo>
                    <a:pt x="10972800" y="1981200"/>
                  </a:lnTo>
                  <a:lnTo>
                    <a:pt x="0" y="1981200"/>
                  </a:lnTo>
                  <a:lnTo>
                    <a:pt x="0" y="0"/>
                  </a:lnTo>
                  <a:close/>
                </a:path>
              </a:pathLst>
            </a:custGeom>
            <a:blipFill>
              <a:blip r:embed="rId9"/>
              <a:stretch>
                <a:fillRect l="0" t="0" r="0" b="0"/>
              </a:stretch>
            </a:blipFill>
          </p:spPr>
        </p:sp>
      </p:grpSp>
      <p:grpSp>
        <p:nvGrpSpPr>
          <p:cNvPr name="Group 17" id="17"/>
          <p:cNvGrpSpPr>
            <a:grpSpLocks noChangeAspect="true"/>
          </p:cNvGrpSpPr>
          <p:nvPr/>
        </p:nvGrpSpPr>
        <p:grpSpPr>
          <a:xfrm rot="0">
            <a:off x="9277350" y="6048375"/>
            <a:ext cx="8229600" cy="2057400"/>
            <a:chOff x="0" y="0"/>
            <a:chExt cx="10972800" cy="2743200"/>
          </a:xfrm>
        </p:grpSpPr>
        <p:sp>
          <p:nvSpPr>
            <p:cNvPr name="Freeform 18" id="18" descr="preencoded.png"/>
            <p:cNvSpPr/>
            <p:nvPr/>
          </p:nvSpPr>
          <p:spPr>
            <a:xfrm flipH="false" flipV="false" rot="0">
              <a:off x="0" y="0"/>
              <a:ext cx="10972800" cy="2743200"/>
            </a:xfrm>
            <a:custGeom>
              <a:avLst/>
              <a:gdLst/>
              <a:ahLst/>
              <a:cxnLst/>
              <a:rect r="r" b="b" t="t" l="l"/>
              <a:pathLst>
                <a:path h="2743200" w="10972800">
                  <a:moveTo>
                    <a:pt x="0" y="0"/>
                  </a:moveTo>
                  <a:lnTo>
                    <a:pt x="10972800" y="0"/>
                  </a:lnTo>
                  <a:lnTo>
                    <a:pt x="10972800" y="2743200"/>
                  </a:lnTo>
                  <a:lnTo>
                    <a:pt x="0" y="2743200"/>
                  </a:lnTo>
                  <a:lnTo>
                    <a:pt x="0" y="0"/>
                  </a:lnTo>
                  <a:close/>
                </a:path>
              </a:pathLst>
            </a:custGeom>
            <a:blipFill>
              <a:blip r:embed="rId7"/>
              <a:stretch>
                <a:fillRect l="0" t="0" r="0" b="0"/>
              </a:stretch>
            </a:blipFill>
          </p:spPr>
        </p:sp>
      </p:grpSp>
      <p:sp>
        <p:nvSpPr>
          <p:cNvPr name="TextBox 19" id="19"/>
          <p:cNvSpPr txBox="true"/>
          <p:nvPr/>
        </p:nvSpPr>
        <p:spPr>
          <a:xfrm rot="0">
            <a:off x="685800" y="552450"/>
            <a:ext cx="16916400" cy="904875"/>
          </a:xfrm>
          <a:prstGeom prst="rect">
            <a:avLst/>
          </a:prstGeom>
        </p:spPr>
        <p:txBody>
          <a:bodyPr anchor="t" rtlCol="false" tIns="0" lIns="0" bIns="0" rIns="0">
            <a:spAutoFit/>
          </a:bodyPr>
          <a:lstStyle/>
          <a:p>
            <a:pPr algn="l">
              <a:lnSpc>
                <a:spcPts val="6075"/>
              </a:lnSpc>
            </a:pPr>
            <a:r>
              <a:rPr lang="en-US" sz="4050" b="true">
                <a:solidFill>
                  <a:srgbClr val="306998"/>
                </a:solidFill>
                <a:latin typeface="Arial Bold"/>
                <a:ea typeface="Arial Bold"/>
                <a:cs typeface="Arial Bold"/>
                <a:sym typeface="Arial Bold"/>
              </a:rPr>
              <a:t>Contrôles de Flux</a:t>
            </a:r>
          </a:p>
        </p:txBody>
      </p:sp>
      <p:sp>
        <p:nvSpPr>
          <p:cNvPr name="TextBox 20" id="20"/>
          <p:cNvSpPr txBox="true"/>
          <p:nvPr/>
        </p:nvSpPr>
        <p:spPr>
          <a:xfrm rot="0">
            <a:off x="1157288" y="1990725"/>
            <a:ext cx="8229600" cy="609600"/>
          </a:xfrm>
          <a:prstGeom prst="rect">
            <a:avLst/>
          </a:prstGeom>
        </p:spPr>
        <p:txBody>
          <a:bodyPr anchor="t" rtlCol="false" tIns="0" lIns="0" bIns="0" rIns="0">
            <a:spAutoFit/>
          </a:bodyPr>
          <a:lstStyle/>
          <a:p>
            <a:pPr algn="l">
              <a:lnSpc>
                <a:spcPts val="4050"/>
              </a:lnSpc>
            </a:pPr>
            <a:r>
              <a:rPr lang="en-US" sz="2700" b="true">
                <a:solidFill>
                  <a:srgbClr val="000000"/>
                </a:solidFill>
                <a:latin typeface="Arial Bold"/>
                <a:ea typeface="Arial Bold"/>
                <a:cs typeface="Arial Bold"/>
                <a:sym typeface="Arial Bold"/>
              </a:rPr>
              <a:t>Conditions</a:t>
            </a:r>
          </a:p>
        </p:txBody>
      </p:sp>
      <p:sp>
        <p:nvSpPr>
          <p:cNvPr name="TextBox 21" id="21"/>
          <p:cNvSpPr txBox="true"/>
          <p:nvPr/>
        </p:nvSpPr>
        <p:spPr>
          <a:xfrm rot="0">
            <a:off x="685800" y="2638425"/>
            <a:ext cx="9875520" cy="419100"/>
          </a:xfrm>
          <a:prstGeom prst="rect">
            <a:avLst/>
          </a:prstGeom>
        </p:spPr>
        <p:txBody>
          <a:bodyPr anchor="t" rtlCol="false" tIns="0" lIns="0" bIns="0" rIns="0">
            <a:spAutoFit/>
          </a:bodyPr>
          <a:lstStyle/>
          <a:p>
            <a:pPr algn="l">
              <a:lnSpc>
                <a:spcPts val="2700"/>
              </a:lnSpc>
            </a:pPr>
            <a:r>
              <a:rPr lang="en-US" sz="1800">
                <a:solidFill>
                  <a:srgbClr val="374151"/>
                </a:solidFill>
                <a:latin typeface="Arial"/>
                <a:ea typeface="Arial"/>
                <a:cs typeface="Arial"/>
                <a:sym typeface="Arial"/>
              </a:rPr>
              <a:t>Permettent de prendre des décisions dans le code selon certaines conditions.</a:t>
            </a:r>
          </a:p>
        </p:txBody>
      </p:sp>
      <p:sp>
        <p:nvSpPr>
          <p:cNvPr name="TextBox 22" id="22"/>
          <p:cNvSpPr txBox="true"/>
          <p:nvPr/>
        </p:nvSpPr>
        <p:spPr>
          <a:xfrm rot="0">
            <a:off x="742950" y="3209925"/>
            <a:ext cx="9806940" cy="419100"/>
          </a:xfrm>
          <a:prstGeom prst="rect">
            <a:avLst/>
          </a:prstGeom>
        </p:spPr>
        <p:txBody>
          <a:bodyPr anchor="t" rtlCol="false" tIns="0" lIns="0" bIns="0" rIns="0">
            <a:spAutoFit/>
          </a:bodyPr>
          <a:lstStyle/>
          <a:p>
            <a:pPr algn="l" marL="325755" indent="-162878" lvl="1">
              <a:lnSpc>
                <a:spcPts val="2700"/>
              </a:lnSpc>
              <a:buFont typeface="Arial"/>
              <a:buChar char="•"/>
            </a:pPr>
            <a:r>
              <a:rPr lang="en-US" b="true" sz="1800">
                <a:solidFill>
                  <a:srgbClr val="22C55E"/>
                </a:solidFill>
                <a:latin typeface="Arial Bold"/>
                <a:ea typeface="Arial Bold"/>
                <a:cs typeface="Arial Bold"/>
                <a:sym typeface="Arial Bold"/>
              </a:rPr>
              <a:t>if</a:t>
            </a:r>
            <a:r>
              <a:rPr lang="en-US" sz="1800">
                <a:solidFill>
                  <a:srgbClr val="000000"/>
                </a:solidFill>
                <a:latin typeface="Arial"/>
                <a:ea typeface="Arial"/>
                <a:cs typeface="Arial"/>
                <a:sym typeface="Arial"/>
              </a:rPr>
              <a:t>: Exécuter un bloc si une condition est vraie</a:t>
            </a:r>
          </a:p>
        </p:txBody>
      </p:sp>
      <p:sp>
        <p:nvSpPr>
          <p:cNvPr name="TextBox 23" id="23"/>
          <p:cNvSpPr txBox="true"/>
          <p:nvPr/>
        </p:nvSpPr>
        <p:spPr>
          <a:xfrm rot="0">
            <a:off x="742950" y="3667125"/>
            <a:ext cx="9806940" cy="419100"/>
          </a:xfrm>
          <a:prstGeom prst="rect">
            <a:avLst/>
          </a:prstGeom>
        </p:spPr>
        <p:txBody>
          <a:bodyPr anchor="t" rtlCol="false" tIns="0" lIns="0" bIns="0" rIns="0">
            <a:spAutoFit/>
          </a:bodyPr>
          <a:lstStyle/>
          <a:p>
            <a:pPr algn="l" marL="325755" indent="-162878" lvl="1">
              <a:lnSpc>
                <a:spcPts val="2700"/>
              </a:lnSpc>
              <a:buFont typeface="Arial"/>
              <a:buChar char="•"/>
            </a:pPr>
            <a:r>
              <a:rPr lang="en-US" b="true" sz="1800">
                <a:solidFill>
                  <a:srgbClr val="22C55E"/>
                </a:solidFill>
                <a:latin typeface="Arial Bold"/>
                <a:ea typeface="Arial Bold"/>
                <a:cs typeface="Arial Bold"/>
                <a:sym typeface="Arial Bold"/>
              </a:rPr>
              <a:t>elif</a:t>
            </a:r>
            <a:r>
              <a:rPr lang="en-US" sz="1800">
                <a:solidFill>
                  <a:srgbClr val="000000"/>
                </a:solidFill>
                <a:latin typeface="Arial"/>
                <a:ea typeface="Arial"/>
                <a:cs typeface="Arial"/>
                <a:sym typeface="Arial"/>
              </a:rPr>
              <a:t>: Vérifier une autre condition</a:t>
            </a:r>
          </a:p>
        </p:txBody>
      </p:sp>
      <p:sp>
        <p:nvSpPr>
          <p:cNvPr name="TextBox 24" id="24"/>
          <p:cNvSpPr txBox="true"/>
          <p:nvPr/>
        </p:nvSpPr>
        <p:spPr>
          <a:xfrm rot="0">
            <a:off x="742950" y="4124325"/>
            <a:ext cx="9806940" cy="419100"/>
          </a:xfrm>
          <a:prstGeom prst="rect">
            <a:avLst/>
          </a:prstGeom>
        </p:spPr>
        <p:txBody>
          <a:bodyPr anchor="t" rtlCol="false" tIns="0" lIns="0" bIns="0" rIns="0">
            <a:spAutoFit/>
          </a:bodyPr>
          <a:lstStyle/>
          <a:p>
            <a:pPr algn="l" marL="325755" indent="-162878" lvl="1">
              <a:lnSpc>
                <a:spcPts val="2700"/>
              </a:lnSpc>
              <a:buFont typeface="Arial"/>
              <a:buChar char="•"/>
            </a:pPr>
            <a:r>
              <a:rPr lang="en-US" b="true" sz="1800">
                <a:solidFill>
                  <a:srgbClr val="22C55E"/>
                </a:solidFill>
                <a:latin typeface="Arial Bold"/>
                <a:ea typeface="Arial Bold"/>
                <a:cs typeface="Arial Bold"/>
                <a:sym typeface="Arial Bold"/>
              </a:rPr>
              <a:t>else</a:t>
            </a:r>
            <a:r>
              <a:rPr lang="en-US" sz="1800">
                <a:solidFill>
                  <a:srgbClr val="000000"/>
                </a:solidFill>
                <a:latin typeface="Arial"/>
                <a:ea typeface="Arial"/>
                <a:cs typeface="Arial"/>
                <a:sym typeface="Arial"/>
              </a:rPr>
              <a:t>: Exécuter un bloc si aucune condition n'est remplie</a:t>
            </a:r>
          </a:p>
        </p:txBody>
      </p:sp>
      <p:grpSp>
        <p:nvGrpSpPr>
          <p:cNvPr name="Group 25" id="25"/>
          <p:cNvGrpSpPr>
            <a:grpSpLocks noChangeAspect="true"/>
          </p:cNvGrpSpPr>
          <p:nvPr/>
        </p:nvGrpSpPr>
        <p:grpSpPr>
          <a:xfrm rot="0">
            <a:off x="685800" y="5721668"/>
            <a:ext cx="8229600" cy="1185862"/>
            <a:chOff x="0" y="0"/>
            <a:chExt cx="10972800" cy="1581150"/>
          </a:xfrm>
        </p:grpSpPr>
        <p:sp>
          <p:nvSpPr>
            <p:cNvPr name="Freeform 26" id="26" descr="preencoded.png"/>
            <p:cNvSpPr/>
            <p:nvPr/>
          </p:nvSpPr>
          <p:spPr>
            <a:xfrm flipH="false" flipV="false" rot="0">
              <a:off x="0" y="0"/>
              <a:ext cx="10972800" cy="1581150"/>
            </a:xfrm>
            <a:custGeom>
              <a:avLst/>
              <a:gdLst/>
              <a:ahLst/>
              <a:cxnLst/>
              <a:rect r="r" b="b" t="t" l="l"/>
              <a:pathLst>
                <a:path h="1581150" w="10972800">
                  <a:moveTo>
                    <a:pt x="0" y="0"/>
                  </a:moveTo>
                  <a:lnTo>
                    <a:pt x="10972800" y="0"/>
                  </a:lnTo>
                  <a:lnTo>
                    <a:pt x="10972800" y="1581150"/>
                  </a:lnTo>
                  <a:lnTo>
                    <a:pt x="0" y="1581150"/>
                  </a:lnTo>
                  <a:lnTo>
                    <a:pt x="0" y="0"/>
                  </a:lnTo>
                  <a:close/>
                </a:path>
              </a:pathLst>
            </a:custGeom>
            <a:blipFill>
              <a:blip r:embed="rId6"/>
              <a:stretch>
                <a:fillRect l="0" t="0" r="0" b="0"/>
              </a:stretch>
            </a:blipFill>
          </p:spPr>
        </p:sp>
      </p:grpSp>
      <p:sp>
        <p:nvSpPr>
          <p:cNvPr name="TextBox 27" id="27"/>
          <p:cNvSpPr txBox="true"/>
          <p:nvPr/>
        </p:nvSpPr>
        <p:spPr>
          <a:xfrm rot="0">
            <a:off x="835819" y="4438650"/>
            <a:ext cx="8079581" cy="2319337"/>
          </a:xfrm>
          <a:prstGeom prst="rect">
            <a:avLst/>
          </a:prstGeom>
        </p:spPr>
        <p:txBody>
          <a:bodyPr anchor="t" rtlCol="false" tIns="0" lIns="0" bIns="0" rIns="0">
            <a:spAutoFit/>
          </a:bodyPr>
          <a:lstStyle/>
          <a:p>
            <a:pPr algn="l">
              <a:lnSpc>
                <a:spcPts val="2062"/>
              </a:lnSpc>
            </a:pPr>
            <a:r>
              <a:rPr lang="en-US" sz="1375">
                <a:solidFill>
                  <a:srgbClr val="8A8A8A"/>
                </a:solidFill>
                <a:latin typeface="Arial"/>
                <a:ea typeface="Arial"/>
                <a:cs typeface="Arial"/>
                <a:sym typeface="Arial"/>
              </a:rPr>
              <a:t># Définition d'une variable</a:t>
            </a:r>
            <a:r>
              <a:rPr lang="en-US" sz="1375">
                <a:solidFill>
                  <a:srgbClr val="E6E6E6"/>
                </a:solidFill>
                <a:latin typeface="Arial"/>
                <a:ea typeface="Arial"/>
                <a:cs typeface="Arial"/>
                <a:sym typeface="Arial"/>
              </a:rPr>
              <a:t> </a:t>
            </a:r>
          </a:p>
          <a:p>
            <a:pPr algn="l">
              <a:lnSpc>
                <a:spcPts val="2062"/>
              </a:lnSpc>
            </a:pPr>
            <a:r>
              <a:rPr lang="en-US" sz="1375">
                <a:solidFill>
                  <a:srgbClr val="E6E6E6"/>
                </a:solidFill>
                <a:latin typeface="Arial"/>
                <a:ea typeface="Arial"/>
                <a:cs typeface="Arial"/>
                <a:sym typeface="Arial"/>
              </a:rPr>
              <a:t>age = 16 </a:t>
            </a:r>
          </a:p>
          <a:p>
            <a:pPr algn="l">
              <a:lnSpc>
                <a:spcPts val="2062"/>
              </a:lnSpc>
            </a:pPr>
            <a:r>
              <a:rPr lang="en-US" sz="1375">
                <a:solidFill>
                  <a:srgbClr val="8A8A8A"/>
                </a:solidFill>
                <a:latin typeface="Arial"/>
                <a:ea typeface="Arial"/>
                <a:cs typeface="Arial"/>
                <a:sym typeface="Arial"/>
              </a:rPr>
              <a:t># Structure conditionnelle</a:t>
            </a:r>
            <a:r>
              <a:rPr lang="en-US" sz="1375">
                <a:solidFill>
                  <a:srgbClr val="E6E6E6"/>
                </a:solidFill>
                <a:latin typeface="Arial"/>
                <a:ea typeface="Arial"/>
                <a:cs typeface="Arial"/>
                <a:sym typeface="Arial"/>
              </a:rPr>
              <a:t> </a:t>
            </a:r>
          </a:p>
          <a:p>
            <a:pPr algn="l">
              <a:lnSpc>
                <a:spcPts val="2062"/>
              </a:lnSpc>
            </a:pPr>
            <a:r>
              <a:rPr lang="en-US" sz="1375">
                <a:solidFill>
                  <a:srgbClr val="E6E6E6"/>
                </a:solidFill>
                <a:latin typeface="Arial"/>
                <a:ea typeface="Arial"/>
                <a:cs typeface="Arial"/>
                <a:sym typeface="Arial"/>
              </a:rPr>
              <a:t>if age &lt; 13: </a:t>
            </a:r>
          </a:p>
          <a:p>
            <a:pPr algn="l">
              <a:lnSpc>
                <a:spcPts val="2062"/>
              </a:lnSpc>
            </a:pPr>
            <a:r>
              <a:rPr lang="en-US" sz="1375">
                <a:solidFill>
                  <a:srgbClr val="E6E6E6"/>
                </a:solidFill>
                <a:latin typeface="Arial"/>
                <a:ea typeface="Arial"/>
                <a:cs typeface="Arial"/>
                <a:sym typeface="Arial"/>
              </a:rPr>
              <a:t>print("Enfant") </a:t>
            </a:r>
          </a:p>
          <a:p>
            <a:pPr algn="l">
              <a:lnSpc>
                <a:spcPts val="2062"/>
              </a:lnSpc>
            </a:pPr>
            <a:r>
              <a:rPr lang="en-US" sz="1375">
                <a:solidFill>
                  <a:srgbClr val="E6E6E6"/>
                </a:solidFill>
                <a:latin typeface="Arial"/>
                <a:ea typeface="Arial"/>
                <a:cs typeface="Arial"/>
                <a:sym typeface="Arial"/>
              </a:rPr>
              <a:t>elif age &lt; 18:</a:t>
            </a:r>
          </a:p>
          <a:p>
            <a:pPr algn="l">
              <a:lnSpc>
                <a:spcPts val="2062"/>
              </a:lnSpc>
            </a:pPr>
            <a:r>
              <a:rPr lang="en-US" sz="1375">
                <a:solidFill>
                  <a:srgbClr val="E6E6E6"/>
                </a:solidFill>
                <a:latin typeface="Arial"/>
                <a:ea typeface="Arial"/>
                <a:cs typeface="Arial"/>
                <a:sym typeface="Arial"/>
              </a:rPr>
              <a:t> print("Adolescent") </a:t>
            </a:r>
          </a:p>
          <a:p>
            <a:pPr algn="l">
              <a:lnSpc>
                <a:spcPts val="2062"/>
              </a:lnSpc>
            </a:pPr>
            <a:r>
              <a:rPr lang="en-US" sz="1375">
                <a:solidFill>
                  <a:srgbClr val="E6E6E6"/>
                </a:solidFill>
                <a:latin typeface="Arial"/>
                <a:ea typeface="Arial"/>
                <a:cs typeface="Arial"/>
                <a:sym typeface="Arial"/>
              </a:rPr>
              <a:t>else:</a:t>
            </a:r>
          </a:p>
          <a:p>
            <a:pPr algn="l">
              <a:lnSpc>
                <a:spcPts val="2062"/>
              </a:lnSpc>
            </a:pPr>
            <a:r>
              <a:rPr lang="en-US" sz="1375">
                <a:solidFill>
                  <a:srgbClr val="E6E6E6"/>
                </a:solidFill>
                <a:latin typeface="Arial"/>
                <a:ea typeface="Arial"/>
                <a:cs typeface="Arial"/>
                <a:sym typeface="Arial"/>
              </a:rPr>
              <a:t> print("Adulte")</a:t>
            </a:r>
          </a:p>
        </p:txBody>
      </p:sp>
      <p:sp>
        <p:nvSpPr>
          <p:cNvPr name="TextBox 28" id="28"/>
          <p:cNvSpPr txBox="true"/>
          <p:nvPr/>
        </p:nvSpPr>
        <p:spPr>
          <a:xfrm rot="0">
            <a:off x="914400" y="6933009"/>
            <a:ext cx="7772400"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al Bold"/>
                <a:ea typeface="Arial Bold"/>
                <a:cs typeface="Arial Bold"/>
                <a:sym typeface="Arial Bold"/>
              </a:rPr>
              <a:t>Applications en Data Science</a:t>
            </a:r>
          </a:p>
        </p:txBody>
      </p:sp>
      <p:sp>
        <p:nvSpPr>
          <p:cNvPr name="TextBox 29" id="29"/>
          <p:cNvSpPr txBox="true"/>
          <p:nvPr/>
        </p:nvSpPr>
        <p:spPr>
          <a:xfrm rot="0">
            <a:off x="914400" y="7439025"/>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Filtrage conditionnel de données</a:t>
            </a:r>
          </a:p>
        </p:txBody>
      </p:sp>
      <p:sp>
        <p:nvSpPr>
          <p:cNvPr name="TextBox 30" id="30"/>
          <p:cNvSpPr txBox="true"/>
          <p:nvPr/>
        </p:nvSpPr>
        <p:spPr>
          <a:xfrm rot="0">
            <a:off x="914400" y="7824788"/>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Traitement différent selon le type de données</a:t>
            </a:r>
          </a:p>
        </p:txBody>
      </p:sp>
      <p:sp>
        <p:nvSpPr>
          <p:cNvPr name="TextBox 31" id="31"/>
          <p:cNvSpPr txBox="true"/>
          <p:nvPr/>
        </p:nvSpPr>
        <p:spPr>
          <a:xfrm rot="0">
            <a:off x="914400" y="8191500"/>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Validations de données et corrections automatiques</a:t>
            </a:r>
          </a:p>
        </p:txBody>
      </p:sp>
      <p:sp>
        <p:nvSpPr>
          <p:cNvPr name="TextBox 32" id="32"/>
          <p:cNvSpPr txBox="true"/>
          <p:nvPr/>
        </p:nvSpPr>
        <p:spPr>
          <a:xfrm rot="0">
            <a:off x="9886950" y="1990725"/>
            <a:ext cx="8229600" cy="609600"/>
          </a:xfrm>
          <a:prstGeom prst="rect">
            <a:avLst/>
          </a:prstGeom>
        </p:spPr>
        <p:txBody>
          <a:bodyPr anchor="t" rtlCol="false" tIns="0" lIns="0" bIns="0" rIns="0">
            <a:spAutoFit/>
          </a:bodyPr>
          <a:lstStyle/>
          <a:p>
            <a:pPr algn="l">
              <a:lnSpc>
                <a:spcPts val="4050"/>
              </a:lnSpc>
            </a:pPr>
            <a:r>
              <a:rPr lang="en-US" sz="2700" b="true">
                <a:solidFill>
                  <a:srgbClr val="000000"/>
                </a:solidFill>
                <a:latin typeface="Arial Bold"/>
                <a:ea typeface="Arial Bold"/>
                <a:cs typeface="Arial Bold"/>
                <a:sym typeface="Arial Bold"/>
              </a:rPr>
              <a:t>Boucles</a:t>
            </a:r>
          </a:p>
        </p:txBody>
      </p:sp>
      <p:sp>
        <p:nvSpPr>
          <p:cNvPr name="TextBox 33" id="33"/>
          <p:cNvSpPr txBox="true"/>
          <p:nvPr/>
        </p:nvSpPr>
        <p:spPr>
          <a:xfrm rot="0">
            <a:off x="9372600" y="2638425"/>
            <a:ext cx="9875520" cy="419100"/>
          </a:xfrm>
          <a:prstGeom prst="rect">
            <a:avLst/>
          </a:prstGeom>
        </p:spPr>
        <p:txBody>
          <a:bodyPr anchor="t" rtlCol="false" tIns="0" lIns="0" bIns="0" rIns="0">
            <a:spAutoFit/>
          </a:bodyPr>
          <a:lstStyle/>
          <a:p>
            <a:pPr algn="l">
              <a:lnSpc>
                <a:spcPts val="2700"/>
              </a:lnSpc>
            </a:pPr>
            <a:r>
              <a:rPr lang="en-US" sz="1800">
                <a:solidFill>
                  <a:srgbClr val="374151"/>
                </a:solidFill>
                <a:latin typeface="Arial"/>
                <a:ea typeface="Arial"/>
                <a:cs typeface="Arial"/>
                <a:sym typeface="Arial"/>
              </a:rPr>
              <a:t>Permettent de répéter des instructions jusqu'à ce qu'une condition soit satisfaite.</a:t>
            </a:r>
          </a:p>
        </p:txBody>
      </p:sp>
      <p:sp>
        <p:nvSpPr>
          <p:cNvPr name="TextBox 34" id="34"/>
          <p:cNvSpPr txBox="true"/>
          <p:nvPr/>
        </p:nvSpPr>
        <p:spPr>
          <a:xfrm rot="0">
            <a:off x="9429750" y="3209925"/>
            <a:ext cx="9806940" cy="419100"/>
          </a:xfrm>
          <a:prstGeom prst="rect">
            <a:avLst/>
          </a:prstGeom>
        </p:spPr>
        <p:txBody>
          <a:bodyPr anchor="t" rtlCol="false" tIns="0" lIns="0" bIns="0" rIns="0">
            <a:spAutoFit/>
          </a:bodyPr>
          <a:lstStyle/>
          <a:p>
            <a:pPr algn="l" marL="325755" indent="-162878" lvl="1">
              <a:lnSpc>
                <a:spcPts val="2700"/>
              </a:lnSpc>
              <a:buFont typeface="Arial"/>
              <a:buChar char="•"/>
            </a:pPr>
            <a:r>
              <a:rPr lang="en-US" b="true" sz="1800">
                <a:solidFill>
                  <a:srgbClr val="22C55E"/>
                </a:solidFill>
                <a:latin typeface="Arial Bold"/>
                <a:ea typeface="Arial Bold"/>
                <a:cs typeface="Arial Bold"/>
                <a:sym typeface="Arial Bold"/>
              </a:rPr>
              <a:t>for</a:t>
            </a:r>
            <a:r>
              <a:rPr lang="en-US" sz="1800">
                <a:solidFill>
                  <a:srgbClr val="000000"/>
                </a:solidFill>
                <a:latin typeface="Arial"/>
                <a:ea typeface="Arial"/>
                <a:cs typeface="Arial"/>
                <a:sym typeface="Arial"/>
              </a:rPr>
              <a:t>: Répéter pour chaque élément d'une séquence</a:t>
            </a:r>
          </a:p>
        </p:txBody>
      </p:sp>
      <p:sp>
        <p:nvSpPr>
          <p:cNvPr name="TextBox 35" id="35"/>
          <p:cNvSpPr txBox="true"/>
          <p:nvPr/>
        </p:nvSpPr>
        <p:spPr>
          <a:xfrm rot="0">
            <a:off x="9429750" y="3667125"/>
            <a:ext cx="9806940" cy="419100"/>
          </a:xfrm>
          <a:prstGeom prst="rect">
            <a:avLst/>
          </a:prstGeom>
        </p:spPr>
        <p:txBody>
          <a:bodyPr anchor="t" rtlCol="false" tIns="0" lIns="0" bIns="0" rIns="0">
            <a:spAutoFit/>
          </a:bodyPr>
          <a:lstStyle/>
          <a:p>
            <a:pPr algn="l" marL="325755" indent="-162878" lvl="1">
              <a:lnSpc>
                <a:spcPts val="2700"/>
              </a:lnSpc>
              <a:buFont typeface="Arial"/>
              <a:buChar char="•"/>
            </a:pPr>
            <a:r>
              <a:rPr lang="en-US" b="true" sz="1800">
                <a:solidFill>
                  <a:srgbClr val="22C55E"/>
                </a:solidFill>
                <a:latin typeface="Arial Bold"/>
                <a:ea typeface="Arial Bold"/>
                <a:cs typeface="Arial Bold"/>
                <a:sym typeface="Arial Bold"/>
              </a:rPr>
              <a:t>while</a:t>
            </a:r>
            <a:r>
              <a:rPr lang="en-US" sz="1800">
                <a:solidFill>
                  <a:srgbClr val="000000"/>
                </a:solidFill>
                <a:latin typeface="Arial"/>
                <a:ea typeface="Arial"/>
                <a:cs typeface="Arial"/>
                <a:sym typeface="Arial"/>
              </a:rPr>
              <a:t>: Répéter tant qu'une condition est vraie</a:t>
            </a:r>
          </a:p>
        </p:txBody>
      </p:sp>
      <p:grpSp>
        <p:nvGrpSpPr>
          <p:cNvPr name="Group 36" id="36"/>
          <p:cNvGrpSpPr>
            <a:grpSpLocks noChangeAspect="true"/>
          </p:cNvGrpSpPr>
          <p:nvPr/>
        </p:nvGrpSpPr>
        <p:grpSpPr>
          <a:xfrm rot="0">
            <a:off x="9372600" y="4657725"/>
            <a:ext cx="8229600" cy="1485900"/>
            <a:chOff x="0" y="0"/>
            <a:chExt cx="10972800" cy="1981200"/>
          </a:xfrm>
        </p:grpSpPr>
        <p:sp>
          <p:nvSpPr>
            <p:cNvPr name="Freeform 37" id="37" descr="preencoded.png"/>
            <p:cNvSpPr/>
            <p:nvPr/>
          </p:nvSpPr>
          <p:spPr>
            <a:xfrm flipH="false" flipV="false" rot="0">
              <a:off x="0" y="0"/>
              <a:ext cx="10972800" cy="1981200"/>
            </a:xfrm>
            <a:custGeom>
              <a:avLst/>
              <a:gdLst/>
              <a:ahLst/>
              <a:cxnLst/>
              <a:rect r="r" b="b" t="t" l="l"/>
              <a:pathLst>
                <a:path h="1981200" w="10972800">
                  <a:moveTo>
                    <a:pt x="0" y="0"/>
                  </a:moveTo>
                  <a:lnTo>
                    <a:pt x="10972800" y="0"/>
                  </a:lnTo>
                  <a:lnTo>
                    <a:pt x="10972800" y="1981200"/>
                  </a:lnTo>
                  <a:lnTo>
                    <a:pt x="0" y="1981200"/>
                  </a:lnTo>
                  <a:lnTo>
                    <a:pt x="0" y="0"/>
                  </a:lnTo>
                  <a:close/>
                </a:path>
              </a:pathLst>
            </a:custGeom>
            <a:blipFill>
              <a:blip r:embed="rId9"/>
              <a:stretch>
                <a:fillRect l="0" t="0" r="0" b="0"/>
              </a:stretch>
            </a:blipFill>
          </p:spPr>
        </p:sp>
      </p:grpSp>
      <p:sp>
        <p:nvSpPr>
          <p:cNvPr name="TextBox 38" id="38"/>
          <p:cNvSpPr txBox="true"/>
          <p:nvPr/>
        </p:nvSpPr>
        <p:spPr>
          <a:xfrm rot="0">
            <a:off x="9515475" y="4041457"/>
            <a:ext cx="8229600" cy="2062162"/>
          </a:xfrm>
          <a:prstGeom prst="rect">
            <a:avLst/>
          </a:prstGeom>
        </p:spPr>
        <p:txBody>
          <a:bodyPr anchor="t" rtlCol="false" tIns="0" lIns="0" bIns="0" rIns="0">
            <a:spAutoFit/>
          </a:bodyPr>
          <a:lstStyle/>
          <a:p>
            <a:pPr algn="l">
              <a:lnSpc>
                <a:spcPts val="2062"/>
              </a:lnSpc>
            </a:pPr>
            <a:r>
              <a:rPr lang="en-US" sz="1375">
                <a:solidFill>
                  <a:srgbClr val="8A8A8A"/>
                </a:solidFill>
                <a:latin typeface="Arial"/>
                <a:ea typeface="Arial"/>
                <a:cs typeface="Arial"/>
                <a:sym typeface="Arial"/>
              </a:rPr>
              <a:t># Boucle for</a:t>
            </a:r>
            <a:r>
              <a:rPr lang="en-US" sz="1375">
                <a:solidFill>
                  <a:srgbClr val="E6E6E6"/>
                </a:solidFill>
                <a:latin typeface="Arial"/>
                <a:ea typeface="Arial"/>
                <a:cs typeface="Arial"/>
                <a:sym typeface="Arial"/>
              </a:rPr>
              <a:t> </a:t>
            </a:r>
          </a:p>
          <a:p>
            <a:pPr algn="l">
              <a:lnSpc>
                <a:spcPts val="2062"/>
              </a:lnSpc>
            </a:pPr>
            <a:r>
              <a:rPr lang="en-US" sz="1375">
                <a:solidFill>
                  <a:srgbClr val="E6E6E6"/>
                </a:solidFill>
                <a:latin typeface="Arial"/>
                <a:ea typeface="Arial"/>
                <a:cs typeface="Arial"/>
                <a:sym typeface="Arial"/>
              </a:rPr>
              <a:t>fruits = ["pomme", "banane", "orange"] </a:t>
            </a:r>
          </a:p>
          <a:p>
            <a:pPr algn="l">
              <a:lnSpc>
                <a:spcPts val="2062"/>
              </a:lnSpc>
            </a:pPr>
            <a:r>
              <a:rPr lang="en-US" sz="1375">
                <a:solidFill>
                  <a:srgbClr val="E6E6E6"/>
                </a:solidFill>
                <a:latin typeface="Arial"/>
                <a:ea typeface="Arial"/>
                <a:cs typeface="Arial"/>
                <a:sym typeface="Arial"/>
              </a:rPr>
              <a:t>for fruit in fruits: </a:t>
            </a:r>
          </a:p>
          <a:p>
            <a:pPr algn="l">
              <a:lnSpc>
                <a:spcPts val="2062"/>
              </a:lnSpc>
            </a:pPr>
            <a:r>
              <a:rPr lang="en-US" sz="1375">
                <a:solidFill>
                  <a:srgbClr val="E6E6E6"/>
                </a:solidFill>
                <a:latin typeface="Arial"/>
                <a:ea typeface="Arial"/>
                <a:cs typeface="Arial"/>
                <a:sym typeface="Arial"/>
              </a:rPr>
              <a:t>       print(f"Je mange une {fruit}") </a:t>
            </a:r>
          </a:p>
          <a:p>
            <a:pPr algn="l">
              <a:lnSpc>
                <a:spcPts val="2062"/>
              </a:lnSpc>
            </a:pPr>
            <a:r>
              <a:rPr lang="en-US" sz="1375">
                <a:solidFill>
                  <a:srgbClr val="8A8A8A"/>
                </a:solidFill>
                <a:latin typeface="Arial"/>
                <a:ea typeface="Arial"/>
                <a:cs typeface="Arial"/>
                <a:sym typeface="Arial"/>
              </a:rPr>
              <a:t># Boucle while</a:t>
            </a:r>
          </a:p>
          <a:p>
            <a:pPr algn="l">
              <a:lnSpc>
                <a:spcPts val="2062"/>
              </a:lnSpc>
            </a:pPr>
            <a:r>
              <a:rPr lang="en-US" sz="1375">
                <a:solidFill>
                  <a:srgbClr val="E6E6E6"/>
                </a:solidFill>
                <a:latin typeface="Arial"/>
                <a:ea typeface="Arial"/>
                <a:cs typeface="Arial"/>
                <a:sym typeface="Arial"/>
              </a:rPr>
              <a:t> compteur = 0 while compteur &lt; 5: </a:t>
            </a:r>
          </a:p>
          <a:p>
            <a:pPr algn="l">
              <a:lnSpc>
                <a:spcPts val="2062"/>
              </a:lnSpc>
            </a:pPr>
            <a:r>
              <a:rPr lang="en-US" sz="1375">
                <a:solidFill>
                  <a:srgbClr val="E6E6E6"/>
                </a:solidFill>
                <a:latin typeface="Arial"/>
                <a:ea typeface="Arial"/>
                <a:cs typeface="Arial"/>
                <a:sym typeface="Arial"/>
              </a:rPr>
              <a:t>        print(f"Compteur: {compteur}")</a:t>
            </a:r>
          </a:p>
          <a:p>
            <a:pPr algn="l">
              <a:lnSpc>
                <a:spcPts val="2062"/>
              </a:lnSpc>
            </a:pPr>
            <a:r>
              <a:rPr lang="en-US" sz="1375">
                <a:solidFill>
                  <a:srgbClr val="E6E6E6"/>
                </a:solidFill>
                <a:latin typeface="Arial"/>
                <a:ea typeface="Arial"/>
                <a:cs typeface="Arial"/>
                <a:sym typeface="Arial"/>
              </a:rPr>
              <a:t> compteur += 1</a:t>
            </a:r>
          </a:p>
        </p:txBody>
      </p:sp>
      <p:sp>
        <p:nvSpPr>
          <p:cNvPr name="TextBox 39" id="39"/>
          <p:cNvSpPr txBox="true"/>
          <p:nvPr/>
        </p:nvSpPr>
        <p:spPr>
          <a:xfrm rot="0">
            <a:off x="9601200" y="6181725"/>
            <a:ext cx="7772400"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al Bold"/>
                <a:ea typeface="Arial Bold"/>
                <a:cs typeface="Arial Bold"/>
                <a:sym typeface="Arial Bold"/>
              </a:rPr>
              <a:t>Applications en Data Science</a:t>
            </a:r>
          </a:p>
        </p:txBody>
      </p:sp>
      <p:sp>
        <p:nvSpPr>
          <p:cNvPr name="TextBox 40" id="40"/>
          <p:cNvSpPr txBox="true"/>
          <p:nvPr/>
        </p:nvSpPr>
        <p:spPr>
          <a:xfrm rot="0">
            <a:off x="9601200" y="6638925"/>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Prétraitement de séries temporelles</a:t>
            </a:r>
          </a:p>
        </p:txBody>
      </p:sp>
      <p:sp>
        <p:nvSpPr>
          <p:cNvPr name="TextBox 41" id="41"/>
          <p:cNvSpPr txBox="true"/>
          <p:nvPr/>
        </p:nvSpPr>
        <p:spPr>
          <a:xfrm rot="0">
            <a:off x="9601200" y="7038975"/>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Calcul itératif d'indicateurs statistiques</a:t>
            </a:r>
          </a:p>
        </p:txBody>
      </p:sp>
      <p:sp>
        <p:nvSpPr>
          <p:cNvPr name="TextBox 42" id="42"/>
          <p:cNvSpPr txBox="true"/>
          <p:nvPr/>
        </p:nvSpPr>
        <p:spPr>
          <a:xfrm rot="0">
            <a:off x="9601200" y="7439025"/>
            <a:ext cx="932688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al"/>
                <a:ea typeface="Arial"/>
                <a:cs typeface="Arial"/>
                <a:sym typeface="Arial"/>
              </a:rPr>
              <a:t>Implications croisées dans des projets complexes</a:t>
            </a:r>
          </a:p>
        </p:txBody>
      </p:sp>
      <p:sp>
        <p:nvSpPr>
          <p:cNvPr name="TextBox 43" id="43"/>
          <p:cNvSpPr txBox="true"/>
          <p:nvPr/>
        </p:nvSpPr>
        <p:spPr>
          <a:xfrm rot="0">
            <a:off x="685800" y="9244012"/>
            <a:ext cx="16916400" cy="357188"/>
          </a:xfrm>
          <a:prstGeom prst="rect">
            <a:avLst/>
          </a:prstGeom>
        </p:spPr>
        <p:txBody>
          <a:bodyPr anchor="t" rtlCol="false" tIns="0" lIns="0" bIns="0" rIns="0">
            <a:spAutoFit/>
          </a:bodyPr>
          <a:lstStyle/>
          <a:p>
            <a:pPr algn="l">
              <a:lnSpc>
                <a:spcPts val="2362"/>
              </a:lnSpc>
            </a:pPr>
            <a:r>
              <a:rPr lang="en-US" sz="1575">
                <a:solidFill>
                  <a:srgbClr val="6B7280"/>
                </a:solidFill>
                <a:latin typeface="Arial"/>
                <a:ea typeface="Arial"/>
                <a:cs typeface="Arial"/>
                <a:sym typeface="Arial"/>
              </a:rPr>
              <a:t>Page 8 sur 19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28800"/>
            <a:ext cx="342900" cy="342900"/>
            <a:chOff x="0" y="0"/>
            <a:chExt cx="457200" cy="457200"/>
          </a:xfrm>
        </p:grpSpPr>
        <p:sp>
          <p:nvSpPr>
            <p:cNvPr name="Freeform 5" id="5"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685800" y="3371850"/>
            <a:ext cx="8115300" cy="2057400"/>
            <a:chOff x="0" y="0"/>
            <a:chExt cx="10820400" cy="2743200"/>
          </a:xfrm>
        </p:grpSpPr>
        <p:sp>
          <p:nvSpPr>
            <p:cNvPr name="Freeform 7" id="7" descr="preencoded.png"/>
            <p:cNvSpPr/>
            <p:nvPr/>
          </p:nvSpPr>
          <p:spPr>
            <a:xfrm flipH="false" flipV="false" rot="0">
              <a:off x="0" y="0"/>
              <a:ext cx="10820400" cy="2743200"/>
            </a:xfrm>
            <a:custGeom>
              <a:avLst/>
              <a:gdLst/>
              <a:ahLst/>
              <a:cxnLst/>
              <a:rect r="r" b="b" t="t" l="l"/>
              <a:pathLst>
                <a:path h="2743200" w="10820400">
                  <a:moveTo>
                    <a:pt x="0" y="0"/>
                  </a:moveTo>
                  <a:lnTo>
                    <a:pt x="10820400" y="0"/>
                  </a:lnTo>
                  <a:lnTo>
                    <a:pt x="10820400" y="2743200"/>
                  </a:lnTo>
                  <a:lnTo>
                    <a:pt x="0" y="27432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685800" y="5657850"/>
            <a:ext cx="8115300" cy="2514600"/>
            <a:chOff x="0" y="0"/>
            <a:chExt cx="10820400" cy="3352800"/>
          </a:xfrm>
        </p:grpSpPr>
        <p:sp>
          <p:nvSpPr>
            <p:cNvPr name="Freeform 9" id="9" descr="preencoded.png"/>
            <p:cNvSpPr/>
            <p:nvPr/>
          </p:nvSpPr>
          <p:spPr>
            <a:xfrm flipH="false" flipV="false" rot="0">
              <a:off x="0" y="0"/>
              <a:ext cx="10820400" cy="3352800"/>
            </a:xfrm>
            <a:custGeom>
              <a:avLst/>
              <a:gdLst/>
              <a:ahLst/>
              <a:cxnLst/>
              <a:rect r="r" b="b" t="t" l="l"/>
              <a:pathLst>
                <a:path h="3352800" w="10820400">
                  <a:moveTo>
                    <a:pt x="0" y="0"/>
                  </a:moveTo>
                  <a:lnTo>
                    <a:pt x="10820400" y="0"/>
                  </a:lnTo>
                  <a:lnTo>
                    <a:pt x="10820400" y="3352800"/>
                  </a:lnTo>
                  <a:lnTo>
                    <a:pt x="0" y="33528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9486900" y="1828800"/>
            <a:ext cx="428625" cy="342900"/>
            <a:chOff x="0" y="0"/>
            <a:chExt cx="571500" cy="457200"/>
          </a:xfrm>
        </p:grpSpPr>
        <p:sp>
          <p:nvSpPr>
            <p:cNvPr name="Freeform 11" id="11" descr="preencoded.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9486900" y="3371850"/>
            <a:ext cx="8115300" cy="2343150"/>
            <a:chOff x="0" y="0"/>
            <a:chExt cx="10820400" cy="3124200"/>
          </a:xfrm>
        </p:grpSpPr>
        <p:sp>
          <p:nvSpPr>
            <p:cNvPr name="Freeform 13" id="13" descr="preencoded.png"/>
            <p:cNvSpPr/>
            <p:nvPr/>
          </p:nvSpPr>
          <p:spPr>
            <a:xfrm flipH="false" flipV="false" rot="0">
              <a:off x="0" y="0"/>
              <a:ext cx="10820400" cy="3124200"/>
            </a:xfrm>
            <a:custGeom>
              <a:avLst/>
              <a:gdLst/>
              <a:ahLst/>
              <a:cxnLst/>
              <a:rect r="r" b="b" t="t" l="l"/>
              <a:pathLst>
                <a:path h="3124200" w="10820400">
                  <a:moveTo>
                    <a:pt x="0" y="0"/>
                  </a:moveTo>
                  <a:lnTo>
                    <a:pt x="10820400" y="0"/>
                  </a:lnTo>
                  <a:lnTo>
                    <a:pt x="10820400" y="3124200"/>
                  </a:lnTo>
                  <a:lnTo>
                    <a:pt x="0" y="31242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9486900" y="5943600"/>
            <a:ext cx="8115300" cy="1657350"/>
            <a:chOff x="0" y="0"/>
            <a:chExt cx="10820400" cy="2209800"/>
          </a:xfrm>
        </p:grpSpPr>
        <p:sp>
          <p:nvSpPr>
            <p:cNvPr name="Freeform 15" id="15" descr="preencoded.png"/>
            <p:cNvSpPr/>
            <p:nvPr/>
          </p:nvSpPr>
          <p:spPr>
            <a:xfrm flipH="false" flipV="false" rot="0">
              <a:off x="0" y="0"/>
              <a:ext cx="10820400" cy="2209800"/>
            </a:xfrm>
            <a:custGeom>
              <a:avLst/>
              <a:gdLst/>
              <a:ahLst/>
              <a:cxnLst/>
              <a:rect r="r" b="b" t="t" l="l"/>
              <a:pathLst>
                <a:path h="2209800" w="10820400">
                  <a:moveTo>
                    <a:pt x="0" y="0"/>
                  </a:moveTo>
                  <a:lnTo>
                    <a:pt x="10820400" y="0"/>
                  </a:lnTo>
                  <a:lnTo>
                    <a:pt x="10820400" y="2209800"/>
                  </a:lnTo>
                  <a:lnTo>
                    <a:pt x="0" y="22098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9715500" y="6715125"/>
            <a:ext cx="228600" cy="228600"/>
            <a:chOff x="0" y="0"/>
            <a:chExt cx="304800" cy="304800"/>
          </a:xfrm>
        </p:grpSpPr>
        <p:sp>
          <p:nvSpPr>
            <p:cNvPr name="Freeform 17" id="1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0"/>
              <a:stretch>
                <a:fillRect l="0" t="0" r="0" b="0"/>
              </a:stretch>
            </a:blipFill>
          </p:spPr>
        </p:sp>
      </p:grpSp>
      <p:grpSp>
        <p:nvGrpSpPr>
          <p:cNvPr name="Group 18" id="18"/>
          <p:cNvGrpSpPr>
            <a:grpSpLocks noChangeAspect="true"/>
          </p:cNvGrpSpPr>
          <p:nvPr/>
        </p:nvGrpSpPr>
        <p:grpSpPr>
          <a:xfrm rot="0">
            <a:off x="13601700" y="6715125"/>
            <a:ext cx="228600" cy="228600"/>
            <a:chOff x="0" y="0"/>
            <a:chExt cx="304800" cy="304800"/>
          </a:xfrm>
        </p:grpSpPr>
        <p:sp>
          <p:nvSpPr>
            <p:cNvPr name="Freeform 19" id="1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9715500" y="7115175"/>
            <a:ext cx="200025" cy="228600"/>
            <a:chOff x="0" y="0"/>
            <a:chExt cx="266700" cy="304800"/>
          </a:xfrm>
        </p:grpSpPr>
        <p:sp>
          <p:nvSpPr>
            <p:cNvPr name="Freeform 21" id="21" descr="preencoded.png"/>
            <p:cNvSpPr/>
            <p:nvPr/>
          </p:nvSpPr>
          <p:spPr>
            <a:xfrm flipH="false" flipV="false" rot="0">
              <a:off x="0" y="0"/>
              <a:ext cx="266700" cy="304800"/>
            </a:xfrm>
            <a:custGeom>
              <a:avLst/>
              <a:gdLst/>
              <a:ahLst/>
              <a:cxnLst/>
              <a:rect r="r" b="b" t="t" l="l"/>
              <a:pathLst>
                <a:path h="304800" w="266700">
                  <a:moveTo>
                    <a:pt x="0" y="0"/>
                  </a:moveTo>
                  <a:lnTo>
                    <a:pt x="266700" y="0"/>
                  </a:lnTo>
                  <a:lnTo>
                    <a:pt x="266700" y="304800"/>
                  </a:lnTo>
                  <a:lnTo>
                    <a:pt x="0" y="304800"/>
                  </a:lnTo>
                  <a:lnTo>
                    <a:pt x="0" y="0"/>
                  </a:lnTo>
                  <a:close/>
                </a:path>
              </a:pathLst>
            </a:custGeom>
            <a:blipFill>
              <a:blip r:embed="rId12"/>
              <a:stretch>
                <a:fillRect l="0" t="0" r="0" b="0"/>
              </a:stretch>
            </a:blipFill>
          </p:spPr>
        </p:sp>
      </p:grpSp>
      <p:grpSp>
        <p:nvGrpSpPr>
          <p:cNvPr name="Group 22" id="22"/>
          <p:cNvGrpSpPr>
            <a:grpSpLocks noChangeAspect="true"/>
          </p:cNvGrpSpPr>
          <p:nvPr/>
        </p:nvGrpSpPr>
        <p:grpSpPr>
          <a:xfrm rot="0">
            <a:off x="13601700" y="7115175"/>
            <a:ext cx="228600" cy="228600"/>
            <a:chOff x="0" y="0"/>
            <a:chExt cx="304800" cy="304800"/>
          </a:xfrm>
        </p:grpSpPr>
        <p:sp>
          <p:nvSpPr>
            <p:cNvPr name="Freeform 23" id="2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3"/>
              <a:stretch>
                <a:fillRect l="0" t="0" r="0" b="0"/>
              </a:stretch>
            </a:blipFill>
          </p:spPr>
        </p:sp>
      </p:grpSp>
      <p:sp>
        <p:nvSpPr>
          <p:cNvPr name="TextBox 24" id="24"/>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Fonctions et Packages</a:t>
            </a:r>
          </a:p>
        </p:txBody>
      </p:sp>
      <p:sp>
        <p:nvSpPr>
          <p:cNvPr name="TextBox 25" id="25"/>
          <p:cNvSpPr txBox="true"/>
          <p:nvPr/>
        </p:nvSpPr>
        <p:spPr>
          <a:xfrm rot="0">
            <a:off x="1200150" y="1714500"/>
            <a:ext cx="81153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Fonctions</a:t>
            </a:r>
          </a:p>
        </p:txBody>
      </p:sp>
      <p:sp>
        <p:nvSpPr>
          <p:cNvPr name="TextBox 26" id="26"/>
          <p:cNvSpPr txBox="true"/>
          <p:nvPr/>
        </p:nvSpPr>
        <p:spPr>
          <a:xfrm rot="0">
            <a:off x="685800" y="2266950"/>
            <a:ext cx="8115300" cy="87630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Les fonctions sont des blocs de code réutilisables qui effectuent une tâche spécifique.</a:t>
            </a:r>
          </a:p>
        </p:txBody>
      </p:sp>
      <p:sp>
        <p:nvSpPr>
          <p:cNvPr name="TextBox 27" id="27"/>
          <p:cNvSpPr txBox="true"/>
          <p:nvPr/>
        </p:nvSpPr>
        <p:spPr>
          <a:xfrm rot="0">
            <a:off x="857250" y="3333750"/>
            <a:ext cx="8115300" cy="170688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Exemple de définition de fonction</a:t>
            </a:r>
          </a:p>
          <a:p>
            <a:pPr algn="l">
              <a:lnSpc>
                <a:spcPts val="2250"/>
              </a:lnSpc>
            </a:pPr>
            <a:r>
              <a:rPr lang="en-US" sz="1575">
                <a:solidFill>
                  <a:srgbClr val="569CD6"/>
                </a:solidFill>
                <a:latin typeface="Courier New"/>
                <a:ea typeface="Courier New"/>
                <a:cs typeface="Courier New"/>
                <a:sym typeface="Courier New"/>
              </a:rPr>
              <a:t>def </a:t>
            </a:r>
            <a:r>
              <a:rPr lang="en-US" sz="1575">
                <a:solidFill>
                  <a:srgbClr val="FF9100"/>
                </a:solidFill>
                <a:latin typeface="Courier New"/>
                <a:ea typeface="Courier New"/>
                <a:cs typeface="Courier New"/>
                <a:sym typeface="Courier New"/>
              </a:rPr>
              <a:t>saluer</a:t>
            </a:r>
            <a:r>
              <a:rPr lang="en-US" sz="1575">
                <a:solidFill>
                  <a:srgbClr val="DCDCAA"/>
                </a:solidFill>
                <a:latin typeface="Courier New"/>
                <a:ea typeface="Courier New"/>
                <a:cs typeface="Courier New"/>
                <a:sym typeface="Courier New"/>
              </a:rPr>
              <a:t> </a:t>
            </a:r>
            <a:r>
              <a:rPr lang="en-US" sz="1575">
                <a:solidFill>
                  <a:srgbClr val="000000"/>
                </a:solidFill>
                <a:latin typeface="Courier New"/>
                <a:ea typeface="Courier New"/>
                <a:cs typeface="Courier New"/>
                <a:sym typeface="Courier New"/>
              </a:rPr>
              <a:t>(nom):</a:t>
            </a:r>
          </a:p>
          <a:p>
            <a:pPr algn="l">
              <a:lnSpc>
                <a:spcPts val="2250"/>
              </a:lnSpc>
            </a:pPr>
            <a:r>
              <a:rPr lang="en-US" sz="1575">
                <a:solidFill>
                  <a:srgbClr val="569CD6"/>
                </a:solidFill>
                <a:latin typeface="Courier New"/>
                <a:ea typeface="Courier New"/>
                <a:cs typeface="Courier New"/>
                <a:sym typeface="Courier New"/>
              </a:rPr>
              <a:t>return </a:t>
            </a:r>
            <a:r>
              <a:rPr lang="en-US" sz="1575">
                <a:solidFill>
                  <a:srgbClr val="CE9178"/>
                </a:solidFill>
                <a:latin typeface="Courier New"/>
                <a:ea typeface="Courier New"/>
                <a:cs typeface="Courier New"/>
                <a:sym typeface="Courier New"/>
              </a:rPr>
              <a:t>f"Bonjour, {nom} !"</a:t>
            </a:r>
          </a:p>
          <a:p>
            <a:pPr algn="l">
              <a:lnSpc>
                <a:spcPts val="2250"/>
              </a:lnSpc>
            </a:pPr>
          </a:p>
          <a:p>
            <a:pPr algn="l">
              <a:lnSpc>
                <a:spcPts val="2250"/>
              </a:lnSpc>
            </a:pPr>
            <a:r>
              <a:rPr lang="en-US" sz="1575">
                <a:solidFill>
                  <a:srgbClr val="000000"/>
                </a:solidFill>
                <a:latin typeface="Courier New"/>
                <a:ea typeface="Courier New"/>
                <a:cs typeface="Courier New"/>
                <a:sym typeface="Courier New"/>
              </a:rPr>
              <a:t>message = </a:t>
            </a:r>
            <a:r>
              <a:rPr lang="en-US" sz="1575">
                <a:solidFill>
                  <a:srgbClr val="FF9100"/>
                </a:solidFill>
                <a:latin typeface="Courier New"/>
                <a:ea typeface="Courier New"/>
                <a:cs typeface="Courier New"/>
                <a:sym typeface="Courier New"/>
              </a:rPr>
              <a:t>saluer</a:t>
            </a:r>
            <a:r>
              <a:rPr lang="en-US" sz="1575">
                <a:solidFill>
                  <a:srgbClr val="DCDCAA"/>
                </a:solidFill>
                <a:latin typeface="Courier New"/>
                <a:ea typeface="Courier New"/>
                <a:cs typeface="Courier New"/>
                <a:sym typeface="Courier New"/>
              </a:rPr>
              <a:t> </a:t>
            </a:r>
            <a:r>
              <a:rPr lang="en-US" sz="1575">
                <a:solidFill>
                  <a:srgbClr val="000000"/>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"Monde" </a:t>
            </a:r>
            <a:r>
              <a:rPr lang="en-US" sz="1575">
                <a:solidFill>
                  <a:srgbClr val="000000"/>
                </a:solidFill>
                <a:latin typeface="Courier New"/>
                <a:ea typeface="Courier New"/>
                <a:cs typeface="Courier New"/>
                <a:sym typeface="Courier New"/>
              </a:rPr>
              <a:t>)</a:t>
            </a:r>
          </a:p>
          <a:p>
            <a:pPr algn="l">
              <a:lnSpc>
                <a:spcPts val="2250"/>
              </a:lnSpc>
            </a:pPr>
            <a:r>
              <a:rPr lang="en-US" sz="1575">
                <a:solidFill>
                  <a:srgbClr val="DCDCAA"/>
                </a:solidFill>
                <a:latin typeface="Courier New"/>
                <a:ea typeface="Courier New"/>
                <a:cs typeface="Courier New"/>
                <a:sym typeface="Courier New"/>
              </a:rPr>
              <a:t>print </a:t>
            </a:r>
            <a:r>
              <a:rPr lang="en-US" sz="1575">
                <a:solidFill>
                  <a:srgbClr val="000000"/>
                </a:solidFill>
                <a:latin typeface="Courier New"/>
                <a:ea typeface="Courier New"/>
                <a:cs typeface="Courier New"/>
                <a:sym typeface="Courier New"/>
              </a:rPr>
              <a:t>(message) </a:t>
            </a:r>
            <a:r>
              <a:rPr lang="en-US" sz="1575">
                <a:solidFill>
                  <a:srgbClr val="6A9955"/>
                </a:solidFill>
                <a:latin typeface="Courier New"/>
                <a:ea typeface="Courier New"/>
                <a:cs typeface="Courier New"/>
                <a:sym typeface="Courier New"/>
              </a:rPr>
              <a:t># Bonjour, Monde !</a:t>
            </a:r>
          </a:p>
        </p:txBody>
      </p:sp>
      <p:sp>
        <p:nvSpPr>
          <p:cNvPr name="TextBox 28" id="28"/>
          <p:cNvSpPr txBox="true"/>
          <p:nvPr/>
        </p:nvSpPr>
        <p:spPr>
          <a:xfrm rot="0">
            <a:off x="914400" y="5810250"/>
            <a:ext cx="9189720"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Avantages des fonctions :</a:t>
            </a:r>
          </a:p>
        </p:txBody>
      </p:sp>
      <p:sp>
        <p:nvSpPr>
          <p:cNvPr name="TextBox 29" id="29"/>
          <p:cNvSpPr txBox="true"/>
          <p:nvPr/>
        </p:nvSpPr>
        <p:spPr>
          <a:xfrm rot="0">
            <a:off x="914400" y="6324600"/>
            <a:ext cx="76581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Modularisation du code</a:t>
            </a:r>
          </a:p>
        </p:txBody>
      </p:sp>
      <p:sp>
        <p:nvSpPr>
          <p:cNvPr name="TextBox 30" id="30"/>
          <p:cNvSpPr txBox="true"/>
          <p:nvPr/>
        </p:nvSpPr>
        <p:spPr>
          <a:xfrm rot="0">
            <a:off x="914400" y="6724650"/>
            <a:ext cx="76581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Évite la répétition</a:t>
            </a:r>
          </a:p>
        </p:txBody>
      </p:sp>
      <p:sp>
        <p:nvSpPr>
          <p:cNvPr name="TextBox 31" id="31"/>
          <p:cNvSpPr txBox="true"/>
          <p:nvPr/>
        </p:nvSpPr>
        <p:spPr>
          <a:xfrm rot="0">
            <a:off x="914400" y="7124700"/>
            <a:ext cx="76581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Facilite le débogage</a:t>
            </a:r>
          </a:p>
        </p:txBody>
      </p:sp>
      <p:sp>
        <p:nvSpPr>
          <p:cNvPr name="TextBox 32" id="32"/>
          <p:cNvSpPr txBox="true"/>
          <p:nvPr/>
        </p:nvSpPr>
        <p:spPr>
          <a:xfrm rot="0">
            <a:off x="914400" y="7524750"/>
            <a:ext cx="765810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000000"/>
                </a:solidFill>
                <a:latin typeface="Arimo"/>
                <a:ea typeface="Arimo"/>
                <a:cs typeface="Arimo"/>
                <a:sym typeface="Arimo"/>
              </a:rPr>
              <a:t>Améliore la lisibilité</a:t>
            </a:r>
          </a:p>
        </p:txBody>
      </p:sp>
      <p:sp>
        <p:nvSpPr>
          <p:cNvPr name="TextBox 33" id="33"/>
          <p:cNvSpPr txBox="true"/>
          <p:nvPr/>
        </p:nvSpPr>
        <p:spPr>
          <a:xfrm rot="0">
            <a:off x="10086975" y="1714500"/>
            <a:ext cx="81153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Packages</a:t>
            </a:r>
          </a:p>
        </p:txBody>
      </p:sp>
      <p:sp>
        <p:nvSpPr>
          <p:cNvPr name="TextBox 34" id="34"/>
          <p:cNvSpPr txBox="true"/>
          <p:nvPr/>
        </p:nvSpPr>
        <p:spPr>
          <a:xfrm rot="0">
            <a:off x="9486900" y="2266950"/>
            <a:ext cx="8115300" cy="87630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Les packages sont des collections de modules Python qui fournissent des fonctionnalités spécifiques.</a:t>
            </a:r>
          </a:p>
        </p:txBody>
      </p:sp>
      <p:sp>
        <p:nvSpPr>
          <p:cNvPr name="TextBox 35" id="35"/>
          <p:cNvSpPr txBox="true"/>
          <p:nvPr/>
        </p:nvSpPr>
        <p:spPr>
          <a:xfrm rot="0">
            <a:off x="9658350" y="3333750"/>
            <a:ext cx="8115300" cy="199263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Exemple d'importation de package</a:t>
            </a:r>
          </a:p>
          <a:p>
            <a:pPr algn="l">
              <a:lnSpc>
                <a:spcPts val="2250"/>
              </a:lnSpc>
            </a:pPr>
            <a:r>
              <a:rPr lang="en-US" sz="1575">
                <a:solidFill>
                  <a:srgbClr val="569CD6"/>
                </a:solidFill>
                <a:latin typeface="Courier New"/>
                <a:ea typeface="Courier New"/>
                <a:cs typeface="Courier New"/>
                <a:sym typeface="Courier New"/>
              </a:rPr>
              <a:t>import </a:t>
            </a:r>
            <a:r>
              <a:rPr lang="en-US" sz="1575">
                <a:solidFill>
                  <a:srgbClr val="000000"/>
                </a:solidFill>
                <a:latin typeface="Courier New"/>
                <a:ea typeface="Courier New"/>
                <a:cs typeface="Courier New"/>
                <a:sym typeface="Courier New"/>
              </a:rPr>
              <a:t>pandas </a:t>
            </a:r>
            <a:r>
              <a:rPr lang="en-US" sz="1575">
                <a:solidFill>
                  <a:srgbClr val="569CD6"/>
                </a:solidFill>
                <a:latin typeface="Courier New"/>
                <a:ea typeface="Courier New"/>
                <a:cs typeface="Courier New"/>
                <a:sym typeface="Courier New"/>
              </a:rPr>
              <a:t>as </a:t>
            </a:r>
            <a:r>
              <a:rPr lang="en-US" sz="1575">
                <a:solidFill>
                  <a:srgbClr val="000000"/>
                </a:solidFill>
                <a:latin typeface="Courier New"/>
                <a:ea typeface="Courier New"/>
                <a:cs typeface="Courier New"/>
                <a:sym typeface="Courier New"/>
              </a:rPr>
              <a:t>pd</a:t>
            </a:r>
          </a:p>
          <a:p>
            <a:pPr algn="l">
              <a:lnSpc>
                <a:spcPts val="2250"/>
              </a:lnSpc>
            </a:pPr>
          </a:p>
          <a:p>
            <a:pPr algn="l">
              <a:lnSpc>
                <a:spcPts val="2250"/>
              </a:lnSpc>
            </a:pPr>
            <a:r>
              <a:rPr lang="en-US" sz="1575">
                <a:solidFill>
                  <a:srgbClr val="6A9955"/>
                </a:solidFill>
                <a:latin typeface="Courier New"/>
                <a:ea typeface="Courier New"/>
                <a:cs typeface="Courier New"/>
                <a:sym typeface="Courier New"/>
              </a:rPr>
              <a:t># Utilisation d'une fonction du package pandas</a:t>
            </a:r>
          </a:p>
          <a:p>
            <a:pPr algn="l">
              <a:lnSpc>
                <a:spcPts val="2250"/>
              </a:lnSpc>
            </a:pPr>
            <a:r>
              <a:rPr lang="en-US" sz="1575">
                <a:solidFill>
                  <a:srgbClr val="000000"/>
                </a:solidFill>
                <a:latin typeface="Courier New"/>
                <a:ea typeface="Courier New"/>
                <a:cs typeface="Courier New"/>
                <a:sym typeface="Courier New"/>
              </a:rPr>
              <a:t>data = { </a:t>
            </a:r>
            <a:r>
              <a:rPr lang="en-US" sz="1575">
                <a:solidFill>
                  <a:srgbClr val="CE9178"/>
                </a:solidFill>
                <a:latin typeface="Courier New"/>
                <a:ea typeface="Courier New"/>
                <a:cs typeface="Courier New"/>
                <a:sym typeface="Courier New"/>
              </a:rPr>
              <a:t>'col1' </a:t>
            </a:r>
            <a:r>
              <a:rPr lang="en-US" sz="1575">
                <a:solidFill>
                  <a:srgbClr val="000000"/>
                </a:solidFill>
                <a:latin typeface="Courier New"/>
                <a:ea typeface="Courier New"/>
                <a:cs typeface="Courier New"/>
                <a:sym typeface="Courier New"/>
              </a:rPr>
              <a:t>: [1, 2], </a:t>
            </a:r>
            <a:r>
              <a:rPr lang="en-US" sz="1575">
                <a:solidFill>
                  <a:srgbClr val="CE9178"/>
                </a:solidFill>
                <a:latin typeface="Courier New"/>
                <a:ea typeface="Courier New"/>
                <a:cs typeface="Courier New"/>
                <a:sym typeface="Courier New"/>
              </a:rPr>
              <a:t>'col2' </a:t>
            </a:r>
            <a:r>
              <a:rPr lang="en-US" sz="1575">
                <a:solidFill>
                  <a:srgbClr val="000000"/>
                </a:solidFill>
                <a:latin typeface="Courier New"/>
                <a:ea typeface="Courier New"/>
                <a:cs typeface="Courier New"/>
                <a:sym typeface="Courier New"/>
              </a:rPr>
              <a:t>: [3, 4]}</a:t>
            </a:r>
          </a:p>
          <a:p>
            <a:pPr algn="l">
              <a:lnSpc>
                <a:spcPts val="2250"/>
              </a:lnSpc>
            </a:pPr>
            <a:r>
              <a:rPr lang="en-US" sz="1575">
                <a:solidFill>
                  <a:srgbClr val="000000"/>
                </a:solidFill>
                <a:latin typeface="Courier New"/>
                <a:ea typeface="Courier New"/>
                <a:cs typeface="Courier New"/>
                <a:sym typeface="Courier New"/>
              </a:rPr>
              <a:t>df = pd.DataFrame(data)</a:t>
            </a:r>
          </a:p>
          <a:p>
            <a:pPr algn="l">
              <a:lnSpc>
                <a:spcPts val="2250"/>
              </a:lnSpc>
            </a:pPr>
            <a:r>
              <a:rPr lang="en-US" sz="1575">
                <a:solidFill>
                  <a:srgbClr val="FF9100"/>
                </a:solidFill>
                <a:latin typeface="Courier New"/>
                <a:ea typeface="Courier New"/>
                <a:cs typeface="Courier New"/>
                <a:sym typeface="Courier New"/>
              </a:rPr>
              <a:t>print</a:t>
            </a:r>
            <a:r>
              <a:rPr lang="en-US" sz="1575">
                <a:solidFill>
                  <a:srgbClr val="DCDCAA"/>
                </a:solidFill>
                <a:latin typeface="Courier New"/>
                <a:ea typeface="Courier New"/>
                <a:cs typeface="Courier New"/>
                <a:sym typeface="Courier New"/>
              </a:rPr>
              <a:t> </a:t>
            </a:r>
            <a:r>
              <a:rPr lang="en-US" sz="1575">
                <a:solidFill>
                  <a:srgbClr val="000000"/>
                </a:solidFill>
                <a:latin typeface="Courier New"/>
                <a:ea typeface="Courier New"/>
                <a:cs typeface="Courier New"/>
                <a:sym typeface="Courier New"/>
              </a:rPr>
              <a:t>(df)</a:t>
            </a:r>
          </a:p>
        </p:txBody>
      </p:sp>
      <p:sp>
        <p:nvSpPr>
          <p:cNvPr name="TextBox 36" id="36"/>
          <p:cNvSpPr txBox="true"/>
          <p:nvPr/>
        </p:nvSpPr>
        <p:spPr>
          <a:xfrm rot="0">
            <a:off x="9715500" y="6096000"/>
            <a:ext cx="9189720"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Exemples courants d'importations :</a:t>
            </a:r>
          </a:p>
        </p:txBody>
      </p:sp>
      <p:sp>
        <p:nvSpPr>
          <p:cNvPr name="TextBox 37" id="37"/>
          <p:cNvSpPr txBox="true"/>
          <p:nvPr/>
        </p:nvSpPr>
        <p:spPr>
          <a:xfrm rot="0">
            <a:off x="10058400" y="6638925"/>
            <a:ext cx="2430571"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import numpy as np</a:t>
            </a:r>
          </a:p>
        </p:txBody>
      </p:sp>
      <p:sp>
        <p:nvSpPr>
          <p:cNvPr name="TextBox 38" id="38"/>
          <p:cNvSpPr txBox="true"/>
          <p:nvPr/>
        </p:nvSpPr>
        <p:spPr>
          <a:xfrm rot="0">
            <a:off x="13944600" y="6638925"/>
            <a:ext cx="2474505"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import pandas as pd</a:t>
            </a:r>
          </a:p>
        </p:txBody>
      </p:sp>
      <p:sp>
        <p:nvSpPr>
          <p:cNvPr name="TextBox 39" id="39"/>
          <p:cNvSpPr txBox="true"/>
          <p:nvPr/>
        </p:nvSpPr>
        <p:spPr>
          <a:xfrm rot="0">
            <a:off x="10029825" y="7038975"/>
            <a:ext cx="3658314"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import matplotlib.pyplot as plt</a:t>
            </a:r>
          </a:p>
        </p:txBody>
      </p:sp>
      <p:sp>
        <p:nvSpPr>
          <p:cNvPr name="TextBox 40" id="40"/>
          <p:cNvSpPr txBox="true"/>
          <p:nvPr/>
        </p:nvSpPr>
        <p:spPr>
          <a:xfrm rot="0">
            <a:off x="13944600" y="7038975"/>
            <a:ext cx="1741022"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import sklearn</a:t>
            </a:r>
          </a:p>
        </p:txBody>
      </p:sp>
      <p:sp>
        <p:nvSpPr>
          <p:cNvPr name="TextBox 41" id="41"/>
          <p:cNvSpPr txBox="true"/>
          <p:nvPr/>
        </p:nvSpPr>
        <p:spPr>
          <a:xfrm rot="0">
            <a:off x="685800" y="926782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9 sur 19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858500"/>
            <a:chOff x="0" y="0"/>
            <a:chExt cx="24384000" cy="14478000"/>
          </a:xfrm>
        </p:grpSpPr>
        <p:sp>
          <p:nvSpPr>
            <p:cNvPr name="Freeform 3" id="3" descr="preencoded.png"/>
            <p:cNvSpPr/>
            <p:nvPr/>
          </p:nvSpPr>
          <p:spPr>
            <a:xfrm flipH="false" flipV="false" rot="0">
              <a:off x="0" y="0"/>
              <a:ext cx="24384000" cy="14478000"/>
            </a:xfrm>
            <a:custGeom>
              <a:avLst/>
              <a:gdLst/>
              <a:ahLst/>
              <a:cxnLst/>
              <a:rect r="r" b="b" t="t" l="l"/>
              <a:pathLst>
                <a:path h="14478000" w="24384000">
                  <a:moveTo>
                    <a:pt x="0" y="0"/>
                  </a:moveTo>
                  <a:lnTo>
                    <a:pt x="24384000" y="0"/>
                  </a:lnTo>
                  <a:lnTo>
                    <a:pt x="24384000" y="14478000"/>
                  </a:lnTo>
                  <a:lnTo>
                    <a:pt x="0" y="14478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1814512"/>
            <a:ext cx="342900" cy="342900"/>
            <a:chOff x="0" y="0"/>
            <a:chExt cx="457200" cy="457200"/>
          </a:xfrm>
        </p:grpSpPr>
        <p:sp>
          <p:nvSpPr>
            <p:cNvPr name="Freeform 5" id="5"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566895" y="3512542"/>
            <a:ext cx="8813325" cy="1573808"/>
            <a:chOff x="0" y="0"/>
            <a:chExt cx="10668000" cy="1905000"/>
          </a:xfrm>
        </p:grpSpPr>
        <p:sp>
          <p:nvSpPr>
            <p:cNvPr name="Freeform 7" id="7" descr="preencoded.png"/>
            <p:cNvSpPr/>
            <p:nvPr/>
          </p:nvSpPr>
          <p:spPr>
            <a:xfrm flipH="false" flipV="false" rot="0">
              <a:off x="0" y="0"/>
              <a:ext cx="10668000" cy="1905000"/>
            </a:xfrm>
            <a:custGeom>
              <a:avLst/>
              <a:gdLst/>
              <a:ahLst/>
              <a:cxnLst/>
              <a:rect r="r" b="b" t="t" l="l"/>
              <a:pathLst>
                <a:path h="1905000" w="10668000">
                  <a:moveTo>
                    <a:pt x="0" y="0"/>
                  </a:moveTo>
                  <a:lnTo>
                    <a:pt x="10668000" y="0"/>
                  </a:lnTo>
                  <a:lnTo>
                    <a:pt x="10668000" y="1905000"/>
                  </a:lnTo>
                  <a:lnTo>
                    <a:pt x="0" y="1905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685800" y="5872162"/>
            <a:ext cx="342900" cy="342900"/>
            <a:chOff x="0" y="0"/>
            <a:chExt cx="457200" cy="457200"/>
          </a:xfrm>
        </p:grpSpPr>
        <p:sp>
          <p:nvSpPr>
            <p:cNvPr name="Freeform 9" id="9"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9601200" y="1771650"/>
            <a:ext cx="8001000" cy="2971800"/>
            <a:chOff x="0" y="0"/>
            <a:chExt cx="10668000" cy="3962400"/>
          </a:xfrm>
        </p:grpSpPr>
        <p:sp>
          <p:nvSpPr>
            <p:cNvPr name="Freeform 11" id="11" descr="preencoded.png"/>
            <p:cNvSpPr/>
            <p:nvPr/>
          </p:nvSpPr>
          <p:spPr>
            <a:xfrm flipH="false" flipV="false" rot="0">
              <a:off x="0" y="0"/>
              <a:ext cx="10668000" cy="3962400"/>
            </a:xfrm>
            <a:custGeom>
              <a:avLst/>
              <a:gdLst/>
              <a:ahLst/>
              <a:cxnLst/>
              <a:rect r="r" b="b" t="t" l="l"/>
              <a:pathLst>
                <a:path h="3962400" w="10668000">
                  <a:moveTo>
                    <a:pt x="0" y="0"/>
                  </a:moveTo>
                  <a:lnTo>
                    <a:pt x="10668000" y="0"/>
                  </a:lnTo>
                  <a:lnTo>
                    <a:pt x="10668000" y="3962400"/>
                  </a:lnTo>
                  <a:lnTo>
                    <a:pt x="0" y="39624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9944100" y="2686050"/>
            <a:ext cx="7315200" cy="1714500"/>
            <a:chOff x="0" y="0"/>
            <a:chExt cx="9753600" cy="2286000"/>
          </a:xfrm>
        </p:grpSpPr>
        <p:sp>
          <p:nvSpPr>
            <p:cNvPr name="Freeform 13" id="13" descr="preencoded.png"/>
            <p:cNvSpPr/>
            <p:nvPr/>
          </p:nvSpPr>
          <p:spPr>
            <a:xfrm flipH="false" flipV="false" rot="0">
              <a:off x="0" y="0"/>
              <a:ext cx="9753600" cy="2286000"/>
            </a:xfrm>
            <a:custGeom>
              <a:avLst/>
              <a:gdLst/>
              <a:ahLst/>
              <a:cxnLst/>
              <a:rect r="r" b="b" t="t" l="l"/>
              <a:pathLst>
                <a:path h="2286000" w="9753600">
                  <a:moveTo>
                    <a:pt x="0" y="0"/>
                  </a:moveTo>
                  <a:lnTo>
                    <a:pt x="9753600" y="0"/>
                  </a:lnTo>
                  <a:lnTo>
                    <a:pt x="9753600" y="2286000"/>
                  </a:lnTo>
                  <a:lnTo>
                    <a:pt x="0" y="22860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9601200" y="5086350"/>
            <a:ext cx="8001000" cy="4457700"/>
            <a:chOff x="0" y="0"/>
            <a:chExt cx="10668000" cy="5943600"/>
          </a:xfrm>
        </p:grpSpPr>
        <p:sp>
          <p:nvSpPr>
            <p:cNvPr name="Freeform 15" id="15" descr="preencoded.png"/>
            <p:cNvSpPr/>
            <p:nvPr/>
          </p:nvSpPr>
          <p:spPr>
            <a:xfrm flipH="false" flipV="false" rot="0">
              <a:off x="0" y="0"/>
              <a:ext cx="10668000" cy="5943600"/>
            </a:xfrm>
            <a:custGeom>
              <a:avLst/>
              <a:gdLst/>
              <a:ahLst/>
              <a:cxnLst/>
              <a:rect r="r" b="b" t="t" l="l"/>
              <a:pathLst>
                <a:path h="5943600" w="10668000">
                  <a:moveTo>
                    <a:pt x="0" y="0"/>
                  </a:moveTo>
                  <a:lnTo>
                    <a:pt x="10668000" y="0"/>
                  </a:lnTo>
                  <a:lnTo>
                    <a:pt x="10668000" y="5943600"/>
                  </a:lnTo>
                  <a:lnTo>
                    <a:pt x="0" y="5943600"/>
                  </a:lnTo>
                  <a:lnTo>
                    <a:pt x="0" y="0"/>
                  </a:lnTo>
                  <a:close/>
                </a:path>
              </a:pathLst>
            </a:custGeom>
            <a:blipFill>
              <a:blip r:embed="rId9"/>
              <a:stretch>
                <a:fillRect l="0" t="0" r="0" b="0"/>
              </a:stretch>
            </a:blipFill>
          </p:spPr>
        </p:sp>
      </p:grpSp>
      <p:sp>
        <p:nvSpPr>
          <p:cNvPr name="TextBox 16" id="16"/>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Introduction aux Classes</a:t>
            </a:r>
          </a:p>
        </p:txBody>
      </p:sp>
      <p:sp>
        <p:nvSpPr>
          <p:cNvPr name="TextBox 17" id="17"/>
          <p:cNvSpPr txBox="true"/>
          <p:nvPr/>
        </p:nvSpPr>
        <p:spPr>
          <a:xfrm rot="0">
            <a:off x="1143000" y="1714500"/>
            <a:ext cx="8001000" cy="514350"/>
          </a:xfrm>
          <a:prstGeom prst="rect">
            <a:avLst/>
          </a:prstGeom>
        </p:spPr>
        <p:txBody>
          <a:bodyPr anchor="t" rtlCol="false" tIns="0" lIns="0" bIns="0" rIns="0">
            <a:spAutoFit/>
          </a:bodyPr>
          <a:lstStyle/>
          <a:p>
            <a:pPr algn="l">
              <a:lnSpc>
                <a:spcPts val="3600"/>
              </a:lnSpc>
            </a:pPr>
            <a:r>
              <a:rPr lang="en-US" sz="2700" b="true">
                <a:solidFill>
                  <a:srgbClr val="3B82F6"/>
                </a:solidFill>
                <a:latin typeface="Arimo Bold"/>
                <a:ea typeface="Arimo Bold"/>
                <a:cs typeface="Arimo Bold"/>
                <a:sym typeface="Arimo Bold"/>
              </a:rPr>
              <a:t>Définition</a:t>
            </a:r>
          </a:p>
        </p:txBody>
      </p:sp>
      <p:sp>
        <p:nvSpPr>
          <p:cNvPr name="TextBox 18" id="18"/>
          <p:cNvSpPr txBox="true"/>
          <p:nvPr/>
        </p:nvSpPr>
        <p:spPr>
          <a:xfrm rot="0">
            <a:off x="685800" y="2381250"/>
            <a:ext cx="8001000" cy="14478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Une classe est un modèle pour créer des objets qui regroupent des données et des fonctions (méthodes) qui peuvent manipuler ces données. Elle est l'élément fondamental de la programmation orientée objet (POO).</a:t>
            </a:r>
          </a:p>
        </p:txBody>
      </p:sp>
      <p:grpSp>
        <p:nvGrpSpPr>
          <p:cNvPr name="Group 19" id="19"/>
          <p:cNvGrpSpPr>
            <a:grpSpLocks noChangeAspect="true"/>
          </p:cNvGrpSpPr>
          <p:nvPr/>
        </p:nvGrpSpPr>
        <p:grpSpPr>
          <a:xfrm rot="0">
            <a:off x="566895" y="4255492"/>
            <a:ext cx="8813325" cy="1573808"/>
            <a:chOff x="0" y="0"/>
            <a:chExt cx="10668000" cy="1905000"/>
          </a:xfrm>
        </p:grpSpPr>
        <p:sp>
          <p:nvSpPr>
            <p:cNvPr name="Freeform 20" id="20" descr="preencoded.png"/>
            <p:cNvSpPr/>
            <p:nvPr/>
          </p:nvSpPr>
          <p:spPr>
            <a:xfrm flipH="false" flipV="false" rot="0">
              <a:off x="0" y="0"/>
              <a:ext cx="10668000" cy="1905000"/>
            </a:xfrm>
            <a:custGeom>
              <a:avLst/>
              <a:gdLst/>
              <a:ahLst/>
              <a:cxnLst/>
              <a:rect r="r" b="b" t="t" l="l"/>
              <a:pathLst>
                <a:path h="1905000" w="10668000">
                  <a:moveTo>
                    <a:pt x="0" y="0"/>
                  </a:moveTo>
                  <a:lnTo>
                    <a:pt x="10668000" y="0"/>
                  </a:lnTo>
                  <a:lnTo>
                    <a:pt x="10668000" y="1905000"/>
                  </a:lnTo>
                  <a:lnTo>
                    <a:pt x="0" y="1905000"/>
                  </a:lnTo>
                  <a:lnTo>
                    <a:pt x="0" y="0"/>
                  </a:lnTo>
                  <a:close/>
                </a:path>
              </a:pathLst>
            </a:custGeom>
            <a:blipFill>
              <a:blip r:embed="rId5"/>
              <a:stretch>
                <a:fillRect l="0" t="0" r="0" b="0"/>
              </a:stretch>
            </a:blipFill>
          </p:spPr>
        </p:sp>
      </p:grpSp>
      <p:sp>
        <p:nvSpPr>
          <p:cNvPr name="TextBox 21" id="21"/>
          <p:cNvSpPr txBox="true"/>
          <p:nvPr/>
        </p:nvSpPr>
        <p:spPr>
          <a:xfrm rot="0">
            <a:off x="828675" y="3465138"/>
            <a:ext cx="8001000" cy="2221287"/>
          </a:xfrm>
          <a:prstGeom prst="rect">
            <a:avLst/>
          </a:prstGeom>
        </p:spPr>
        <p:txBody>
          <a:bodyPr anchor="t" rtlCol="false" tIns="0" lIns="0" bIns="0" rIns="0">
            <a:spAutoFit/>
          </a:bodyPr>
          <a:lstStyle/>
          <a:p>
            <a:pPr algn="l">
              <a:lnSpc>
                <a:spcPts val="2249"/>
              </a:lnSpc>
            </a:pPr>
            <a:r>
              <a:rPr lang="en-US" sz="1575">
                <a:solidFill>
                  <a:srgbClr val="8A8A8A"/>
                </a:solidFill>
                <a:latin typeface="Arial"/>
                <a:ea typeface="Arial"/>
                <a:cs typeface="Arial"/>
                <a:sym typeface="Arial"/>
              </a:rPr>
              <a:t># Définition simple d'une classe</a:t>
            </a:r>
          </a:p>
          <a:p>
            <a:pPr algn="l">
              <a:lnSpc>
                <a:spcPts val="2249"/>
              </a:lnSpc>
            </a:pP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class</a:t>
            </a: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Personne</a:t>
            </a:r>
            <a:r>
              <a:rPr lang="en-US" sz="1575">
                <a:solidFill>
                  <a:srgbClr val="E6E6E6"/>
                </a:solidFill>
                <a:latin typeface="Arial"/>
                <a:ea typeface="Arial"/>
                <a:cs typeface="Arial"/>
                <a:sym typeface="Arial"/>
              </a:rPr>
              <a:t>:</a:t>
            </a:r>
          </a:p>
          <a:p>
            <a:pPr algn="l">
              <a:lnSpc>
                <a:spcPts val="2249"/>
              </a:lnSpc>
            </a:pPr>
            <a:r>
              <a:rPr lang="en-US" sz="1575">
                <a:solidFill>
                  <a:srgbClr val="E6E6E6"/>
                </a:solidFill>
                <a:latin typeface="Arial"/>
                <a:ea typeface="Arial"/>
                <a:cs typeface="Arial"/>
                <a:sym typeface="Arial"/>
              </a:rPr>
              <a:t> </a:t>
            </a:r>
            <a:r>
              <a:rPr lang="en-US" sz="1575">
                <a:solidFill>
                  <a:srgbClr val="8A8A8A"/>
                </a:solidFill>
                <a:latin typeface="Arial"/>
                <a:ea typeface="Arial"/>
                <a:cs typeface="Arial"/>
                <a:sym typeface="Arial"/>
              </a:rPr>
              <a:t># Méthode d'initialisation</a:t>
            </a:r>
            <a:r>
              <a:rPr lang="en-US" sz="1575">
                <a:solidFill>
                  <a:srgbClr val="E6E6E6"/>
                </a:solidFill>
                <a:latin typeface="Arial"/>
                <a:ea typeface="Arial"/>
                <a:cs typeface="Arial"/>
                <a:sym typeface="Arial"/>
              </a:rPr>
              <a:t> </a:t>
            </a:r>
          </a:p>
          <a:p>
            <a:pPr algn="l">
              <a:lnSpc>
                <a:spcPts val="2249"/>
              </a:lnSpc>
            </a:pP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def</a:t>
            </a: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__init__</a:t>
            </a:r>
            <a:r>
              <a:rPr lang="en-US" sz="1575">
                <a:solidFill>
                  <a:srgbClr val="E6E6E6"/>
                </a:solidFill>
                <a:latin typeface="Arial"/>
                <a:ea typeface="Arial"/>
                <a:cs typeface="Arial"/>
                <a:sym typeface="Arial"/>
              </a:rPr>
              <a:t>(</a:t>
            </a:r>
            <a:r>
              <a:rPr lang="en-US" sz="1575">
                <a:solidFill>
                  <a:srgbClr val="56B6C2"/>
                </a:solidFill>
                <a:latin typeface="Arial"/>
                <a:ea typeface="Arial"/>
                <a:cs typeface="Arial"/>
                <a:sym typeface="Arial"/>
              </a:rPr>
              <a:t>self</a:t>
            </a:r>
            <a:r>
              <a:rPr lang="en-US" sz="1575">
                <a:solidFill>
                  <a:srgbClr val="E6E6E6"/>
                </a:solidFill>
                <a:latin typeface="Arial"/>
                <a:ea typeface="Arial"/>
                <a:cs typeface="Arial"/>
                <a:sym typeface="Arial"/>
              </a:rPr>
              <a:t>, nom, age): </a:t>
            </a:r>
          </a:p>
          <a:p>
            <a:pPr algn="l">
              <a:lnSpc>
                <a:spcPts val="2249"/>
              </a:lnSpc>
            </a:pP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self</a:t>
            </a:r>
            <a:r>
              <a:rPr lang="en-US" sz="1575">
                <a:solidFill>
                  <a:srgbClr val="E6E6E6"/>
                </a:solidFill>
                <a:latin typeface="Arial"/>
                <a:ea typeface="Arial"/>
                <a:cs typeface="Arial"/>
                <a:sym typeface="Arial"/>
              </a:rPr>
              <a:t>.nom = nom </a:t>
            </a:r>
            <a:r>
              <a:rPr lang="en-US" sz="1575">
                <a:solidFill>
                  <a:srgbClr val="56B6C2"/>
                </a:solidFill>
                <a:latin typeface="Arial"/>
                <a:ea typeface="Arial"/>
                <a:cs typeface="Arial"/>
                <a:sym typeface="Arial"/>
              </a:rPr>
              <a:t>self</a:t>
            </a:r>
            <a:r>
              <a:rPr lang="en-US" sz="1575">
                <a:solidFill>
                  <a:srgbClr val="E6E6E6"/>
                </a:solidFill>
                <a:latin typeface="Arial"/>
                <a:ea typeface="Arial"/>
                <a:cs typeface="Arial"/>
                <a:sym typeface="Arial"/>
              </a:rPr>
              <a:t>.age = age </a:t>
            </a:r>
          </a:p>
          <a:p>
            <a:pPr algn="l">
              <a:lnSpc>
                <a:spcPts val="2249"/>
              </a:lnSpc>
            </a:pPr>
            <a:r>
              <a:rPr lang="en-US" sz="1575">
                <a:solidFill>
                  <a:srgbClr val="8A8A8A"/>
                </a:solidFill>
                <a:latin typeface="Arial"/>
                <a:ea typeface="Arial"/>
                <a:cs typeface="Arial"/>
                <a:sym typeface="Arial"/>
              </a:rPr>
              <a:t># Méthode</a:t>
            </a:r>
          </a:p>
          <a:p>
            <a:pPr algn="l">
              <a:lnSpc>
                <a:spcPts val="2249"/>
              </a:lnSpc>
            </a:pPr>
            <a:r>
              <a:rPr lang="en-US" sz="1575">
                <a:solidFill>
                  <a:srgbClr val="8A8A8A"/>
                </a:solidFill>
                <a:latin typeface="Arial"/>
                <a:ea typeface="Arial"/>
                <a:cs typeface="Arial"/>
                <a:sym typeface="Arial"/>
              </a:rPr>
              <a:t>     </a:t>
            </a: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def</a:t>
            </a: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presente</a:t>
            </a:r>
            <a:r>
              <a:rPr lang="en-US" sz="1575">
                <a:solidFill>
                  <a:srgbClr val="E6E6E6"/>
                </a:solidFill>
                <a:latin typeface="Arial"/>
                <a:ea typeface="Arial"/>
                <a:cs typeface="Arial"/>
                <a:sym typeface="Arial"/>
              </a:rPr>
              <a:t>(</a:t>
            </a:r>
            <a:r>
              <a:rPr lang="en-US" sz="1575">
                <a:solidFill>
                  <a:srgbClr val="56B6C2"/>
                </a:solidFill>
                <a:latin typeface="Arial"/>
                <a:ea typeface="Arial"/>
                <a:cs typeface="Arial"/>
                <a:sym typeface="Arial"/>
              </a:rPr>
              <a:t>self</a:t>
            </a:r>
            <a:r>
              <a:rPr lang="en-US" sz="1575">
                <a:solidFill>
                  <a:srgbClr val="E6E6E6"/>
                </a:solidFill>
                <a:latin typeface="Arial"/>
                <a:ea typeface="Arial"/>
                <a:cs typeface="Arial"/>
                <a:sym typeface="Arial"/>
              </a:rPr>
              <a:t>): </a:t>
            </a:r>
          </a:p>
          <a:p>
            <a:pPr algn="l">
              <a:lnSpc>
                <a:spcPts val="2250"/>
              </a:lnSpc>
            </a:pPr>
            <a:r>
              <a:rPr lang="en-US" sz="1575">
                <a:solidFill>
                  <a:srgbClr val="E6E6E6"/>
                </a:solidFill>
                <a:latin typeface="Arial"/>
                <a:ea typeface="Arial"/>
                <a:cs typeface="Arial"/>
                <a:sym typeface="Arial"/>
              </a:rPr>
              <a:t>            </a:t>
            </a:r>
            <a:r>
              <a:rPr lang="en-US" sz="1575">
                <a:solidFill>
                  <a:srgbClr val="56B6C2"/>
                </a:solidFill>
                <a:latin typeface="Arial"/>
                <a:ea typeface="Arial"/>
                <a:cs typeface="Arial"/>
                <a:sym typeface="Arial"/>
              </a:rPr>
              <a:t>return</a:t>
            </a:r>
            <a:r>
              <a:rPr lang="en-US" sz="1575">
                <a:solidFill>
                  <a:srgbClr val="E6E6E6"/>
                </a:solidFill>
                <a:latin typeface="Arial"/>
                <a:ea typeface="Arial"/>
                <a:cs typeface="Arial"/>
                <a:sym typeface="Arial"/>
              </a:rPr>
              <a:t> f"Bonjour, je m'appelle {self.nom} et j'ai {self.age} ans"</a:t>
            </a:r>
          </a:p>
        </p:txBody>
      </p:sp>
      <p:sp>
        <p:nvSpPr>
          <p:cNvPr name="TextBox 22" id="22"/>
          <p:cNvSpPr txBox="true"/>
          <p:nvPr/>
        </p:nvSpPr>
        <p:spPr>
          <a:xfrm rot="0">
            <a:off x="1143000" y="5772150"/>
            <a:ext cx="9601200" cy="514350"/>
          </a:xfrm>
          <a:prstGeom prst="rect">
            <a:avLst/>
          </a:prstGeom>
        </p:spPr>
        <p:txBody>
          <a:bodyPr anchor="t" rtlCol="false" tIns="0" lIns="0" bIns="0" rIns="0">
            <a:spAutoFit/>
          </a:bodyPr>
          <a:lstStyle/>
          <a:p>
            <a:pPr algn="l">
              <a:lnSpc>
                <a:spcPts val="3600"/>
              </a:lnSpc>
            </a:pPr>
            <a:r>
              <a:rPr lang="en-US" sz="2700" b="true">
                <a:solidFill>
                  <a:srgbClr val="A855F7"/>
                </a:solidFill>
                <a:latin typeface="Arimo Bold"/>
                <a:ea typeface="Arimo Bold"/>
                <a:cs typeface="Arimo Bold"/>
                <a:sym typeface="Arimo Bold"/>
              </a:rPr>
              <a:t>Attributs et Méthodes</a:t>
            </a:r>
          </a:p>
        </p:txBody>
      </p:sp>
      <p:sp>
        <p:nvSpPr>
          <p:cNvPr name="TextBox 23" id="23"/>
          <p:cNvSpPr txBox="true"/>
          <p:nvPr/>
        </p:nvSpPr>
        <p:spPr>
          <a:xfrm rot="0">
            <a:off x="742950" y="6438900"/>
            <a:ext cx="9532620" cy="4191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Attributs: Variables appartenant à une classe (données)</a:t>
            </a:r>
          </a:p>
        </p:txBody>
      </p:sp>
      <p:sp>
        <p:nvSpPr>
          <p:cNvPr name="TextBox 24" id="24"/>
          <p:cNvSpPr txBox="true"/>
          <p:nvPr/>
        </p:nvSpPr>
        <p:spPr>
          <a:xfrm rot="0">
            <a:off x="742950" y="6896100"/>
            <a:ext cx="7943850" cy="762000"/>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Méthodes: Fonctions définies à l'intérieur d'une classe (comportements)</a:t>
            </a:r>
          </a:p>
        </p:txBody>
      </p:sp>
      <p:sp>
        <p:nvSpPr>
          <p:cNvPr name="TextBox 25" id="25"/>
          <p:cNvSpPr txBox="true"/>
          <p:nvPr/>
        </p:nvSpPr>
        <p:spPr>
          <a:xfrm rot="0">
            <a:off x="742950" y="7696200"/>
            <a:ext cx="9532620" cy="433388"/>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374151"/>
                </a:solidFill>
                <a:latin typeface="Arimo"/>
                <a:ea typeface="Arimo"/>
                <a:cs typeface="Arimo"/>
                <a:sym typeface="Arimo"/>
              </a:rPr>
              <a:t>Constructeur: </a:t>
            </a:r>
            <a:r>
              <a:rPr lang="en-US" sz="1800">
                <a:solidFill>
                  <a:srgbClr val="16A34A"/>
                </a:solidFill>
                <a:latin typeface="Arimo"/>
                <a:ea typeface="Arimo"/>
                <a:cs typeface="Arimo"/>
                <a:sym typeface="Arimo"/>
              </a:rPr>
              <a:t>__init__</a:t>
            </a:r>
            <a:r>
              <a:rPr lang="en-US" sz="1800">
                <a:solidFill>
                  <a:srgbClr val="374151"/>
                </a:solidFill>
                <a:latin typeface="Arimo"/>
                <a:ea typeface="Arimo"/>
                <a:cs typeface="Arimo"/>
                <a:sym typeface="Arimo"/>
              </a:rPr>
              <a:t> initialisant un nouvel objet</a:t>
            </a:r>
          </a:p>
        </p:txBody>
      </p:sp>
      <p:sp>
        <p:nvSpPr>
          <p:cNvPr name="TextBox 26" id="26"/>
          <p:cNvSpPr txBox="true"/>
          <p:nvPr/>
        </p:nvSpPr>
        <p:spPr>
          <a:xfrm rot="0">
            <a:off x="742950" y="8167688"/>
            <a:ext cx="7943850" cy="433388"/>
          </a:xfrm>
          <a:prstGeom prst="rect">
            <a:avLst/>
          </a:prstGeom>
        </p:spPr>
        <p:txBody>
          <a:bodyPr anchor="t" rtlCol="false" tIns="0" lIns="0" bIns="0" rIns="0">
            <a:spAutoFit/>
          </a:bodyPr>
          <a:lstStyle/>
          <a:p>
            <a:pPr algn="l" marL="325755" indent="-162878" lvl="1">
              <a:lnSpc>
                <a:spcPts val="2700"/>
              </a:lnSpc>
              <a:buFont typeface="Arial"/>
              <a:buChar char="•"/>
            </a:pPr>
            <a:r>
              <a:rPr lang="en-US" sz="1800">
                <a:solidFill>
                  <a:srgbClr val="F87171"/>
                </a:solidFill>
                <a:latin typeface="Arimo"/>
                <a:ea typeface="Arimo"/>
                <a:cs typeface="Arimo"/>
                <a:sym typeface="Arimo"/>
              </a:rPr>
              <a:t>self</a:t>
            </a:r>
            <a:r>
              <a:rPr lang="en-US" sz="1800">
                <a:solidFill>
                  <a:srgbClr val="374151"/>
                </a:solidFill>
                <a:latin typeface="Arimo"/>
                <a:ea typeface="Arimo"/>
                <a:cs typeface="Arimo"/>
                <a:sym typeface="Arimo"/>
              </a:rPr>
              <a:t>: Référence à l'instance active de la classe</a:t>
            </a:r>
          </a:p>
        </p:txBody>
      </p:sp>
      <p:sp>
        <p:nvSpPr>
          <p:cNvPr name="TextBox 27" id="27"/>
          <p:cNvSpPr txBox="true"/>
          <p:nvPr/>
        </p:nvSpPr>
        <p:spPr>
          <a:xfrm rot="0">
            <a:off x="9944100" y="2057400"/>
            <a:ext cx="7315200" cy="457200"/>
          </a:xfrm>
          <a:prstGeom prst="rect">
            <a:avLst/>
          </a:prstGeom>
        </p:spPr>
        <p:txBody>
          <a:bodyPr anchor="t" rtlCol="false" tIns="0" lIns="0" bIns="0" rIns="0">
            <a:spAutoFit/>
          </a:bodyPr>
          <a:lstStyle/>
          <a:p>
            <a:pPr algn="l">
              <a:lnSpc>
                <a:spcPts val="3149"/>
              </a:lnSpc>
            </a:pPr>
            <a:r>
              <a:rPr lang="en-US" sz="2250" b="true">
                <a:solidFill>
                  <a:srgbClr val="16A34A"/>
                </a:solidFill>
                <a:latin typeface="Arimo Bold"/>
                <a:ea typeface="Arimo Bold"/>
                <a:cs typeface="Arimo Bold"/>
                <a:sym typeface="Arimo Bold"/>
              </a:rPr>
              <a:t>Exemple d'utilisation</a:t>
            </a:r>
          </a:p>
        </p:txBody>
      </p:sp>
      <p:sp>
        <p:nvSpPr>
          <p:cNvPr name="TextBox 28" id="28"/>
          <p:cNvSpPr txBox="true"/>
          <p:nvPr/>
        </p:nvSpPr>
        <p:spPr>
          <a:xfrm rot="0">
            <a:off x="10086975" y="2638425"/>
            <a:ext cx="7315200" cy="1678362"/>
          </a:xfrm>
          <a:prstGeom prst="rect">
            <a:avLst/>
          </a:prstGeom>
        </p:spPr>
        <p:txBody>
          <a:bodyPr anchor="t" rtlCol="false" tIns="0" lIns="0" bIns="0" rIns="0">
            <a:spAutoFit/>
          </a:bodyPr>
          <a:lstStyle/>
          <a:p>
            <a:pPr algn="l">
              <a:lnSpc>
                <a:spcPts val="2249"/>
              </a:lnSpc>
            </a:pPr>
            <a:r>
              <a:rPr lang="en-US" sz="1575">
                <a:solidFill>
                  <a:srgbClr val="E6E6E6"/>
                </a:solidFill>
                <a:latin typeface="Arial"/>
                <a:ea typeface="Arial"/>
                <a:cs typeface="Arial"/>
                <a:sym typeface="Arial"/>
              </a:rPr>
              <a:t># Création d'instances </a:t>
            </a:r>
          </a:p>
          <a:p>
            <a:pPr algn="l">
              <a:lnSpc>
                <a:spcPts val="2249"/>
              </a:lnSpc>
            </a:pPr>
            <a:r>
              <a:rPr lang="en-US" sz="1575">
                <a:solidFill>
                  <a:srgbClr val="E6E6E6"/>
                </a:solidFill>
                <a:latin typeface="Arial"/>
                <a:ea typeface="Arial"/>
                <a:cs typeface="Arial"/>
                <a:sym typeface="Arial"/>
              </a:rPr>
              <a:t>p1 = </a:t>
            </a:r>
            <a:r>
              <a:rPr lang="en-US" sz="1575">
                <a:solidFill>
                  <a:srgbClr val="56B6C2"/>
                </a:solidFill>
                <a:latin typeface="Arial"/>
                <a:ea typeface="Arial"/>
                <a:cs typeface="Arial"/>
                <a:sym typeface="Arial"/>
              </a:rPr>
              <a:t>Personne</a:t>
            </a:r>
            <a:r>
              <a:rPr lang="en-US" sz="1575">
                <a:solidFill>
                  <a:srgbClr val="E6E6E6"/>
                </a:solidFill>
                <a:latin typeface="Arial"/>
                <a:ea typeface="Arial"/>
                <a:cs typeface="Arial"/>
                <a:sym typeface="Arial"/>
              </a:rPr>
              <a:t>("Alice", 30) </a:t>
            </a:r>
          </a:p>
          <a:p>
            <a:pPr algn="l">
              <a:lnSpc>
                <a:spcPts val="2249"/>
              </a:lnSpc>
            </a:pPr>
            <a:r>
              <a:rPr lang="en-US" sz="1575">
                <a:solidFill>
                  <a:srgbClr val="E6E6E6"/>
                </a:solidFill>
                <a:latin typeface="Arial"/>
                <a:ea typeface="Arial"/>
                <a:cs typeface="Arial"/>
                <a:sym typeface="Arial"/>
              </a:rPr>
              <a:t>p2 = </a:t>
            </a:r>
            <a:r>
              <a:rPr lang="en-US" sz="1575">
                <a:solidFill>
                  <a:srgbClr val="56B6C2"/>
                </a:solidFill>
                <a:latin typeface="Arial"/>
                <a:ea typeface="Arial"/>
                <a:cs typeface="Arial"/>
                <a:sym typeface="Arial"/>
              </a:rPr>
              <a:t>Personne</a:t>
            </a:r>
            <a:r>
              <a:rPr lang="en-US" sz="1575">
                <a:solidFill>
                  <a:srgbClr val="E6E6E6"/>
                </a:solidFill>
                <a:latin typeface="Arial"/>
                <a:ea typeface="Arial"/>
                <a:cs typeface="Arial"/>
                <a:sym typeface="Arial"/>
              </a:rPr>
              <a:t>("Bob", 25) </a:t>
            </a:r>
          </a:p>
          <a:p>
            <a:pPr algn="l">
              <a:lnSpc>
                <a:spcPts val="2249"/>
              </a:lnSpc>
            </a:pPr>
            <a:r>
              <a:rPr lang="en-US" sz="1575">
                <a:solidFill>
                  <a:srgbClr val="E6E6E6"/>
                </a:solidFill>
                <a:latin typeface="Arial"/>
                <a:ea typeface="Arial"/>
                <a:cs typeface="Arial"/>
                <a:sym typeface="Arial"/>
              </a:rPr>
              <a:t># Appel de méthode</a:t>
            </a:r>
          </a:p>
          <a:p>
            <a:pPr algn="l">
              <a:lnSpc>
                <a:spcPts val="2250"/>
              </a:lnSpc>
            </a:pPr>
            <a:r>
              <a:rPr lang="en-US" sz="1575">
                <a:solidFill>
                  <a:srgbClr val="E6E6E6"/>
                </a:solidFill>
                <a:latin typeface="Arial"/>
                <a:ea typeface="Arial"/>
                <a:cs typeface="Arial"/>
                <a:sym typeface="Arial"/>
              </a:rPr>
              <a:t> print(p1.presente()) </a:t>
            </a:r>
            <a:r>
              <a:rPr lang="en-US" sz="1575">
                <a:solidFill>
                  <a:srgbClr val="8A8A8A"/>
                </a:solidFill>
                <a:latin typeface="Arial"/>
                <a:ea typeface="Arial"/>
                <a:cs typeface="Arial"/>
                <a:sym typeface="Arial"/>
              </a:rPr>
              <a:t># Affiche: Bonjour, je m'appelle Alice et j'ai 30 ans</a:t>
            </a:r>
            <a:r>
              <a:rPr lang="en-US" sz="1575">
                <a:solidFill>
                  <a:srgbClr val="E6E6E6"/>
                </a:solidFill>
                <a:latin typeface="Arial"/>
                <a:ea typeface="Arial"/>
                <a:cs typeface="Arial"/>
                <a:sym typeface="Arial"/>
              </a:rPr>
              <a:t> print(p2.presente()) </a:t>
            </a:r>
            <a:r>
              <a:rPr lang="en-US" sz="1575">
                <a:solidFill>
                  <a:srgbClr val="8A8A8A"/>
                </a:solidFill>
                <a:latin typeface="Arial"/>
                <a:ea typeface="Arial"/>
                <a:cs typeface="Arial"/>
                <a:sym typeface="Arial"/>
              </a:rPr>
              <a:t># Affiche: Bonjour, je m'appelle Bob et j'ai 25 ans</a:t>
            </a:r>
          </a:p>
        </p:txBody>
      </p:sp>
      <p:sp>
        <p:nvSpPr>
          <p:cNvPr name="TextBox 29" id="29"/>
          <p:cNvSpPr txBox="true"/>
          <p:nvPr/>
        </p:nvSpPr>
        <p:spPr>
          <a:xfrm rot="0">
            <a:off x="9944100" y="5372100"/>
            <a:ext cx="7315200" cy="457200"/>
          </a:xfrm>
          <a:prstGeom prst="rect">
            <a:avLst/>
          </a:prstGeom>
        </p:spPr>
        <p:txBody>
          <a:bodyPr anchor="t" rtlCol="false" tIns="0" lIns="0" bIns="0" rIns="0">
            <a:spAutoFit/>
          </a:bodyPr>
          <a:lstStyle/>
          <a:p>
            <a:pPr algn="l">
              <a:lnSpc>
                <a:spcPts val="3149"/>
              </a:lnSpc>
            </a:pPr>
            <a:r>
              <a:rPr lang="en-US" sz="2250" b="true">
                <a:solidFill>
                  <a:srgbClr val="9333EA"/>
                </a:solidFill>
                <a:latin typeface="Arimo Bold"/>
                <a:ea typeface="Arimo Bold"/>
                <a:cs typeface="Arimo Bold"/>
                <a:sym typeface="Arimo Bold"/>
              </a:rPr>
              <a:t>Concepts Importants</a:t>
            </a:r>
          </a:p>
        </p:txBody>
      </p:sp>
      <p:sp>
        <p:nvSpPr>
          <p:cNvPr name="TextBox 30" id="30"/>
          <p:cNvSpPr txBox="true"/>
          <p:nvPr/>
        </p:nvSpPr>
        <p:spPr>
          <a:xfrm rot="0">
            <a:off x="9944100" y="5924550"/>
            <a:ext cx="7315200" cy="419100"/>
          </a:xfrm>
          <a:prstGeom prst="rect">
            <a:avLst/>
          </a:prstGeom>
        </p:spPr>
        <p:txBody>
          <a:bodyPr anchor="t" rtlCol="false" tIns="0" lIns="0" bIns="0" rIns="0">
            <a:spAutoFit/>
          </a:bodyPr>
          <a:lstStyle/>
          <a:p>
            <a:pPr algn="l">
              <a:lnSpc>
                <a:spcPts val="2700"/>
              </a:lnSpc>
            </a:pPr>
            <a:r>
              <a:rPr lang="en-US" sz="1800" b="true">
                <a:solidFill>
                  <a:srgbClr val="3B82F6"/>
                </a:solidFill>
                <a:latin typeface="Arimo Bold"/>
                <a:ea typeface="Arimo Bold"/>
                <a:cs typeface="Arimo Bold"/>
                <a:sym typeface="Arimo Bold"/>
              </a:rPr>
              <a:t>Héritance</a:t>
            </a:r>
          </a:p>
        </p:txBody>
      </p:sp>
      <p:sp>
        <p:nvSpPr>
          <p:cNvPr name="TextBox 31" id="31"/>
          <p:cNvSpPr txBox="true"/>
          <p:nvPr/>
        </p:nvSpPr>
        <p:spPr>
          <a:xfrm rot="0">
            <a:off x="9944100" y="6296025"/>
            <a:ext cx="8778240" cy="333375"/>
          </a:xfrm>
          <a:prstGeom prst="rect">
            <a:avLst/>
          </a:prstGeom>
        </p:spPr>
        <p:txBody>
          <a:bodyPr anchor="t" rtlCol="false" tIns="0" lIns="0" bIns="0" rIns="0">
            <a:spAutoFit/>
          </a:bodyPr>
          <a:lstStyle/>
          <a:p>
            <a:pPr algn="l">
              <a:lnSpc>
                <a:spcPts val="2250"/>
              </a:lnSpc>
            </a:pPr>
            <a:r>
              <a:rPr lang="en-US" sz="1575">
                <a:solidFill>
                  <a:srgbClr val="374151"/>
                </a:solidFill>
                <a:latin typeface="Arimo"/>
                <a:ea typeface="Arimo"/>
                <a:cs typeface="Arimo"/>
                <a:sym typeface="Arimo"/>
              </a:rPr>
              <a:t>Permet à une classe de hériter d'une autre classe</a:t>
            </a:r>
          </a:p>
        </p:txBody>
      </p:sp>
      <p:sp>
        <p:nvSpPr>
          <p:cNvPr name="TextBox 32" id="32"/>
          <p:cNvSpPr txBox="true"/>
          <p:nvPr/>
        </p:nvSpPr>
        <p:spPr>
          <a:xfrm rot="0">
            <a:off x="9944100" y="6781800"/>
            <a:ext cx="7315200" cy="419100"/>
          </a:xfrm>
          <a:prstGeom prst="rect">
            <a:avLst/>
          </a:prstGeom>
        </p:spPr>
        <p:txBody>
          <a:bodyPr anchor="t" rtlCol="false" tIns="0" lIns="0" bIns="0" rIns="0">
            <a:spAutoFit/>
          </a:bodyPr>
          <a:lstStyle/>
          <a:p>
            <a:pPr algn="l">
              <a:lnSpc>
                <a:spcPts val="2700"/>
              </a:lnSpc>
            </a:pPr>
            <a:r>
              <a:rPr lang="en-US" sz="1800" b="true">
                <a:solidFill>
                  <a:srgbClr val="3B82F6"/>
                </a:solidFill>
                <a:latin typeface="Arimo Bold"/>
                <a:ea typeface="Arimo Bold"/>
                <a:cs typeface="Arimo Bold"/>
                <a:sym typeface="Arimo Bold"/>
              </a:rPr>
              <a:t>Encapsulation</a:t>
            </a:r>
          </a:p>
        </p:txBody>
      </p:sp>
      <p:sp>
        <p:nvSpPr>
          <p:cNvPr name="TextBox 33" id="33"/>
          <p:cNvSpPr txBox="true"/>
          <p:nvPr/>
        </p:nvSpPr>
        <p:spPr>
          <a:xfrm rot="0">
            <a:off x="9944100" y="7153275"/>
            <a:ext cx="8778240" cy="333375"/>
          </a:xfrm>
          <a:prstGeom prst="rect">
            <a:avLst/>
          </a:prstGeom>
        </p:spPr>
        <p:txBody>
          <a:bodyPr anchor="t" rtlCol="false" tIns="0" lIns="0" bIns="0" rIns="0">
            <a:spAutoFit/>
          </a:bodyPr>
          <a:lstStyle/>
          <a:p>
            <a:pPr algn="l">
              <a:lnSpc>
                <a:spcPts val="2250"/>
              </a:lnSpc>
            </a:pPr>
            <a:r>
              <a:rPr lang="en-US" sz="1575">
                <a:solidFill>
                  <a:srgbClr val="374151"/>
                </a:solidFill>
                <a:latin typeface="Arimo"/>
                <a:ea typeface="Arimo"/>
                <a:cs typeface="Arimo"/>
                <a:sym typeface="Arimo"/>
              </a:rPr>
              <a:t>Contrôle l'accès aux données (public, private, protected)</a:t>
            </a:r>
          </a:p>
        </p:txBody>
      </p:sp>
      <p:sp>
        <p:nvSpPr>
          <p:cNvPr name="TextBox 34" id="34"/>
          <p:cNvSpPr txBox="true"/>
          <p:nvPr/>
        </p:nvSpPr>
        <p:spPr>
          <a:xfrm rot="0">
            <a:off x="9944100" y="7639050"/>
            <a:ext cx="7315200" cy="419100"/>
          </a:xfrm>
          <a:prstGeom prst="rect">
            <a:avLst/>
          </a:prstGeom>
        </p:spPr>
        <p:txBody>
          <a:bodyPr anchor="t" rtlCol="false" tIns="0" lIns="0" bIns="0" rIns="0">
            <a:spAutoFit/>
          </a:bodyPr>
          <a:lstStyle/>
          <a:p>
            <a:pPr algn="l">
              <a:lnSpc>
                <a:spcPts val="2700"/>
              </a:lnSpc>
            </a:pPr>
            <a:r>
              <a:rPr lang="en-US" sz="1800" b="true">
                <a:solidFill>
                  <a:srgbClr val="3B82F6"/>
                </a:solidFill>
                <a:latin typeface="Arimo Bold"/>
                <a:ea typeface="Arimo Bold"/>
                <a:cs typeface="Arimo Bold"/>
                <a:sym typeface="Arimo Bold"/>
              </a:rPr>
              <a:t>Polymorphisme</a:t>
            </a:r>
          </a:p>
        </p:txBody>
      </p:sp>
      <p:sp>
        <p:nvSpPr>
          <p:cNvPr name="TextBox 35" id="35"/>
          <p:cNvSpPr txBox="true"/>
          <p:nvPr/>
        </p:nvSpPr>
        <p:spPr>
          <a:xfrm rot="0">
            <a:off x="9944100" y="8010525"/>
            <a:ext cx="8778240" cy="333375"/>
          </a:xfrm>
          <a:prstGeom prst="rect">
            <a:avLst/>
          </a:prstGeom>
        </p:spPr>
        <p:txBody>
          <a:bodyPr anchor="t" rtlCol="false" tIns="0" lIns="0" bIns="0" rIns="0">
            <a:spAutoFit/>
          </a:bodyPr>
          <a:lstStyle/>
          <a:p>
            <a:pPr algn="l">
              <a:lnSpc>
                <a:spcPts val="2250"/>
              </a:lnSpc>
            </a:pPr>
            <a:r>
              <a:rPr lang="en-US" sz="1575">
                <a:solidFill>
                  <a:srgbClr val="374151"/>
                </a:solidFill>
                <a:latin typeface="Arimo"/>
                <a:ea typeface="Arimo"/>
                <a:cs typeface="Arimo"/>
                <a:sym typeface="Arimo"/>
              </a:rPr>
              <a:t>Une classe peut prendre différentes formes et comportements</a:t>
            </a:r>
          </a:p>
        </p:txBody>
      </p:sp>
      <p:sp>
        <p:nvSpPr>
          <p:cNvPr name="TextBox 36" id="36"/>
          <p:cNvSpPr txBox="true"/>
          <p:nvPr/>
        </p:nvSpPr>
        <p:spPr>
          <a:xfrm rot="0">
            <a:off x="9944100" y="8496300"/>
            <a:ext cx="8778240" cy="419100"/>
          </a:xfrm>
          <a:prstGeom prst="rect">
            <a:avLst/>
          </a:prstGeom>
        </p:spPr>
        <p:txBody>
          <a:bodyPr anchor="t" rtlCol="false" tIns="0" lIns="0" bIns="0" rIns="0">
            <a:spAutoFit/>
          </a:bodyPr>
          <a:lstStyle/>
          <a:p>
            <a:pPr algn="l">
              <a:lnSpc>
                <a:spcPts val="2700"/>
              </a:lnSpc>
            </a:pPr>
            <a:r>
              <a:rPr lang="en-US" sz="1800" b="true">
                <a:solidFill>
                  <a:srgbClr val="3B82F6"/>
                </a:solidFill>
                <a:latin typeface="Arimo Bold"/>
                <a:ea typeface="Arimo Bold"/>
                <a:cs typeface="Arimo Bold"/>
                <a:sym typeface="Arimo Bold"/>
              </a:rPr>
              <a:t>Attributs et méthodes dynamiques</a:t>
            </a:r>
          </a:p>
        </p:txBody>
      </p:sp>
      <p:sp>
        <p:nvSpPr>
          <p:cNvPr name="TextBox 37" id="37"/>
          <p:cNvSpPr txBox="true"/>
          <p:nvPr/>
        </p:nvSpPr>
        <p:spPr>
          <a:xfrm rot="0">
            <a:off x="9944100" y="8867775"/>
            <a:ext cx="8778240" cy="333375"/>
          </a:xfrm>
          <a:prstGeom prst="rect">
            <a:avLst/>
          </a:prstGeom>
        </p:spPr>
        <p:txBody>
          <a:bodyPr anchor="t" rtlCol="false" tIns="0" lIns="0" bIns="0" rIns="0">
            <a:spAutoFit/>
          </a:bodyPr>
          <a:lstStyle/>
          <a:p>
            <a:pPr algn="l">
              <a:lnSpc>
                <a:spcPts val="2250"/>
              </a:lnSpc>
            </a:pPr>
            <a:r>
              <a:rPr lang="en-US" sz="1575">
                <a:solidFill>
                  <a:srgbClr val="374151"/>
                </a:solidFill>
                <a:latin typeface="Arimo"/>
                <a:ea typeface="Arimo"/>
                <a:cs typeface="Arimo"/>
                <a:sym typeface="Arimo"/>
              </a:rPr>
              <a:t>Création d'attributs et méthodes à la volée (modularité)</a:t>
            </a:r>
          </a:p>
        </p:txBody>
      </p:sp>
      <p:sp>
        <p:nvSpPr>
          <p:cNvPr name="TextBox 38" id="38"/>
          <p:cNvSpPr txBox="true"/>
          <p:nvPr/>
        </p:nvSpPr>
        <p:spPr>
          <a:xfrm rot="0">
            <a:off x="685800" y="983932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8 sur 15</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571500" y="2457450"/>
            <a:ext cx="8458200" cy="2850357"/>
            <a:chOff x="0" y="0"/>
            <a:chExt cx="11277600" cy="3800476"/>
          </a:xfrm>
        </p:grpSpPr>
        <p:sp>
          <p:nvSpPr>
            <p:cNvPr name="Freeform 5" id="5" descr="preencoded.png"/>
            <p:cNvSpPr/>
            <p:nvPr/>
          </p:nvSpPr>
          <p:spPr>
            <a:xfrm flipH="false" flipV="false" rot="0">
              <a:off x="0" y="0"/>
              <a:ext cx="11277600" cy="3800475"/>
            </a:xfrm>
            <a:custGeom>
              <a:avLst/>
              <a:gdLst/>
              <a:ahLst/>
              <a:cxnLst/>
              <a:rect r="r" b="b" t="t" l="l"/>
              <a:pathLst>
                <a:path h="3800475" w="11277600">
                  <a:moveTo>
                    <a:pt x="0" y="0"/>
                  </a:moveTo>
                  <a:lnTo>
                    <a:pt x="11277600" y="0"/>
                  </a:lnTo>
                  <a:lnTo>
                    <a:pt x="11277600" y="3800475"/>
                  </a:lnTo>
                  <a:lnTo>
                    <a:pt x="0" y="3800475"/>
                  </a:lnTo>
                  <a:lnTo>
                    <a:pt x="0" y="0"/>
                  </a:lnTo>
                  <a:close/>
                </a:path>
              </a:pathLst>
            </a:custGeom>
            <a:blipFill>
              <a:blip r:embed="rId4"/>
              <a:stretch>
                <a:fillRect l="-125" t="0" r="-125" b="0"/>
              </a:stretch>
            </a:blipFill>
          </p:spPr>
        </p:sp>
      </p:grpSp>
      <p:grpSp>
        <p:nvGrpSpPr>
          <p:cNvPr name="Group 6" id="6"/>
          <p:cNvGrpSpPr>
            <a:grpSpLocks noChangeAspect="true"/>
          </p:cNvGrpSpPr>
          <p:nvPr/>
        </p:nvGrpSpPr>
        <p:grpSpPr>
          <a:xfrm rot="0">
            <a:off x="742950" y="2628900"/>
            <a:ext cx="257175" cy="457200"/>
            <a:chOff x="0" y="0"/>
            <a:chExt cx="342900" cy="609600"/>
          </a:xfrm>
        </p:grpSpPr>
        <p:sp>
          <p:nvSpPr>
            <p:cNvPr name="Freeform 7" id="7" descr="preencoded.png"/>
            <p:cNvSpPr/>
            <p:nvPr/>
          </p:nvSpPr>
          <p:spPr>
            <a:xfrm flipH="false" flipV="false" rot="0">
              <a:off x="0" y="0"/>
              <a:ext cx="342900" cy="609600"/>
            </a:xfrm>
            <a:custGeom>
              <a:avLst/>
              <a:gdLst/>
              <a:ahLst/>
              <a:cxnLst/>
              <a:rect r="r" b="b" t="t" l="l"/>
              <a:pathLst>
                <a:path h="609600" w="342900">
                  <a:moveTo>
                    <a:pt x="0" y="0"/>
                  </a:moveTo>
                  <a:lnTo>
                    <a:pt x="342900" y="0"/>
                  </a:lnTo>
                  <a:lnTo>
                    <a:pt x="342900" y="609600"/>
                  </a:lnTo>
                  <a:lnTo>
                    <a:pt x="0" y="6096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742950" y="3143250"/>
            <a:ext cx="8115300" cy="1428750"/>
            <a:chOff x="0" y="0"/>
            <a:chExt cx="10820400" cy="1905000"/>
          </a:xfrm>
        </p:grpSpPr>
        <p:sp>
          <p:nvSpPr>
            <p:cNvPr name="Freeform 9" id="9" descr="preencoded.png"/>
            <p:cNvSpPr/>
            <p:nvPr/>
          </p:nvSpPr>
          <p:spPr>
            <a:xfrm flipH="false" flipV="false" rot="0">
              <a:off x="0" y="0"/>
              <a:ext cx="10820400" cy="1905000"/>
            </a:xfrm>
            <a:custGeom>
              <a:avLst/>
              <a:gdLst/>
              <a:ahLst/>
              <a:cxnLst/>
              <a:rect r="r" b="b" t="t" l="l"/>
              <a:pathLst>
                <a:path h="1905000" w="10820400">
                  <a:moveTo>
                    <a:pt x="0" y="0"/>
                  </a:moveTo>
                  <a:lnTo>
                    <a:pt x="10820400" y="0"/>
                  </a:lnTo>
                  <a:lnTo>
                    <a:pt x="10820400" y="1905000"/>
                  </a:lnTo>
                  <a:lnTo>
                    <a:pt x="0" y="19050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9258300" y="2457450"/>
            <a:ext cx="8458200" cy="2850357"/>
            <a:chOff x="0" y="0"/>
            <a:chExt cx="11277600" cy="3800476"/>
          </a:xfrm>
        </p:grpSpPr>
        <p:sp>
          <p:nvSpPr>
            <p:cNvPr name="Freeform 11" id="11" descr="preencoded.png"/>
            <p:cNvSpPr/>
            <p:nvPr/>
          </p:nvSpPr>
          <p:spPr>
            <a:xfrm flipH="false" flipV="false" rot="0">
              <a:off x="0" y="0"/>
              <a:ext cx="11277600" cy="3800475"/>
            </a:xfrm>
            <a:custGeom>
              <a:avLst/>
              <a:gdLst/>
              <a:ahLst/>
              <a:cxnLst/>
              <a:rect r="r" b="b" t="t" l="l"/>
              <a:pathLst>
                <a:path h="3800475" w="11277600">
                  <a:moveTo>
                    <a:pt x="0" y="0"/>
                  </a:moveTo>
                  <a:lnTo>
                    <a:pt x="11277600" y="0"/>
                  </a:lnTo>
                  <a:lnTo>
                    <a:pt x="11277600" y="3800475"/>
                  </a:lnTo>
                  <a:lnTo>
                    <a:pt x="0" y="3800475"/>
                  </a:lnTo>
                  <a:lnTo>
                    <a:pt x="0" y="0"/>
                  </a:lnTo>
                  <a:close/>
                </a:path>
              </a:pathLst>
            </a:custGeom>
            <a:blipFill>
              <a:blip r:embed="rId4"/>
              <a:stretch>
                <a:fillRect l="-125" t="0" r="-125" b="0"/>
              </a:stretch>
            </a:blipFill>
          </p:spPr>
        </p:sp>
      </p:grpSp>
      <p:grpSp>
        <p:nvGrpSpPr>
          <p:cNvPr name="Group 12" id="12"/>
          <p:cNvGrpSpPr>
            <a:grpSpLocks noChangeAspect="true"/>
          </p:cNvGrpSpPr>
          <p:nvPr/>
        </p:nvGrpSpPr>
        <p:grpSpPr>
          <a:xfrm rot="0">
            <a:off x="9429750" y="2628900"/>
            <a:ext cx="257175" cy="457200"/>
            <a:chOff x="0" y="0"/>
            <a:chExt cx="342900" cy="609600"/>
          </a:xfrm>
        </p:grpSpPr>
        <p:sp>
          <p:nvSpPr>
            <p:cNvPr name="Freeform 13" id="13" descr="preencoded.png"/>
            <p:cNvSpPr/>
            <p:nvPr/>
          </p:nvSpPr>
          <p:spPr>
            <a:xfrm flipH="false" flipV="false" rot="0">
              <a:off x="0" y="0"/>
              <a:ext cx="342900" cy="609600"/>
            </a:xfrm>
            <a:custGeom>
              <a:avLst/>
              <a:gdLst/>
              <a:ahLst/>
              <a:cxnLst/>
              <a:rect r="r" b="b" t="t" l="l"/>
              <a:pathLst>
                <a:path h="609600" w="342900">
                  <a:moveTo>
                    <a:pt x="0" y="0"/>
                  </a:moveTo>
                  <a:lnTo>
                    <a:pt x="342900" y="0"/>
                  </a:lnTo>
                  <a:lnTo>
                    <a:pt x="342900" y="609600"/>
                  </a:lnTo>
                  <a:lnTo>
                    <a:pt x="0" y="6096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9429750" y="3143250"/>
            <a:ext cx="8115300" cy="1714500"/>
            <a:chOff x="0" y="0"/>
            <a:chExt cx="10820400" cy="2286000"/>
          </a:xfrm>
        </p:grpSpPr>
        <p:sp>
          <p:nvSpPr>
            <p:cNvPr name="Freeform 15" id="15" descr="preencoded.png"/>
            <p:cNvSpPr/>
            <p:nvPr/>
          </p:nvSpPr>
          <p:spPr>
            <a:xfrm flipH="false" flipV="false" rot="0">
              <a:off x="0" y="0"/>
              <a:ext cx="10820400" cy="2286000"/>
            </a:xfrm>
            <a:custGeom>
              <a:avLst/>
              <a:gdLst/>
              <a:ahLst/>
              <a:cxnLst/>
              <a:rect r="r" b="b" t="t" l="l"/>
              <a:pathLst>
                <a:path h="2286000" w="10820400">
                  <a:moveTo>
                    <a:pt x="0" y="0"/>
                  </a:moveTo>
                  <a:lnTo>
                    <a:pt x="10820400" y="0"/>
                  </a:lnTo>
                  <a:lnTo>
                    <a:pt x="10820400" y="2286000"/>
                  </a:lnTo>
                  <a:lnTo>
                    <a:pt x="0" y="2286000"/>
                  </a:lnTo>
                  <a:lnTo>
                    <a:pt x="0" y="0"/>
                  </a:lnTo>
                  <a:close/>
                </a:path>
              </a:pathLst>
            </a:custGeom>
            <a:blipFill>
              <a:blip r:embed="rId8"/>
              <a:stretch>
                <a:fillRect l="0" t="0" r="0" b="0"/>
              </a:stretch>
            </a:blipFill>
          </p:spPr>
        </p:sp>
      </p:grpSp>
      <p:grpSp>
        <p:nvGrpSpPr>
          <p:cNvPr name="Group 16" id="16"/>
          <p:cNvGrpSpPr>
            <a:grpSpLocks noChangeAspect="true"/>
          </p:cNvGrpSpPr>
          <p:nvPr/>
        </p:nvGrpSpPr>
        <p:grpSpPr>
          <a:xfrm rot="0">
            <a:off x="571500" y="5536406"/>
            <a:ext cx="8458200" cy="3136107"/>
            <a:chOff x="0" y="0"/>
            <a:chExt cx="11277600" cy="4181476"/>
          </a:xfrm>
        </p:grpSpPr>
        <p:sp>
          <p:nvSpPr>
            <p:cNvPr name="Freeform 17" id="17" descr="preencoded.png"/>
            <p:cNvSpPr/>
            <p:nvPr/>
          </p:nvSpPr>
          <p:spPr>
            <a:xfrm flipH="false" flipV="false" rot="0">
              <a:off x="0" y="0"/>
              <a:ext cx="11277600" cy="4181475"/>
            </a:xfrm>
            <a:custGeom>
              <a:avLst/>
              <a:gdLst/>
              <a:ahLst/>
              <a:cxnLst/>
              <a:rect r="r" b="b" t="t" l="l"/>
              <a:pathLst>
                <a:path h="4181475" w="11277600">
                  <a:moveTo>
                    <a:pt x="0" y="0"/>
                  </a:moveTo>
                  <a:lnTo>
                    <a:pt x="11277600" y="0"/>
                  </a:lnTo>
                  <a:lnTo>
                    <a:pt x="11277600" y="4181475"/>
                  </a:lnTo>
                  <a:lnTo>
                    <a:pt x="0" y="4181475"/>
                  </a:lnTo>
                  <a:lnTo>
                    <a:pt x="0" y="0"/>
                  </a:lnTo>
                  <a:close/>
                </a:path>
              </a:pathLst>
            </a:custGeom>
            <a:blipFill>
              <a:blip r:embed="rId9"/>
              <a:stretch>
                <a:fillRect l="-114" t="0" r="-114" b="0"/>
              </a:stretch>
            </a:blipFill>
          </p:spPr>
        </p:sp>
      </p:grpSp>
      <p:grpSp>
        <p:nvGrpSpPr>
          <p:cNvPr name="Group 18" id="18"/>
          <p:cNvGrpSpPr>
            <a:grpSpLocks noChangeAspect="true"/>
          </p:cNvGrpSpPr>
          <p:nvPr/>
        </p:nvGrpSpPr>
        <p:grpSpPr>
          <a:xfrm rot="0">
            <a:off x="742950" y="5707856"/>
            <a:ext cx="300038" cy="457200"/>
            <a:chOff x="0" y="0"/>
            <a:chExt cx="400050" cy="609600"/>
          </a:xfrm>
        </p:grpSpPr>
        <p:sp>
          <p:nvSpPr>
            <p:cNvPr name="Freeform 19" id="19" descr="preencoded.png"/>
            <p:cNvSpPr/>
            <p:nvPr/>
          </p:nvSpPr>
          <p:spPr>
            <a:xfrm flipH="false" flipV="false" rot="0">
              <a:off x="0" y="0"/>
              <a:ext cx="400050" cy="609600"/>
            </a:xfrm>
            <a:custGeom>
              <a:avLst/>
              <a:gdLst/>
              <a:ahLst/>
              <a:cxnLst/>
              <a:rect r="r" b="b" t="t" l="l"/>
              <a:pathLst>
                <a:path h="609600" w="400050">
                  <a:moveTo>
                    <a:pt x="0" y="0"/>
                  </a:moveTo>
                  <a:lnTo>
                    <a:pt x="400050" y="0"/>
                  </a:lnTo>
                  <a:lnTo>
                    <a:pt x="400050" y="609600"/>
                  </a:lnTo>
                  <a:lnTo>
                    <a:pt x="0" y="609600"/>
                  </a:lnTo>
                  <a:lnTo>
                    <a:pt x="0" y="0"/>
                  </a:lnTo>
                  <a:close/>
                </a:path>
              </a:pathLst>
            </a:custGeom>
            <a:blipFill>
              <a:blip r:embed="rId10"/>
              <a:stretch>
                <a:fillRect l="0" t="0" r="0" b="0"/>
              </a:stretch>
            </a:blipFill>
          </p:spPr>
        </p:sp>
      </p:grpSp>
      <p:grpSp>
        <p:nvGrpSpPr>
          <p:cNvPr name="Group 20" id="20"/>
          <p:cNvGrpSpPr>
            <a:grpSpLocks noChangeAspect="true"/>
          </p:cNvGrpSpPr>
          <p:nvPr/>
        </p:nvGrpSpPr>
        <p:grpSpPr>
          <a:xfrm rot="0">
            <a:off x="742950" y="6222206"/>
            <a:ext cx="8115300" cy="2000250"/>
            <a:chOff x="0" y="0"/>
            <a:chExt cx="10820400" cy="2667000"/>
          </a:xfrm>
        </p:grpSpPr>
        <p:sp>
          <p:nvSpPr>
            <p:cNvPr name="Freeform 21" id="21" descr="preencoded.png"/>
            <p:cNvSpPr/>
            <p:nvPr/>
          </p:nvSpPr>
          <p:spPr>
            <a:xfrm flipH="false" flipV="false" rot="0">
              <a:off x="0" y="0"/>
              <a:ext cx="10820400" cy="2667000"/>
            </a:xfrm>
            <a:custGeom>
              <a:avLst/>
              <a:gdLst/>
              <a:ahLst/>
              <a:cxnLst/>
              <a:rect r="r" b="b" t="t" l="l"/>
              <a:pathLst>
                <a:path h="2667000" w="10820400">
                  <a:moveTo>
                    <a:pt x="0" y="0"/>
                  </a:moveTo>
                  <a:lnTo>
                    <a:pt x="10820400" y="0"/>
                  </a:lnTo>
                  <a:lnTo>
                    <a:pt x="10820400" y="2667000"/>
                  </a:lnTo>
                  <a:lnTo>
                    <a:pt x="0" y="2667000"/>
                  </a:lnTo>
                  <a:lnTo>
                    <a:pt x="0" y="0"/>
                  </a:lnTo>
                  <a:close/>
                </a:path>
              </a:pathLst>
            </a:custGeom>
            <a:blipFill>
              <a:blip r:embed="rId11"/>
              <a:stretch>
                <a:fillRect l="0" t="0" r="0" b="0"/>
              </a:stretch>
            </a:blipFill>
          </p:spPr>
        </p:sp>
      </p:grpSp>
      <p:grpSp>
        <p:nvGrpSpPr>
          <p:cNvPr name="Group 22" id="22"/>
          <p:cNvGrpSpPr>
            <a:grpSpLocks noChangeAspect="true"/>
          </p:cNvGrpSpPr>
          <p:nvPr/>
        </p:nvGrpSpPr>
        <p:grpSpPr>
          <a:xfrm rot="0">
            <a:off x="9258300" y="5536406"/>
            <a:ext cx="8458200" cy="3136107"/>
            <a:chOff x="0" y="0"/>
            <a:chExt cx="11277600" cy="4181476"/>
          </a:xfrm>
        </p:grpSpPr>
        <p:sp>
          <p:nvSpPr>
            <p:cNvPr name="Freeform 23" id="23" descr="preencoded.png"/>
            <p:cNvSpPr/>
            <p:nvPr/>
          </p:nvSpPr>
          <p:spPr>
            <a:xfrm flipH="false" flipV="false" rot="0">
              <a:off x="0" y="0"/>
              <a:ext cx="11277600" cy="4181475"/>
            </a:xfrm>
            <a:custGeom>
              <a:avLst/>
              <a:gdLst/>
              <a:ahLst/>
              <a:cxnLst/>
              <a:rect r="r" b="b" t="t" l="l"/>
              <a:pathLst>
                <a:path h="4181475" w="11277600">
                  <a:moveTo>
                    <a:pt x="0" y="0"/>
                  </a:moveTo>
                  <a:lnTo>
                    <a:pt x="11277600" y="0"/>
                  </a:lnTo>
                  <a:lnTo>
                    <a:pt x="11277600" y="4181475"/>
                  </a:lnTo>
                  <a:lnTo>
                    <a:pt x="0" y="4181475"/>
                  </a:lnTo>
                  <a:lnTo>
                    <a:pt x="0" y="0"/>
                  </a:lnTo>
                  <a:close/>
                </a:path>
              </a:pathLst>
            </a:custGeom>
            <a:blipFill>
              <a:blip r:embed="rId9"/>
              <a:stretch>
                <a:fillRect l="-114" t="0" r="-114" b="0"/>
              </a:stretch>
            </a:blipFill>
          </p:spPr>
        </p:sp>
      </p:grpSp>
      <p:grpSp>
        <p:nvGrpSpPr>
          <p:cNvPr name="Group 24" id="24"/>
          <p:cNvGrpSpPr>
            <a:grpSpLocks noChangeAspect="true"/>
          </p:cNvGrpSpPr>
          <p:nvPr/>
        </p:nvGrpSpPr>
        <p:grpSpPr>
          <a:xfrm rot="0">
            <a:off x="9429750" y="5707856"/>
            <a:ext cx="257175" cy="457200"/>
            <a:chOff x="0" y="0"/>
            <a:chExt cx="342900" cy="609600"/>
          </a:xfrm>
        </p:grpSpPr>
        <p:sp>
          <p:nvSpPr>
            <p:cNvPr name="Freeform 25" id="25" descr="preencoded.png"/>
            <p:cNvSpPr/>
            <p:nvPr/>
          </p:nvSpPr>
          <p:spPr>
            <a:xfrm flipH="false" flipV="false" rot="0">
              <a:off x="0" y="0"/>
              <a:ext cx="342900" cy="609600"/>
            </a:xfrm>
            <a:custGeom>
              <a:avLst/>
              <a:gdLst/>
              <a:ahLst/>
              <a:cxnLst/>
              <a:rect r="r" b="b" t="t" l="l"/>
              <a:pathLst>
                <a:path h="609600" w="342900">
                  <a:moveTo>
                    <a:pt x="0" y="0"/>
                  </a:moveTo>
                  <a:lnTo>
                    <a:pt x="342900" y="0"/>
                  </a:lnTo>
                  <a:lnTo>
                    <a:pt x="342900" y="609600"/>
                  </a:lnTo>
                  <a:lnTo>
                    <a:pt x="0" y="609600"/>
                  </a:lnTo>
                  <a:lnTo>
                    <a:pt x="0" y="0"/>
                  </a:lnTo>
                  <a:close/>
                </a:path>
              </a:pathLst>
            </a:custGeom>
            <a:blipFill>
              <a:blip r:embed="rId12"/>
              <a:stretch>
                <a:fillRect l="0" t="0" r="0" b="0"/>
              </a:stretch>
            </a:blipFill>
          </p:spPr>
        </p:sp>
      </p:grpSp>
      <p:grpSp>
        <p:nvGrpSpPr>
          <p:cNvPr name="Group 26" id="26"/>
          <p:cNvGrpSpPr>
            <a:grpSpLocks noChangeAspect="true"/>
          </p:cNvGrpSpPr>
          <p:nvPr/>
        </p:nvGrpSpPr>
        <p:grpSpPr>
          <a:xfrm rot="0">
            <a:off x="9429750" y="6222206"/>
            <a:ext cx="8115300" cy="1428750"/>
            <a:chOff x="0" y="0"/>
            <a:chExt cx="10820400" cy="1905000"/>
          </a:xfrm>
        </p:grpSpPr>
        <p:sp>
          <p:nvSpPr>
            <p:cNvPr name="Freeform 27" id="27" descr="preencoded.png"/>
            <p:cNvSpPr/>
            <p:nvPr/>
          </p:nvSpPr>
          <p:spPr>
            <a:xfrm flipH="false" flipV="false" rot="0">
              <a:off x="0" y="0"/>
              <a:ext cx="10820400" cy="1905000"/>
            </a:xfrm>
            <a:custGeom>
              <a:avLst/>
              <a:gdLst/>
              <a:ahLst/>
              <a:cxnLst/>
              <a:rect r="r" b="b" t="t" l="l"/>
              <a:pathLst>
                <a:path h="1905000" w="10820400">
                  <a:moveTo>
                    <a:pt x="0" y="0"/>
                  </a:moveTo>
                  <a:lnTo>
                    <a:pt x="10820400" y="0"/>
                  </a:lnTo>
                  <a:lnTo>
                    <a:pt x="10820400" y="1905000"/>
                  </a:lnTo>
                  <a:lnTo>
                    <a:pt x="0" y="1905000"/>
                  </a:lnTo>
                  <a:lnTo>
                    <a:pt x="0" y="0"/>
                  </a:lnTo>
                  <a:close/>
                </a:path>
              </a:pathLst>
            </a:custGeom>
            <a:blipFill>
              <a:blip r:embed="rId13"/>
              <a:stretch>
                <a:fillRect l="0" t="0" r="0" b="0"/>
              </a:stretch>
            </a:blipFill>
          </p:spPr>
        </p:sp>
      </p:grpSp>
      <p:grpSp>
        <p:nvGrpSpPr>
          <p:cNvPr name="Group 28" id="28"/>
          <p:cNvGrpSpPr>
            <a:grpSpLocks noChangeAspect="true"/>
          </p:cNvGrpSpPr>
          <p:nvPr/>
        </p:nvGrpSpPr>
        <p:grpSpPr>
          <a:xfrm rot="0">
            <a:off x="571500" y="8786812"/>
            <a:ext cx="17145000" cy="528638"/>
            <a:chOff x="0" y="0"/>
            <a:chExt cx="22860000" cy="704850"/>
          </a:xfrm>
        </p:grpSpPr>
        <p:sp>
          <p:nvSpPr>
            <p:cNvPr name="Freeform 29" id="29" descr="preencoded.png"/>
            <p:cNvSpPr/>
            <p:nvPr/>
          </p:nvSpPr>
          <p:spPr>
            <a:xfrm flipH="false" flipV="false" rot="0">
              <a:off x="0" y="0"/>
              <a:ext cx="22860000" cy="704850"/>
            </a:xfrm>
            <a:custGeom>
              <a:avLst/>
              <a:gdLst/>
              <a:ahLst/>
              <a:cxnLst/>
              <a:rect r="r" b="b" t="t" l="l"/>
              <a:pathLst>
                <a:path h="704850" w="22860000">
                  <a:moveTo>
                    <a:pt x="0" y="0"/>
                  </a:moveTo>
                  <a:lnTo>
                    <a:pt x="22860000" y="0"/>
                  </a:lnTo>
                  <a:lnTo>
                    <a:pt x="22860000" y="704850"/>
                  </a:lnTo>
                  <a:lnTo>
                    <a:pt x="0" y="704850"/>
                  </a:lnTo>
                  <a:lnTo>
                    <a:pt x="0" y="0"/>
                  </a:lnTo>
                  <a:close/>
                </a:path>
              </a:pathLst>
            </a:custGeom>
            <a:blipFill>
              <a:blip r:embed="rId14"/>
              <a:stretch>
                <a:fillRect l="0" t="0" r="0" b="0"/>
              </a:stretch>
            </a:blipFill>
          </p:spPr>
        </p:sp>
      </p:grpSp>
      <p:grpSp>
        <p:nvGrpSpPr>
          <p:cNvPr name="Group 30" id="30"/>
          <p:cNvGrpSpPr>
            <a:grpSpLocks noChangeAspect="true"/>
          </p:cNvGrpSpPr>
          <p:nvPr/>
        </p:nvGrpSpPr>
        <p:grpSpPr>
          <a:xfrm rot="0">
            <a:off x="685800" y="8936832"/>
            <a:ext cx="171450" cy="228600"/>
            <a:chOff x="0" y="0"/>
            <a:chExt cx="228600" cy="304800"/>
          </a:xfrm>
        </p:grpSpPr>
        <p:sp>
          <p:nvSpPr>
            <p:cNvPr name="Freeform 31" id="31" descr="preencoded.png"/>
            <p:cNvSpPr/>
            <p:nvPr/>
          </p:nvSpPr>
          <p:spPr>
            <a:xfrm flipH="false" flipV="false" rot="0">
              <a:off x="0" y="0"/>
              <a:ext cx="228600" cy="304800"/>
            </a:xfrm>
            <a:custGeom>
              <a:avLst/>
              <a:gdLst/>
              <a:ahLst/>
              <a:cxnLst/>
              <a:rect r="r" b="b" t="t" l="l"/>
              <a:pathLst>
                <a:path h="304800" w="228600">
                  <a:moveTo>
                    <a:pt x="0" y="0"/>
                  </a:moveTo>
                  <a:lnTo>
                    <a:pt x="228600" y="0"/>
                  </a:lnTo>
                  <a:lnTo>
                    <a:pt x="228600" y="304800"/>
                  </a:lnTo>
                  <a:lnTo>
                    <a:pt x="0" y="304800"/>
                  </a:lnTo>
                  <a:lnTo>
                    <a:pt x="0" y="0"/>
                  </a:lnTo>
                  <a:close/>
                </a:path>
              </a:pathLst>
            </a:custGeom>
            <a:blipFill>
              <a:blip r:embed="rId15"/>
              <a:stretch>
                <a:fillRect l="0" t="0" r="0" b="0"/>
              </a:stretch>
            </a:blipFill>
          </p:spPr>
        </p:sp>
      </p:grpSp>
      <p:sp>
        <p:nvSpPr>
          <p:cNvPr name="TextBox 32" id="32"/>
          <p:cNvSpPr txBox="true"/>
          <p:nvPr/>
        </p:nvSpPr>
        <p:spPr>
          <a:xfrm rot="0">
            <a:off x="571500" y="581025"/>
            <a:ext cx="205740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Lecture de Données avec Pandas</a:t>
            </a:r>
          </a:p>
        </p:txBody>
      </p:sp>
      <p:sp>
        <p:nvSpPr>
          <p:cNvPr name="TextBox 33" id="33"/>
          <p:cNvSpPr txBox="true"/>
          <p:nvPr/>
        </p:nvSpPr>
        <p:spPr>
          <a:xfrm rot="0">
            <a:off x="571500" y="1485900"/>
            <a:ext cx="17145000" cy="85725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Pandas permet de charger facilement des données depuis divers formats de fichiers, essentiel dans tout projet de science des données.</a:t>
            </a:r>
          </a:p>
        </p:txBody>
      </p:sp>
      <p:sp>
        <p:nvSpPr>
          <p:cNvPr name="TextBox 34" id="34"/>
          <p:cNvSpPr txBox="true"/>
          <p:nvPr/>
        </p:nvSpPr>
        <p:spPr>
          <a:xfrm rot="0">
            <a:off x="1171575" y="2600325"/>
            <a:ext cx="2412355"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Fichiers CSV</a:t>
            </a:r>
          </a:p>
        </p:txBody>
      </p:sp>
      <p:sp>
        <p:nvSpPr>
          <p:cNvPr name="TextBox 35" id="35"/>
          <p:cNvSpPr txBox="true"/>
          <p:nvPr/>
        </p:nvSpPr>
        <p:spPr>
          <a:xfrm rot="0">
            <a:off x="885825" y="3105150"/>
            <a:ext cx="8115300" cy="113538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Lire un fichier CSV</a:t>
            </a:r>
          </a:p>
          <a:p>
            <a:pPr algn="l">
              <a:lnSpc>
                <a:spcPts val="2250"/>
              </a:lnSpc>
            </a:pPr>
            <a:r>
              <a:rPr lang="en-US" sz="1575">
                <a:solidFill>
                  <a:srgbClr val="569CD6"/>
                </a:solidFill>
                <a:latin typeface="Courier New"/>
                <a:ea typeface="Courier New"/>
                <a:cs typeface="Courier New"/>
                <a:sym typeface="Courier New"/>
              </a:rPr>
              <a:t>import </a:t>
            </a:r>
            <a:r>
              <a:rPr lang="en-US" sz="1575">
                <a:solidFill>
                  <a:srgbClr val="333333"/>
                </a:solidFill>
                <a:latin typeface="Courier New"/>
                <a:ea typeface="Courier New"/>
                <a:cs typeface="Courier New"/>
                <a:sym typeface="Courier New"/>
              </a:rPr>
              <a:t>pandas </a:t>
            </a:r>
            <a:r>
              <a:rPr lang="en-US" sz="1575">
                <a:solidFill>
                  <a:srgbClr val="569CD6"/>
                </a:solidFill>
                <a:latin typeface="Courier New"/>
                <a:ea typeface="Courier New"/>
                <a:cs typeface="Courier New"/>
                <a:sym typeface="Courier New"/>
              </a:rPr>
              <a:t>as </a:t>
            </a:r>
            <a:r>
              <a:rPr lang="en-US" sz="1575">
                <a:solidFill>
                  <a:srgbClr val="333333"/>
                </a:solidFill>
                <a:latin typeface="Courier New"/>
                <a:ea typeface="Courier New"/>
                <a:cs typeface="Courier New"/>
                <a:sym typeface="Courier New"/>
              </a:rPr>
              <a:t>pd</a:t>
            </a:r>
          </a:p>
          <a:p>
            <a:pPr algn="l">
              <a:lnSpc>
                <a:spcPts val="2250"/>
              </a:lnSpc>
            </a:pPr>
            <a:r>
              <a:rPr lang="en-US" sz="1575">
                <a:solidFill>
                  <a:srgbClr val="333333"/>
                </a:solidFill>
                <a:latin typeface="Courier New"/>
                <a:ea typeface="Courier New"/>
                <a:cs typeface="Courier New"/>
                <a:sym typeface="Courier New"/>
              </a:rPr>
              <a:t>df_csv = pd. </a:t>
            </a:r>
            <a:r>
              <a:rPr lang="en-US" sz="1575">
                <a:solidFill>
                  <a:srgbClr val="FF9100"/>
                </a:solidFill>
                <a:latin typeface="Courier New"/>
                <a:ea typeface="Courier New"/>
                <a:cs typeface="Courier New"/>
                <a:sym typeface="Courier New"/>
              </a:rPr>
              <a:t>read_csv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'donnees_ventes.csv'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333333"/>
                </a:solidFill>
                <a:latin typeface="Courier New"/>
                <a:ea typeface="Courier New"/>
                <a:cs typeface="Courier New"/>
                <a:sym typeface="Courier New"/>
              </a:rPr>
              <a:t>df_csv.</a:t>
            </a:r>
            <a:r>
              <a:rPr lang="en-US" sz="1575">
                <a:solidFill>
                  <a:srgbClr val="FF9100"/>
                </a:solidFill>
                <a:latin typeface="Courier New"/>
                <a:ea typeface="Courier New"/>
                <a:cs typeface="Courier New"/>
                <a:sym typeface="Courier New"/>
              </a:rPr>
              <a:t> head</a:t>
            </a:r>
            <a:r>
              <a:rPr lang="en-US" sz="1575">
                <a:solidFill>
                  <a:srgbClr val="DCDCAA"/>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p>
        </p:txBody>
      </p:sp>
      <p:sp>
        <p:nvSpPr>
          <p:cNvPr name="TextBox 36" id="36"/>
          <p:cNvSpPr txBox="true"/>
          <p:nvPr/>
        </p:nvSpPr>
        <p:spPr>
          <a:xfrm rot="0">
            <a:off x="9858375" y="2600325"/>
            <a:ext cx="2650778"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Fichiers Excel</a:t>
            </a:r>
          </a:p>
        </p:txBody>
      </p:sp>
      <p:sp>
        <p:nvSpPr>
          <p:cNvPr name="TextBox 37" id="37"/>
          <p:cNvSpPr txBox="true"/>
          <p:nvPr/>
        </p:nvSpPr>
        <p:spPr>
          <a:xfrm rot="0">
            <a:off x="9572625" y="3105150"/>
            <a:ext cx="8115300" cy="113538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Lire un fichier Excel</a:t>
            </a:r>
          </a:p>
          <a:p>
            <a:pPr algn="l">
              <a:lnSpc>
                <a:spcPts val="2250"/>
              </a:lnSpc>
            </a:pPr>
            <a:r>
              <a:rPr lang="en-US" sz="1575">
                <a:solidFill>
                  <a:srgbClr val="569CD6"/>
                </a:solidFill>
                <a:latin typeface="Courier New"/>
                <a:ea typeface="Courier New"/>
                <a:cs typeface="Courier New"/>
                <a:sym typeface="Courier New"/>
              </a:rPr>
              <a:t>import </a:t>
            </a:r>
            <a:r>
              <a:rPr lang="en-US" sz="1575">
                <a:solidFill>
                  <a:srgbClr val="333333"/>
                </a:solidFill>
                <a:latin typeface="Courier New"/>
                <a:ea typeface="Courier New"/>
                <a:cs typeface="Courier New"/>
                <a:sym typeface="Courier New"/>
              </a:rPr>
              <a:t>pandas </a:t>
            </a:r>
            <a:r>
              <a:rPr lang="en-US" sz="1575">
                <a:solidFill>
                  <a:srgbClr val="569CD6"/>
                </a:solidFill>
                <a:latin typeface="Courier New"/>
                <a:ea typeface="Courier New"/>
                <a:cs typeface="Courier New"/>
                <a:sym typeface="Courier New"/>
              </a:rPr>
              <a:t>as </a:t>
            </a:r>
            <a:r>
              <a:rPr lang="en-US" sz="1575">
                <a:solidFill>
                  <a:srgbClr val="333333"/>
                </a:solidFill>
                <a:latin typeface="Courier New"/>
                <a:ea typeface="Courier New"/>
                <a:cs typeface="Courier New"/>
                <a:sym typeface="Courier New"/>
              </a:rPr>
              <a:t>pd</a:t>
            </a:r>
          </a:p>
          <a:p>
            <a:pPr algn="l">
              <a:lnSpc>
                <a:spcPts val="2250"/>
              </a:lnSpc>
            </a:pPr>
            <a:r>
              <a:rPr lang="en-US" sz="1575">
                <a:solidFill>
                  <a:srgbClr val="333333"/>
                </a:solidFill>
                <a:latin typeface="Courier New"/>
                <a:ea typeface="Courier New"/>
                <a:cs typeface="Courier New"/>
                <a:sym typeface="Courier New"/>
              </a:rPr>
              <a:t>df_excel = pd.</a:t>
            </a:r>
            <a:r>
              <a:rPr lang="en-US" sz="1575">
                <a:solidFill>
                  <a:srgbClr val="FF9100"/>
                </a:solidFill>
                <a:latin typeface="Courier New"/>
                <a:ea typeface="Courier New"/>
                <a:cs typeface="Courier New"/>
                <a:sym typeface="Courier New"/>
              </a:rPr>
              <a:t> read_excel</a:t>
            </a:r>
            <a:r>
              <a:rPr lang="en-US" sz="1575">
                <a:solidFill>
                  <a:srgbClr val="DCDCAA"/>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'rapport_financier.xlsx'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333333"/>
                </a:solidFill>
                <a:latin typeface="Courier New"/>
                <a:ea typeface="Courier New"/>
                <a:cs typeface="Courier New"/>
                <a:sym typeface="Courier New"/>
              </a:rPr>
              <a:t>df_excel = pd. </a:t>
            </a:r>
            <a:r>
              <a:rPr lang="en-US" sz="1575">
                <a:solidFill>
                  <a:srgbClr val="FF9100"/>
                </a:solidFill>
                <a:latin typeface="Courier New"/>
                <a:ea typeface="Courier New"/>
                <a:cs typeface="Courier New"/>
                <a:sym typeface="Courier New"/>
              </a:rPr>
              <a:t>read_excel</a:t>
            </a:r>
            <a:r>
              <a:rPr lang="en-US" sz="1575">
                <a:solidFill>
                  <a:srgbClr val="DCDCAA"/>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'fichier.xlsx' </a:t>
            </a:r>
            <a:r>
              <a:rPr lang="en-US" sz="1575">
                <a:solidFill>
                  <a:srgbClr val="333333"/>
                </a:solidFill>
                <a:latin typeface="Courier New"/>
                <a:ea typeface="Courier New"/>
                <a:cs typeface="Courier New"/>
                <a:sym typeface="Courier New"/>
              </a:rPr>
              <a:t>, sheet_name= </a:t>
            </a:r>
            <a:r>
              <a:rPr lang="en-US" sz="1575">
                <a:solidFill>
                  <a:srgbClr val="CE9178"/>
                </a:solidFill>
                <a:latin typeface="Courier New"/>
                <a:ea typeface="Courier New"/>
                <a:cs typeface="Courier New"/>
                <a:sym typeface="Courier New"/>
              </a:rPr>
              <a:t>'Feuil2' </a:t>
            </a:r>
            <a:r>
              <a:rPr lang="en-US" sz="1575">
                <a:solidFill>
                  <a:srgbClr val="333333"/>
                </a:solidFill>
                <a:latin typeface="Courier New"/>
                <a:ea typeface="Courier New"/>
                <a:cs typeface="Courier New"/>
                <a:sym typeface="Courier New"/>
              </a:rPr>
              <a:t>)</a:t>
            </a:r>
          </a:p>
        </p:txBody>
      </p:sp>
      <p:sp>
        <p:nvSpPr>
          <p:cNvPr name="TextBox 38" id="38"/>
          <p:cNvSpPr txBox="true"/>
          <p:nvPr/>
        </p:nvSpPr>
        <p:spPr>
          <a:xfrm rot="0">
            <a:off x="1214438" y="5679282"/>
            <a:ext cx="4161145"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Base de données SQL</a:t>
            </a:r>
          </a:p>
        </p:txBody>
      </p:sp>
      <p:sp>
        <p:nvSpPr>
          <p:cNvPr name="TextBox 39" id="39"/>
          <p:cNvSpPr txBox="true"/>
          <p:nvPr/>
        </p:nvSpPr>
        <p:spPr>
          <a:xfrm rot="0">
            <a:off x="885825" y="6184106"/>
            <a:ext cx="8115300" cy="170688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Lire depuis une base de données SQL</a:t>
            </a:r>
          </a:p>
          <a:p>
            <a:pPr algn="l">
              <a:lnSpc>
                <a:spcPts val="2250"/>
              </a:lnSpc>
            </a:pPr>
            <a:r>
              <a:rPr lang="en-US" sz="1575">
                <a:solidFill>
                  <a:srgbClr val="569CD6"/>
                </a:solidFill>
                <a:latin typeface="Courier New"/>
                <a:ea typeface="Courier New"/>
                <a:cs typeface="Courier New"/>
                <a:sym typeface="Courier New"/>
              </a:rPr>
              <a:t>import </a:t>
            </a:r>
            <a:r>
              <a:rPr lang="en-US" sz="1575">
                <a:solidFill>
                  <a:srgbClr val="333333"/>
                </a:solidFill>
                <a:latin typeface="Courier New"/>
                <a:ea typeface="Courier New"/>
                <a:cs typeface="Courier New"/>
                <a:sym typeface="Courier New"/>
              </a:rPr>
              <a:t>pandas </a:t>
            </a:r>
            <a:r>
              <a:rPr lang="en-US" sz="1575">
                <a:solidFill>
                  <a:srgbClr val="569CD6"/>
                </a:solidFill>
                <a:latin typeface="Courier New"/>
                <a:ea typeface="Courier New"/>
                <a:cs typeface="Courier New"/>
                <a:sym typeface="Courier New"/>
              </a:rPr>
              <a:t>as </a:t>
            </a:r>
            <a:r>
              <a:rPr lang="en-US" sz="1575">
                <a:solidFill>
                  <a:srgbClr val="333333"/>
                </a:solidFill>
                <a:latin typeface="Courier New"/>
                <a:ea typeface="Courier New"/>
                <a:cs typeface="Courier New"/>
                <a:sym typeface="Courier New"/>
              </a:rPr>
              <a:t>pd</a:t>
            </a:r>
          </a:p>
          <a:p>
            <a:pPr algn="l">
              <a:lnSpc>
                <a:spcPts val="2250"/>
              </a:lnSpc>
            </a:pPr>
            <a:r>
              <a:rPr lang="en-US" sz="1575">
                <a:solidFill>
                  <a:srgbClr val="569CD6"/>
                </a:solidFill>
                <a:latin typeface="Courier New"/>
                <a:ea typeface="Courier New"/>
                <a:cs typeface="Courier New"/>
                <a:sym typeface="Courier New"/>
              </a:rPr>
              <a:t>from </a:t>
            </a:r>
            <a:r>
              <a:rPr lang="en-US" sz="1575">
                <a:solidFill>
                  <a:srgbClr val="333333"/>
                </a:solidFill>
                <a:latin typeface="Courier New"/>
                <a:ea typeface="Courier New"/>
                <a:cs typeface="Courier New"/>
                <a:sym typeface="Courier New"/>
              </a:rPr>
              <a:t>sqlalchemy </a:t>
            </a:r>
            <a:r>
              <a:rPr lang="en-US" sz="1575">
                <a:solidFill>
                  <a:srgbClr val="569CD6"/>
                </a:solidFill>
                <a:latin typeface="Courier New"/>
                <a:ea typeface="Courier New"/>
                <a:cs typeface="Courier New"/>
                <a:sym typeface="Courier New"/>
              </a:rPr>
              <a:t>import </a:t>
            </a:r>
            <a:r>
              <a:rPr lang="en-US" sz="1575">
                <a:solidFill>
                  <a:srgbClr val="333333"/>
                </a:solidFill>
                <a:latin typeface="Courier New"/>
                <a:ea typeface="Courier New"/>
                <a:cs typeface="Courier New"/>
                <a:sym typeface="Courier New"/>
              </a:rPr>
              <a:t>create_engine</a:t>
            </a:r>
          </a:p>
          <a:p>
            <a:pPr algn="l">
              <a:lnSpc>
                <a:spcPts val="2250"/>
              </a:lnSpc>
            </a:pPr>
            <a:r>
              <a:rPr lang="en-US" sz="1575">
                <a:solidFill>
                  <a:srgbClr val="333333"/>
                </a:solidFill>
                <a:latin typeface="Courier New"/>
                <a:ea typeface="Courier New"/>
                <a:cs typeface="Courier New"/>
                <a:sym typeface="Courier New"/>
              </a:rPr>
              <a:t>engine = create_engine( </a:t>
            </a:r>
            <a:r>
              <a:rPr lang="en-US" sz="1575">
                <a:solidFill>
                  <a:srgbClr val="CE9178"/>
                </a:solidFill>
                <a:latin typeface="Courier New"/>
                <a:ea typeface="Courier New"/>
                <a:cs typeface="Courier New"/>
                <a:sym typeface="Courier New"/>
              </a:rPr>
              <a:t>'postgresql://user:password@host:port/database'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333333"/>
                </a:solidFill>
                <a:latin typeface="Courier New"/>
                <a:ea typeface="Courier New"/>
                <a:cs typeface="Courier New"/>
                <a:sym typeface="Courier New"/>
              </a:rPr>
              <a:t>df_sql = pd. </a:t>
            </a:r>
            <a:r>
              <a:rPr lang="en-US" sz="1575">
                <a:solidFill>
                  <a:srgbClr val="FF9100"/>
                </a:solidFill>
                <a:latin typeface="Courier New"/>
                <a:ea typeface="Courier New"/>
                <a:cs typeface="Courier New"/>
                <a:sym typeface="Courier New"/>
              </a:rPr>
              <a:t>read_sql</a:t>
            </a:r>
            <a:r>
              <a:rPr lang="en-US" sz="1575">
                <a:solidFill>
                  <a:srgbClr val="DCDCAA"/>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'SELECT * FROM clients' </a:t>
            </a:r>
            <a:r>
              <a:rPr lang="en-US" sz="1575">
                <a:solidFill>
                  <a:srgbClr val="333333"/>
                </a:solidFill>
                <a:latin typeface="Courier New"/>
                <a:ea typeface="Courier New"/>
                <a:cs typeface="Courier New"/>
                <a:sym typeface="Courier New"/>
              </a:rPr>
              <a:t>, engine)</a:t>
            </a:r>
          </a:p>
        </p:txBody>
      </p:sp>
      <p:sp>
        <p:nvSpPr>
          <p:cNvPr name="TextBox 40" id="40"/>
          <p:cNvSpPr txBox="true"/>
          <p:nvPr/>
        </p:nvSpPr>
        <p:spPr>
          <a:xfrm rot="0">
            <a:off x="9858375" y="5679282"/>
            <a:ext cx="2595057"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Fichiers JSON</a:t>
            </a:r>
          </a:p>
        </p:txBody>
      </p:sp>
      <p:sp>
        <p:nvSpPr>
          <p:cNvPr name="TextBox 41" id="41"/>
          <p:cNvSpPr txBox="true"/>
          <p:nvPr/>
        </p:nvSpPr>
        <p:spPr>
          <a:xfrm rot="0">
            <a:off x="9572625" y="6184106"/>
            <a:ext cx="8115300" cy="1135380"/>
          </a:xfrm>
          <a:prstGeom prst="rect">
            <a:avLst/>
          </a:prstGeom>
        </p:spPr>
        <p:txBody>
          <a:bodyPr anchor="t" rtlCol="false" tIns="0" lIns="0" bIns="0" rIns="0">
            <a:spAutoFit/>
          </a:bodyPr>
          <a:lstStyle/>
          <a:p>
            <a:pPr algn="l">
              <a:lnSpc>
                <a:spcPts val="2250"/>
              </a:lnSpc>
            </a:pPr>
            <a:r>
              <a:rPr lang="en-US" sz="1575">
                <a:solidFill>
                  <a:srgbClr val="6A9955"/>
                </a:solidFill>
                <a:latin typeface="Courier New"/>
                <a:ea typeface="Courier New"/>
                <a:cs typeface="Courier New"/>
                <a:sym typeface="Courier New"/>
              </a:rPr>
              <a:t># Lire un fichier JSON</a:t>
            </a:r>
          </a:p>
          <a:p>
            <a:pPr algn="l">
              <a:lnSpc>
                <a:spcPts val="2250"/>
              </a:lnSpc>
            </a:pPr>
            <a:r>
              <a:rPr lang="en-US" sz="1575">
                <a:solidFill>
                  <a:srgbClr val="569CD6"/>
                </a:solidFill>
                <a:latin typeface="Courier New"/>
                <a:ea typeface="Courier New"/>
                <a:cs typeface="Courier New"/>
                <a:sym typeface="Courier New"/>
              </a:rPr>
              <a:t>import </a:t>
            </a:r>
            <a:r>
              <a:rPr lang="en-US" sz="1575">
                <a:solidFill>
                  <a:srgbClr val="333333"/>
                </a:solidFill>
                <a:latin typeface="Courier New"/>
                <a:ea typeface="Courier New"/>
                <a:cs typeface="Courier New"/>
                <a:sym typeface="Courier New"/>
              </a:rPr>
              <a:t>pandas </a:t>
            </a:r>
            <a:r>
              <a:rPr lang="en-US" sz="1575">
                <a:solidFill>
                  <a:srgbClr val="569CD6"/>
                </a:solidFill>
                <a:latin typeface="Courier New"/>
                <a:ea typeface="Courier New"/>
                <a:cs typeface="Courier New"/>
                <a:sym typeface="Courier New"/>
              </a:rPr>
              <a:t>as </a:t>
            </a:r>
            <a:r>
              <a:rPr lang="en-US" sz="1575">
                <a:solidFill>
                  <a:srgbClr val="333333"/>
                </a:solidFill>
                <a:latin typeface="Courier New"/>
                <a:ea typeface="Courier New"/>
                <a:cs typeface="Courier New"/>
                <a:sym typeface="Courier New"/>
              </a:rPr>
              <a:t>pd</a:t>
            </a:r>
          </a:p>
          <a:p>
            <a:pPr algn="l">
              <a:lnSpc>
                <a:spcPts val="2250"/>
              </a:lnSpc>
            </a:pPr>
            <a:r>
              <a:rPr lang="en-US" sz="1575">
                <a:solidFill>
                  <a:srgbClr val="333333"/>
                </a:solidFill>
                <a:latin typeface="Courier New"/>
                <a:ea typeface="Courier New"/>
                <a:cs typeface="Courier New"/>
                <a:sym typeface="Courier New"/>
              </a:rPr>
              <a:t>df_json = pd.</a:t>
            </a:r>
            <a:r>
              <a:rPr lang="en-US" sz="1575">
                <a:solidFill>
                  <a:srgbClr val="FF9100"/>
                </a:solidFill>
                <a:latin typeface="Courier New"/>
                <a:ea typeface="Courier New"/>
                <a:cs typeface="Courier New"/>
                <a:sym typeface="Courier New"/>
              </a:rPr>
              <a:t> read_json</a:t>
            </a:r>
            <a:r>
              <a:rPr lang="en-US" sz="1575">
                <a:solidFill>
                  <a:srgbClr val="DCDCAA"/>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'produits.json'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333333"/>
                </a:solidFill>
                <a:latin typeface="Courier New"/>
                <a:ea typeface="Courier New"/>
                <a:cs typeface="Courier New"/>
                <a:sym typeface="Courier New"/>
              </a:rPr>
              <a:t>df_json = pd.</a:t>
            </a:r>
            <a:r>
              <a:rPr lang="en-US" sz="1575">
                <a:solidFill>
                  <a:srgbClr val="FF9100"/>
                </a:solidFill>
                <a:latin typeface="Courier New"/>
                <a:ea typeface="Courier New"/>
                <a:cs typeface="Courier New"/>
                <a:sym typeface="Courier New"/>
              </a:rPr>
              <a:t> read_json </a:t>
            </a:r>
            <a:r>
              <a:rPr lang="en-US" sz="1575">
                <a:solidFill>
                  <a:srgbClr val="333333"/>
                </a:solidFill>
                <a:latin typeface="Courier New"/>
                <a:ea typeface="Courier New"/>
                <a:cs typeface="Courier New"/>
                <a:sym typeface="Courier New"/>
              </a:rPr>
              <a:t>( </a:t>
            </a:r>
            <a:r>
              <a:rPr lang="en-US" sz="1575">
                <a:solidFill>
                  <a:srgbClr val="CE9178"/>
                </a:solidFill>
                <a:latin typeface="Courier New"/>
                <a:ea typeface="Courier New"/>
                <a:cs typeface="Courier New"/>
                <a:sym typeface="Courier New"/>
              </a:rPr>
              <a:t>'données.json' </a:t>
            </a:r>
            <a:r>
              <a:rPr lang="en-US" sz="1575">
                <a:solidFill>
                  <a:srgbClr val="333333"/>
                </a:solidFill>
                <a:latin typeface="Courier New"/>
                <a:ea typeface="Courier New"/>
                <a:cs typeface="Courier New"/>
                <a:sym typeface="Courier New"/>
              </a:rPr>
              <a:t>, lines= </a:t>
            </a:r>
            <a:r>
              <a:rPr lang="en-US" sz="1575">
                <a:solidFill>
                  <a:srgbClr val="569CD6"/>
                </a:solidFill>
                <a:latin typeface="Courier New"/>
                <a:ea typeface="Courier New"/>
                <a:cs typeface="Courier New"/>
                <a:sym typeface="Courier New"/>
              </a:rPr>
              <a:t>True </a:t>
            </a:r>
            <a:r>
              <a:rPr lang="en-US" sz="1575">
                <a:solidFill>
                  <a:srgbClr val="333333"/>
                </a:solidFill>
                <a:latin typeface="Courier New"/>
                <a:ea typeface="Courier New"/>
                <a:cs typeface="Courier New"/>
                <a:sym typeface="Courier New"/>
              </a:rPr>
              <a:t>)</a:t>
            </a:r>
          </a:p>
        </p:txBody>
      </p:sp>
      <p:sp>
        <p:nvSpPr>
          <p:cNvPr name="TextBox 42" id="42"/>
          <p:cNvSpPr txBox="true"/>
          <p:nvPr/>
        </p:nvSpPr>
        <p:spPr>
          <a:xfrm rot="0">
            <a:off x="971550" y="8853487"/>
            <a:ext cx="10113942" cy="347663"/>
          </a:xfrm>
          <a:prstGeom prst="rect">
            <a:avLst/>
          </a:prstGeom>
        </p:spPr>
        <p:txBody>
          <a:bodyPr anchor="t" rtlCol="false" tIns="0" lIns="0" bIns="0" rIns="0">
            <a:spAutoFit/>
          </a:bodyPr>
          <a:lstStyle/>
          <a:p>
            <a:pPr algn="l">
              <a:lnSpc>
                <a:spcPts val="2250"/>
              </a:lnSpc>
            </a:pPr>
            <a:r>
              <a:rPr lang="en-US" sz="1575" b="true">
                <a:solidFill>
                  <a:srgbClr val="000000"/>
                </a:solidFill>
                <a:latin typeface="Arimo Bold"/>
                <a:ea typeface="Arimo Bold"/>
                <a:cs typeface="Arimo Bold"/>
                <a:sym typeface="Arimo Bold"/>
              </a:rPr>
              <a:t>Conseil : </a:t>
            </a:r>
            <a:r>
              <a:rPr lang="en-US" sz="1575">
                <a:solidFill>
                  <a:srgbClr val="000000"/>
                </a:solidFill>
                <a:latin typeface="Arimo"/>
                <a:ea typeface="Arimo"/>
                <a:cs typeface="Arimo"/>
                <a:sym typeface="Arimo"/>
              </a:rPr>
              <a:t>La méthode head() affiche les 5 premières lignes pour un aperçu rapide.</a:t>
            </a:r>
          </a:p>
        </p:txBody>
      </p:sp>
      <p:sp>
        <p:nvSpPr>
          <p:cNvPr name="TextBox 43" id="43"/>
          <p:cNvSpPr txBox="true"/>
          <p:nvPr/>
        </p:nvSpPr>
        <p:spPr>
          <a:xfrm rot="0">
            <a:off x="571500" y="9382125"/>
            <a:ext cx="1644045"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8 sur 15</a:t>
            </a:r>
          </a:p>
        </p:txBody>
      </p:sp>
      <p:sp>
        <p:nvSpPr>
          <p:cNvPr name="TextBox 44" id="44"/>
          <p:cNvSpPr txBox="true"/>
          <p:nvPr/>
        </p:nvSpPr>
        <p:spPr>
          <a:xfrm rot="0">
            <a:off x="11094914" y="9382125"/>
            <a:ext cx="7945904"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Bibliothèque Pandas pour la manipulation et l'analyse de données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629900"/>
            <a:chOff x="0" y="0"/>
            <a:chExt cx="24384000" cy="14173200"/>
          </a:xfrm>
        </p:grpSpPr>
        <p:sp>
          <p:nvSpPr>
            <p:cNvPr name="Freeform 3" id="3" descr="preencoded.png"/>
            <p:cNvSpPr/>
            <p:nvPr/>
          </p:nvSpPr>
          <p:spPr>
            <a:xfrm flipH="false" flipV="false" rot="0">
              <a:off x="0" y="0"/>
              <a:ext cx="24384000" cy="14173200"/>
            </a:xfrm>
            <a:custGeom>
              <a:avLst/>
              <a:gdLst/>
              <a:ahLst/>
              <a:cxnLst/>
              <a:rect r="r" b="b" t="t" l="l"/>
              <a:pathLst>
                <a:path h="14173200" w="24384000">
                  <a:moveTo>
                    <a:pt x="0" y="0"/>
                  </a:moveTo>
                  <a:lnTo>
                    <a:pt x="24384000" y="0"/>
                  </a:lnTo>
                  <a:lnTo>
                    <a:pt x="24384000" y="14173200"/>
                  </a:lnTo>
                  <a:lnTo>
                    <a:pt x="0" y="141732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571500" y="1600200"/>
            <a:ext cx="342900" cy="342900"/>
            <a:chOff x="0" y="0"/>
            <a:chExt cx="457200" cy="457200"/>
          </a:xfrm>
        </p:grpSpPr>
        <p:sp>
          <p:nvSpPr>
            <p:cNvPr name="Freeform 5" id="5"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571500" y="2571750"/>
            <a:ext cx="8229600" cy="1143000"/>
            <a:chOff x="0" y="0"/>
            <a:chExt cx="10972800" cy="1524000"/>
          </a:xfrm>
        </p:grpSpPr>
        <p:sp>
          <p:nvSpPr>
            <p:cNvPr name="Freeform 7" id="7" descr="preencoded.png"/>
            <p:cNvSpPr/>
            <p:nvPr/>
          </p:nvSpPr>
          <p:spPr>
            <a:xfrm flipH="false" flipV="false" rot="0">
              <a:off x="0" y="0"/>
              <a:ext cx="10972800" cy="1524000"/>
            </a:xfrm>
            <a:custGeom>
              <a:avLst/>
              <a:gdLst/>
              <a:ahLst/>
              <a:cxnLst/>
              <a:rect r="r" b="b" t="t" l="l"/>
              <a:pathLst>
                <a:path h="1524000" w="10972800">
                  <a:moveTo>
                    <a:pt x="0" y="0"/>
                  </a:moveTo>
                  <a:lnTo>
                    <a:pt x="10972800" y="0"/>
                  </a:lnTo>
                  <a:lnTo>
                    <a:pt x="10972800" y="1524000"/>
                  </a:lnTo>
                  <a:lnTo>
                    <a:pt x="0" y="1524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571500" y="4343400"/>
            <a:ext cx="8229600" cy="1143000"/>
            <a:chOff x="0" y="0"/>
            <a:chExt cx="10972800" cy="1524000"/>
          </a:xfrm>
        </p:grpSpPr>
        <p:sp>
          <p:nvSpPr>
            <p:cNvPr name="Freeform 9" id="9" descr="preencoded.png"/>
            <p:cNvSpPr/>
            <p:nvPr/>
          </p:nvSpPr>
          <p:spPr>
            <a:xfrm flipH="false" flipV="false" rot="0">
              <a:off x="0" y="0"/>
              <a:ext cx="10972800" cy="1524000"/>
            </a:xfrm>
            <a:custGeom>
              <a:avLst/>
              <a:gdLst/>
              <a:ahLst/>
              <a:cxnLst/>
              <a:rect r="r" b="b" t="t" l="l"/>
              <a:pathLst>
                <a:path h="1524000" w="10972800">
                  <a:moveTo>
                    <a:pt x="0" y="0"/>
                  </a:moveTo>
                  <a:lnTo>
                    <a:pt x="10972800" y="0"/>
                  </a:lnTo>
                  <a:lnTo>
                    <a:pt x="10972800" y="1524000"/>
                  </a:lnTo>
                  <a:lnTo>
                    <a:pt x="0" y="1524000"/>
                  </a:lnTo>
                  <a:lnTo>
                    <a:pt x="0" y="0"/>
                  </a:lnTo>
                  <a:close/>
                </a:path>
              </a:pathLst>
            </a:custGeom>
            <a:blipFill>
              <a:blip r:embed="rId5"/>
              <a:stretch>
                <a:fillRect l="0" t="0" r="0" b="0"/>
              </a:stretch>
            </a:blipFill>
          </p:spPr>
        </p:sp>
      </p:grpSp>
      <p:grpSp>
        <p:nvGrpSpPr>
          <p:cNvPr name="Group 10" id="10"/>
          <p:cNvGrpSpPr>
            <a:grpSpLocks noChangeAspect="true"/>
          </p:cNvGrpSpPr>
          <p:nvPr/>
        </p:nvGrpSpPr>
        <p:grpSpPr>
          <a:xfrm rot="0">
            <a:off x="571500" y="5715000"/>
            <a:ext cx="428625" cy="342900"/>
            <a:chOff x="0" y="0"/>
            <a:chExt cx="571500" cy="457200"/>
          </a:xfrm>
        </p:grpSpPr>
        <p:sp>
          <p:nvSpPr>
            <p:cNvPr name="Freeform 11" id="11" descr="preencoded.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6"/>
              <a:stretch>
                <a:fillRect l="0" t="0" r="0" b="0"/>
              </a:stretch>
            </a:blipFill>
          </p:spPr>
        </p:sp>
      </p:grpSp>
      <p:grpSp>
        <p:nvGrpSpPr>
          <p:cNvPr name="Group 12" id="12"/>
          <p:cNvGrpSpPr>
            <a:grpSpLocks noChangeAspect="true"/>
          </p:cNvGrpSpPr>
          <p:nvPr/>
        </p:nvGrpSpPr>
        <p:grpSpPr>
          <a:xfrm rot="0">
            <a:off x="571500" y="6229350"/>
            <a:ext cx="8229600" cy="1771650"/>
            <a:chOff x="0" y="0"/>
            <a:chExt cx="10972800" cy="2362200"/>
          </a:xfrm>
        </p:grpSpPr>
        <p:sp>
          <p:nvSpPr>
            <p:cNvPr name="Freeform 13" id="13" descr="preencoded.png"/>
            <p:cNvSpPr/>
            <p:nvPr/>
          </p:nvSpPr>
          <p:spPr>
            <a:xfrm flipH="false" flipV="false" rot="0">
              <a:off x="0" y="0"/>
              <a:ext cx="10972800" cy="2362200"/>
            </a:xfrm>
            <a:custGeom>
              <a:avLst/>
              <a:gdLst/>
              <a:ahLst/>
              <a:cxnLst/>
              <a:rect r="r" b="b" t="t" l="l"/>
              <a:pathLst>
                <a:path h="2362200" w="10972800">
                  <a:moveTo>
                    <a:pt x="0" y="0"/>
                  </a:moveTo>
                  <a:lnTo>
                    <a:pt x="10972800" y="0"/>
                  </a:lnTo>
                  <a:lnTo>
                    <a:pt x="10972800" y="2362200"/>
                  </a:lnTo>
                  <a:lnTo>
                    <a:pt x="0" y="23622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685800" y="6415088"/>
            <a:ext cx="257175" cy="257175"/>
            <a:chOff x="0" y="0"/>
            <a:chExt cx="342900" cy="342900"/>
          </a:xfrm>
        </p:grpSpPr>
        <p:sp>
          <p:nvSpPr>
            <p:cNvPr name="Freeform 15" id="15"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8"/>
              <a:stretch>
                <a:fillRect l="0" t="0" r="0" b="0"/>
              </a:stretch>
            </a:blipFill>
          </p:spPr>
        </p:sp>
      </p:grpSp>
      <p:grpSp>
        <p:nvGrpSpPr>
          <p:cNvPr name="Group 16" id="16"/>
          <p:cNvGrpSpPr>
            <a:grpSpLocks noChangeAspect="true"/>
          </p:cNvGrpSpPr>
          <p:nvPr/>
        </p:nvGrpSpPr>
        <p:grpSpPr>
          <a:xfrm rot="0">
            <a:off x="685800" y="6743700"/>
            <a:ext cx="8001000" cy="1143000"/>
            <a:chOff x="0" y="0"/>
            <a:chExt cx="10668000" cy="1524000"/>
          </a:xfrm>
        </p:grpSpPr>
        <p:sp>
          <p:nvSpPr>
            <p:cNvPr name="Freeform 17" id="17" descr="preencoded.png"/>
            <p:cNvSpPr/>
            <p:nvPr/>
          </p:nvSpPr>
          <p:spPr>
            <a:xfrm flipH="false" flipV="false" rot="0">
              <a:off x="0" y="0"/>
              <a:ext cx="10668000" cy="1524000"/>
            </a:xfrm>
            <a:custGeom>
              <a:avLst/>
              <a:gdLst/>
              <a:ahLst/>
              <a:cxnLst/>
              <a:rect r="r" b="b" t="t" l="l"/>
              <a:pathLst>
                <a:path h="1524000" w="10668000">
                  <a:moveTo>
                    <a:pt x="0" y="0"/>
                  </a:moveTo>
                  <a:lnTo>
                    <a:pt x="10668000" y="0"/>
                  </a:lnTo>
                  <a:lnTo>
                    <a:pt x="10668000" y="1524000"/>
                  </a:lnTo>
                  <a:lnTo>
                    <a:pt x="0" y="1524000"/>
                  </a:lnTo>
                  <a:lnTo>
                    <a:pt x="0" y="0"/>
                  </a:lnTo>
                  <a:close/>
                </a:path>
              </a:pathLst>
            </a:custGeom>
            <a:blipFill>
              <a:blip r:embed="rId9"/>
              <a:stretch>
                <a:fillRect l="0" t="0" r="0" b="0"/>
              </a:stretch>
            </a:blipFill>
          </p:spPr>
        </p:sp>
      </p:grpSp>
      <p:grpSp>
        <p:nvGrpSpPr>
          <p:cNvPr name="Group 18" id="18"/>
          <p:cNvGrpSpPr>
            <a:grpSpLocks noChangeAspect="true"/>
          </p:cNvGrpSpPr>
          <p:nvPr/>
        </p:nvGrpSpPr>
        <p:grpSpPr>
          <a:xfrm rot="0">
            <a:off x="571500" y="8115300"/>
            <a:ext cx="8229600" cy="1485900"/>
            <a:chOff x="0" y="0"/>
            <a:chExt cx="10972800" cy="1981200"/>
          </a:xfrm>
        </p:grpSpPr>
        <p:sp>
          <p:nvSpPr>
            <p:cNvPr name="Freeform 19" id="19" descr="preencoded.png"/>
            <p:cNvSpPr/>
            <p:nvPr/>
          </p:nvSpPr>
          <p:spPr>
            <a:xfrm flipH="false" flipV="false" rot="0">
              <a:off x="0" y="0"/>
              <a:ext cx="10972800" cy="1981200"/>
            </a:xfrm>
            <a:custGeom>
              <a:avLst/>
              <a:gdLst/>
              <a:ahLst/>
              <a:cxnLst/>
              <a:rect r="r" b="b" t="t" l="l"/>
              <a:pathLst>
                <a:path h="1981200" w="10972800">
                  <a:moveTo>
                    <a:pt x="0" y="0"/>
                  </a:moveTo>
                  <a:lnTo>
                    <a:pt x="10972800" y="0"/>
                  </a:lnTo>
                  <a:lnTo>
                    <a:pt x="10972800" y="1981200"/>
                  </a:lnTo>
                  <a:lnTo>
                    <a:pt x="0" y="1981200"/>
                  </a:lnTo>
                  <a:lnTo>
                    <a:pt x="0" y="0"/>
                  </a:lnTo>
                  <a:close/>
                </a:path>
              </a:pathLst>
            </a:custGeom>
            <a:blipFill>
              <a:blip r:embed="rId10"/>
              <a:stretch>
                <a:fillRect l="0" t="0" r="0" b="0"/>
              </a:stretch>
            </a:blipFill>
          </p:spPr>
        </p:sp>
      </p:grpSp>
      <p:grpSp>
        <p:nvGrpSpPr>
          <p:cNvPr name="Group 20" id="20"/>
          <p:cNvGrpSpPr>
            <a:grpSpLocks noChangeAspect="true"/>
          </p:cNvGrpSpPr>
          <p:nvPr/>
        </p:nvGrpSpPr>
        <p:grpSpPr>
          <a:xfrm rot="0">
            <a:off x="685800" y="8301038"/>
            <a:ext cx="257175" cy="257175"/>
            <a:chOff x="0" y="0"/>
            <a:chExt cx="342900" cy="342900"/>
          </a:xfrm>
        </p:grpSpPr>
        <p:sp>
          <p:nvSpPr>
            <p:cNvPr name="Freeform 21" id="21"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11"/>
              <a:stretch>
                <a:fillRect l="0" t="0" r="0" b="0"/>
              </a:stretch>
            </a:blipFill>
          </p:spPr>
        </p:sp>
      </p:grpSp>
      <p:grpSp>
        <p:nvGrpSpPr>
          <p:cNvPr name="Group 22" id="22"/>
          <p:cNvGrpSpPr>
            <a:grpSpLocks noChangeAspect="true"/>
          </p:cNvGrpSpPr>
          <p:nvPr/>
        </p:nvGrpSpPr>
        <p:grpSpPr>
          <a:xfrm rot="0">
            <a:off x="685800" y="8629650"/>
            <a:ext cx="8001000" cy="857250"/>
            <a:chOff x="0" y="0"/>
            <a:chExt cx="10668000" cy="1143000"/>
          </a:xfrm>
        </p:grpSpPr>
        <p:sp>
          <p:nvSpPr>
            <p:cNvPr name="Freeform 23" id="23" descr="preencoded.png"/>
            <p:cNvSpPr/>
            <p:nvPr/>
          </p:nvSpPr>
          <p:spPr>
            <a:xfrm flipH="false" flipV="false" rot="0">
              <a:off x="0" y="0"/>
              <a:ext cx="10668000" cy="1143000"/>
            </a:xfrm>
            <a:custGeom>
              <a:avLst/>
              <a:gdLst/>
              <a:ahLst/>
              <a:cxnLst/>
              <a:rect r="r" b="b" t="t" l="l"/>
              <a:pathLst>
                <a:path h="1143000" w="10668000">
                  <a:moveTo>
                    <a:pt x="0" y="0"/>
                  </a:moveTo>
                  <a:lnTo>
                    <a:pt x="10668000" y="0"/>
                  </a:lnTo>
                  <a:lnTo>
                    <a:pt x="10668000" y="1143000"/>
                  </a:lnTo>
                  <a:lnTo>
                    <a:pt x="0" y="1143000"/>
                  </a:lnTo>
                  <a:lnTo>
                    <a:pt x="0" y="0"/>
                  </a:lnTo>
                  <a:close/>
                </a:path>
              </a:pathLst>
            </a:custGeom>
            <a:blipFill>
              <a:blip r:embed="rId12"/>
              <a:stretch>
                <a:fillRect l="0" t="0" r="0" b="0"/>
              </a:stretch>
            </a:blipFill>
          </p:spPr>
        </p:sp>
      </p:grpSp>
      <p:grpSp>
        <p:nvGrpSpPr>
          <p:cNvPr name="Group 24" id="24"/>
          <p:cNvGrpSpPr>
            <a:grpSpLocks noChangeAspect="true"/>
          </p:cNvGrpSpPr>
          <p:nvPr/>
        </p:nvGrpSpPr>
        <p:grpSpPr>
          <a:xfrm rot="0">
            <a:off x="9486900" y="1600200"/>
            <a:ext cx="428625" cy="342900"/>
            <a:chOff x="0" y="0"/>
            <a:chExt cx="571500" cy="457200"/>
          </a:xfrm>
        </p:grpSpPr>
        <p:sp>
          <p:nvSpPr>
            <p:cNvPr name="Freeform 25" id="25" descr="preencoded.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13"/>
              <a:stretch>
                <a:fillRect l="0" t="0" r="0" b="0"/>
              </a:stretch>
            </a:blipFill>
          </p:spPr>
        </p:sp>
      </p:grpSp>
      <p:grpSp>
        <p:nvGrpSpPr>
          <p:cNvPr name="Group 26" id="26"/>
          <p:cNvGrpSpPr>
            <a:grpSpLocks noChangeAspect="true"/>
          </p:cNvGrpSpPr>
          <p:nvPr/>
        </p:nvGrpSpPr>
        <p:grpSpPr>
          <a:xfrm rot="0">
            <a:off x="9486900" y="2571750"/>
            <a:ext cx="8229600" cy="2857500"/>
            <a:chOff x="0" y="0"/>
            <a:chExt cx="10972800" cy="3810000"/>
          </a:xfrm>
        </p:grpSpPr>
        <p:sp>
          <p:nvSpPr>
            <p:cNvPr name="Freeform 27" id="27" descr="preencoded.png"/>
            <p:cNvSpPr/>
            <p:nvPr/>
          </p:nvSpPr>
          <p:spPr>
            <a:xfrm flipH="false" flipV="false" rot="0">
              <a:off x="0" y="0"/>
              <a:ext cx="10972800" cy="3810000"/>
            </a:xfrm>
            <a:custGeom>
              <a:avLst/>
              <a:gdLst/>
              <a:ahLst/>
              <a:cxnLst/>
              <a:rect r="r" b="b" t="t" l="l"/>
              <a:pathLst>
                <a:path h="3810000" w="10972800">
                  <a:moveTo>
                    <a:pt x="0" y="0"/>
                  </a:moveTo>
                  <a:lnTo>
                    <a:pt x="10972800" y="0"/>
                  </a:lnTo>
                  <a:lnTo>
                    <a:pt x="10972800" y="3810000"/>
                  </a:lnTo>
                  <a:lnTo>
                    <a:pt x="0" y="3810000"/>
                  </a:lnTo>
                  <a:lnTo>
                    <a:pt x="0" y="0"/>
                  </a:lnTo>
                  <a:close/>
                </a:path>
              </a:pathLst>
            </a:custGeom>
            <a:blipFill>
              <a:blip r:embed="rId14"/>
              <a:stretch>
                <a:fillRect l="0" t="0" r="0" b="0"/>
              </a:stretch>
            </a:blipFill>
          </p:spPr>
        </p:sp>
      </p:grpSp>
      <p:grpSp>
        <p:nvGrpSpPr>
          <p:cNvPr name="Group 28" id="28"/>
          <p:cNvGrpSpPr>
            <a:grpSpLocks noChangeAspect="true"/>
          </p:cNvGrpSpPr>
          <p:nvPr/>
        </p:nvGrpSpPr>
        <p:grpSpPr>
          <a:xfrm rot="0">
            <a:off x="9486900" y="6057900"/>
            <a:ext cx="8229600" cy="2000250"/>
            <a:chOff x="0" y="0"/>
            <a:chExt cx="10972800" cy="2667000"/>
          </a:xfrm>
        </p:grpSpPr>
        <p:sp>
          <p:nvSpPr>
            <p:cNvPr name="Freeform 29" id="29" descr="preencoded.png"/>
            <p:cNvSpPr/>
            <p:nvPr/>
          </p:nvSpPr>
          <p:spPr>
            <a:xfrm flipH="false" flipV="false" rot="0">
              <a:off x="0" y="0"/>
              <a:ext cx="10972800" cy="2667000"/>
            </a:xfrm>
            <a:custGeom>
              <a:avLst/>
              <a:gdLst/>
              <a:ahLst/>
              <a:cxnLst/>
              <a:rect r="r" b="b" t="t" l="l"/>
              <a:pathLst>
                <a:path h="2667000" w="10972800">
                  <a:moveTo>
                    <a:pt x="0" y="0"/>
                  </a:moveTo>
                  <a:lnTo>
                    <a:pt x="10972800" y="0"/>
                  </a:lnTo>
                  <a:lnTo>
                    <a:pt x="10972800" y="2667000"/>
                  </a:lnTo>
                  <a:lnTo>
                    <a:pt x="0" y="2667000"/>
                  </a:lnTo>
                  <a:lnTo>
                    <a:pt x="0" y="0"/>
                  </a:lnTo>
                  <a:close/>
                </a:path>
              </a:pathLst>
            </a:custGeom>
            <a:blipFill>
              <a:blip r:embed="rId15"/>
              <a:stretch>
                <a:fillRect l="0" t="0" r="0" b="0"/>
              </a:stretch>
            </a:blipFill>
          </p:spPr>
        </p:sp>
      </p:grpSp>
      <p:sp>
        <p:nvSpPr>
          <p:cNvPr name="TextBox 30" id="30"/>
          <p:cNvSpPr txBox="true"/>
          <p:nvPr/>
        </p:nvSpPr>
        <p:spPr>
          <a:xfrm rot="0">
            <a:off x="571500" y="581025"/>
            <a:ext cx="205740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Manipulation et Nettoyage des Données</a:t>
            </a:r>
          </a:p>
        </p:txBody>
      </p:sp>
      <p:sp>
        <p:nvSpPr>
          <p:cNvPr name="TextBox 31" id="31"/>
          <p:cNvSpPr txBox="true"/>
          <p:nvPr/>
        </p:nvSpPr>
        <p:spPr>
          <a:xfrm rot="0">
            <a:off x="1028700" y="1485900"/>
            <a:ext cx="82296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Sélection de Données</a:t>
            </a:r>
          </a:p>
        </p:txBody>
      </p:sp>
      <p:sp>
        <p:nvSpPr>
          <p:cNvPr name="TextBox 32" id="32"/>
          <p:cNvSpPr txBox="true"/>
          <p:nvPr/>
        </p:nvSpPr>
        <p:spPr>
          <a:xfrm rot="0">
            <a:off x="571500" y="2057400"/>
            <a:ext cx="8229600" cy="457200"/>
          </a:xfrm>
          <a:prstGeom prst="rect">
            <a:avLst/>
          </a:prstGeom>
        </p:spPr>
        <p:txBody>
          <a:bodyPr anchor="t" rtlCol="false" tIns="0" lIns="0" bIns="0" rIns="0">
            <a:spAutoFit/>
          </a:bodyPr>
          <a:lstStyle/>
          <a:p>
            <a:pPr algn="l">
              <a:lnSpc>
                <a:spcPts val="3149"/>
              </a:lnSpc>
            </a:pPr>
            <a:r>
              <a:rPr lang="en-US" sz="2250" b="true">
                <a:solidFill>
                  <a:srgbClr val="FF9100"/>
                </a:solidFill>
                <a:latin typeface="Arimo Bold"/>
                <a:ea typeface="Arimo Bold"/>
                <a:cs typeface="Arimo Bold"/>
                <a:sym typeface="Arimo Bold"/>
              </a:rPr>
              <a:t>loc </a:t>
            </a:r>
            <a:r>
              <a:rPr lang="en-US" sz="2250">
                <a:solidFill>
                  <a:srgbClr val="000000"/>
                </a:solidFill>
                <a:latin typeface="Arimo"/>
                <a:ea typeface="Arimo"/>
                <a:cs typeface="Arimo"/>
                <a:sym typeface="Arimo"/>
              </a:rPr>
              <a:t>- Par étiquette</a:t>
            </a:r>
          </a:p>
        </p:txBody>
      </p:sp>
      <p:sp>
        <p:nvSpPr>
          <p:cNvPr name="TextBox 33" id="33"/>
          <p:cNvSpPr txBox="true"/>
          <p:nvPr/>
        </p:nvSpPr>
        <p:spPr>
          <a:xfrm rot="0">
            <a:off x="714375" y="2533650"/>
            <a:ext cx="8229600" cy="84963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Sélectionner des lignes et colonnes par étiquette</a:t>
            </a:r>
          </a:p>
          <a:p>
            <a:pPr algn="l">
              <a:lnSpc>
                <a:spcPts val="2250"/>
              </a:lnSpc>
            </a:pPr>
            <a:r>
              <a:rPr lang="en-US" sz="1575" b="true">
                <a:solidFill>
                  <a:srgbClr val="FF9100"/>
                </a:solidFill>
                <a:latin typeface="Courier New Bold"/>
                <a:ea typeface="Courier New Bold"/>
                <a:cs typeface="Courier New Bold"/>
                <a:sym typeface="Courier New Bold"/>
              </a:rPr>
              <a:t>df.loc </a:t>
            </a:r>
            <a:r>
              <a:rPr lang="en-US" sz="1575">
                <a:solidFill>
                  <a:srgbClr val="333333"/>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 "ligne1" </a:t>
            </a:r>
            <a:r>
              <a:rPr lang="en-US" sz="1575">
                <a:solidFill>
                  <a:srgbClr val="333333"/>
                </a:solidFill>
                <a:latin typeface="Courier New"/>
                <a:ea typeface="Courier New"/>
                <a:cs typeface="Courier New"/>
                <a:sym typeface="Courier New"/>
              </a:rPr>
              <a:t>,</a:t>
            </a:r>
            <a:r>
              <a:rPr lang="en-US" sz="1575">
                <a:solidFill>
                  <a:srgbClr val="FF9100"/>
                </a:solidFill>
                <a:latin typeface="Courier New"/>
                <a:ea typeface="Courier New"/>
                <a:cs typeface="Courier New"/>
                <a:sym typeface="Courier New"/>
              </a:rPr>
              <a:t> </a:t>
            </a:r>
            <a:r>
              <a:rPr lang="en-US" sz="1575">
                <a:solidFill>
                  <a:srgbClr val="6A9955"/>
                </a:solidFill>
                <a:latin typeface="Courier New"/>
                <a:ea typeface="Courier New"/>
                <a:cs typeface="Courier New"/>
                <a:sym typeface="Courier New"/>
              </a:rPr>
              <a:t>"colonne1" </a:t>
            </a:r>
            <a:r>
              <a:rPr lang="en-US" sz="1575">
                <a:solidFill>
                  <a:srgbClr val="333333"/>
                </a:solidFill>
                <a:latin typeface="Courier New"/>
                <a:ea typeface="Courier New"/>
                <a:cs typeface="Courier New"/>
                <a:sym typeface="Courier New"/>
              </a:rPr>
              <a:t>]</a:t>
            </a:r>
          </a:p>
          <a:p>
            <a:pPr algn="l">
              <a:lnSpc>
                <a:spcPts val="2250"/>
              </a:lnSpc>
            </a:pPr>
            <a:r>
              <a:rPr lang="en-US" sz="1575" b="true">
                <a:solidFill>
                  <a:srgbClr val="FF9100"/>
                </a:solidFill>
                <a:latin typeface="Courier New Bold"/>
                <a:ea typeface="Courier New Bold"/>
                <a:cs typeface="Courier New Bold"/>
                <a:sym typeface="Courier New Bold"/>
              </a:rPr>
              <a:t>df.loc </a:t>
            </a:r>
            <a:r>
              <a:rPr lang="en-US" sz="1575">
                <a:solidFill>
                  <a:srgbClr val="333333"/>
                </a:solidFill>
                <a:latin typeface="Courier New"/>
                <a:ea typeface="Courier New"/>
                <a:cs typeface="Courier New"/>
                <a:sym typeface="Courier New"/>
              </a:rPr>
              <a:t>[</a:t>
            </a:r>
            <a:r>
              <a:rPr lang="en-US" sz="1575">
                <a:solidFill>
                  <a:srgbClr val="FF9100"/>
                </a:solidFill>
                <a:latin typeface="Courier New"/>
                <a:ea typeface="Courier New"/>
                <a:cs typeface="Courier New"/>
                <a:sym typeface="Courier New"/>
              </a:rPr>
              <a:t> </a:t>
            </a:r>
            <a:r>
              <a:rPr lang="en-US" sz="1575">
                <a:solidFill>
                  <a:srgbClr val="6A9955"/>
                </a:solidFill>
                <a:latin typeface="Courier New"/>
                <a:ea typeface="Courier New"/>
                <a:cs typeface="Courier New"/>
                <a:sym typeface="Courier New"/>
              </a:rPr>
              <a:t>"ligne1":"ligne3"</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r>
              <a:rPr lang="en-US" sz="1575">
                <a:solidFill>
                  <a:srgbClr val="FF9100"/>
                </a:solidFill>
                <a:latin typeface="Courier New"/>
                <a:ea typeface="Courier New"/>
                <a:cs typeface="Courier New"/>
                <a:sym typeface="Courier New"/>
              </a:rPr>
              <a:t> </a:t>
            </a:r>
            <a:r>
              <a:rPr lang="en-US" sz="1575">
                <a:solidFill>
                  <a:srgbClr val="6A9955"/>
                </a:solidFill>
                <a:latin typeface="Courier New"/>
                <a:ea typeface="Courier New"/>
                <a:cs typeface="Courier New"/>
                <a:sym typeface="Courier New"/>
              </a:rPr>
              <a:t>"colonne1":"colonne3"</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p>
        </p:txBody>
      </p:sp>
      <p:sp>
        <p:nvSpPr>
          <p:cNvPr name="TextBox 34" id="34"/>
          <p:cNvSpPr txBox="true"/>
          <p:nvPr/>
        </p:nvSpPr>
        <p:spPr>
          <a:xfrm rot="0">
            <a:off x="571500" y="3829050"/>
            <a:ext cx="8229600" cy="457200"/>
          </a:xfrm>
          <a:prstGeom prst="rect">
            <a:avLst/>
          </a:prstGeom>
        </p:spPr>
        <p:txBody>
          <a:bodyPr anchor="t" rtlCol="false" tIns="0" lIns="0" bIns="0" rIns="0">
            <a:spAutoFit/>
          </a:bodyPr>
          <a:lstStyle/>
          <a:p>
            <a:pPr algn="l">
              <a:lnSpc>
                <a:spcPts val="3149"/>
              </a:lnSpc>
            </a:pPr>
            <a:r>
              <a:rPr lang="en-US" sz="2250" b="true">
                <a:solidFill>
                  <a:srgbClr val="FF9100"/>
                </a:solidFill>
                <a:latin typeface="Arimo Bold"/>
                <a:ea typeface="Arimo Bold"/>
                <a:cs typeface="Arimo Bold"/>
                <a:sym typeface="Arimo Bold"/>
              </a:rPr>
              <a:t>iloc </a:t>
            </a:r>
            <a:r>
              <a:rPr lang="en-US" sz="2250">
                <a:solidFill>
                  <a:srgbClr val="000000"/>
                </a:solidFill>
                <a:latin typeface="Arimo"/>
                <a:ea typeface="Arimo"/>
                <a:cs typeface="Arimo"/>
                <a:sym typeface="Arimo"/>
              </a:rPr>
              <a:t>- Par position</a:t>
            </a:r>
          </a:p>
        </p:txBody>
      </p:sp>
      <p:sp>
        <p:nvSpPr>
          <p:cNvPr name="TextBox 35" id="35"/>
          <p:cNvSpPr txBox="true"/>
          <p:nvPr/>
        </p:nvSpPr>
        <p:spPr>
          <a:xfrm rot="0">
            <a:off x="714375" y="4305300"/>
            <a:ext cx="8229600" cy="118110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Sélectionner par position numérique</a:t>
            </a:r>
          </a:p>
          <a:p>
            <a:pPr algn="l">
              <a:lnSpc>
                <a:spcPts val="2250"/>
              </a:lnSpc>
            </a:pPr>
            <a:r>
              <a:rPr lang="en-US" sz="1575" b="true">
                <a:solidFill>
                  <a:srgbClr val="FF9100"/>
                </a:solidFill>
                <a:latin typeface="Courier New Bold"/>
                <a:ea typeface="Courier New Bold"/>
                <a:cs typeface="Courier New Bold"/>
                <a:sym typeface="Courier New Bold"/>
              </a:rPr>
              <a:t>df.iloc </a:t>
            </a:r>
            <a:r>
              <a:rPr lang="en-US" sz="1575">
                <a:solidFill>
                  <a:srgbClr val="333333"/>
                </a:solidFill>
                <a:latin typeface="Courier New"/>
                <a:ea typeface="Courier New"/>
                <a:cs typeface="Courier New"/>
                <a:sym typeface="Courier New"/>
              </a:rPr>
              <a:t>[0, 1]</a:t>
            </a:r>
          </a:p>
          <a:p>
            <a:pPr algn="l">
              <a:lnSpc>
                <a:spcPts val="2250"/>
              </a:lnSpc>
            </a:pPr>
            <a:r>
              <a:rPr lang="en-US" sz="1575" b="true">
                <a:solidFill>
                  <a:srgbClr val="FF9100"/>
                </a:solidFill>
                <a:latin typeface="Courier New Bold"/>
                <a:ea typeface="Courier New Bold"/>
                <a:cs typeface="Courier New Bold"/>
                <a:sym typeface="Courier New Bold"/>
              </a:rPr>
              <a:t>df.iloc </a:t>
            </a:r>
            <a:r>
              <a:rPr lang="en-US" sz="1575">
                <a:solidFill>
                  <a:srgbClr val="333333"/>
                </a:solidFill>
                <a:latin typeface="Courier New"/>
                <a:ea typeface="Courier New"/>
                <a:cs typeface="Courier New"/>
                <a:sym typeface="Courier New"/>
              </a:rPr>
              <a:t>[0:3, 0:3]</a:t>
            </a:r>
          </a:p>
        </p:txBody>
      </p:sp>
      <p:sp>
        <p:nvSpPr>
          <p:cNvPr name="TextBox 36" id="36"/>
          <p:cNvSpPr txBox="true"/>
          <p:nvPr/>
        </p:nvSpPr>
        <p:spPr>
          <a:xfrm rot="0">
            <a:off x="1114425" y="5600700"/>
            <a:ext cx="987552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Nettoyage des Données</a:t>
            </a:r>
          </a:p>
        </p:txBody>
      </p:sp>
      <p:sp>
        <p:nvSpPr>
          <p:cNvPr name="TextBox 37" id="37"/>
          <p:cNvSpPr txBox="true"/>
          <p:nvPr/>
        </p:nvSpPr>
        <p:spPr>
          <a:xfrm rot="0">
            <a:off x="1057275" y="6267450"/>
            <a:ext cx="8001000"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Valeurs Manquantes</a:t>
            </a:r>
          </a:p>
        </p:txBody>
      </p:sp>
      <p:sp>
        <p:nvSpPr>
          <p:cNvPr name="TextBox 38" id="38"/>
          <p:cNvSpPr txBox="true"/>
          <p:nvPr/>
        </p:nvSpPr>
        <p:spPr>
          <a:xfrm rot="0">
            <a:off x="828675" y="6705600"/>
            <a:ext cx="8001000" cy="1181100"/>
          </a:xfrm>
          <a:prstGeom prst="rect">
            <a:avLst/>
          </a:prstGeom>
        </p:spPr>
        <p:txBody>
          <a:bodyPr anchor="t" rtlCol="false" tIns="0" lIns="0" bIns="0" rIns="0">
            <a:spAutoFit/>
          </a:bodyPr>
          <a:lstStyle/>
          <a:p>
            <a:pPr algn="l">
              <a:lnSpc>
                <a:spcPts val="2250"/>
              </a:lnSpc>
            </a:pPr>
            <a:r>
              <a:rPr lang="en-US" sz="1575" b="true">
                <a:solidFill>
                  <a:srgbClr val="FF9100"/>
                </a:solidFill>
                <a:latin typeface="Courier New Bold"/>
                <a:ea typeface="Courier New Bold"/>
                <a:cs typeface="Courier New Bold"/>
                <a:sym typeface="Courier New Bold"/>
              </a:rPr>
              <a:t>df.isnull()</a:t>
            </a:r>
          </a:p>
          <a:p>
            <a:pPr algn="l">
              <a:lnSpc>
                <a:spcPts val="2250"/>
              </a:lnSpc>
            </a:pPr>
            <a:r>
              <a:rPr lang="en-US" sz="1575" b="true">
                <a:solidFill>
                  <a:srgbClr val="FF9100"/>
                </a:solidFill>
                <a:latin typeface="Courier New Bold"/>
                <a:ea typeface="Courier New Bold"/>
                <a:cs typeface="Courier New Bold"/>
                <a:sym typeface="Courier New Bold"/>
              </a:rPr>
              <a:t>df.dropna()</a:t>
            </a:r>
          </a:p>
          <a:p>
            <a:pPr algn="l">
              <a:lnSpc>
                <a:spcPts val="2250"/>
              </a:lnSpc>
            </a:pPr>
            <a:r>
              <a:rPr lang="en-US" sz="1575" b="true">
                <a:solidFill>
                  <a:srgbClr val="FF9100"/>
                </a:solidFill>
                <a:latin typeface="Courier New Bold"/>
                <a:ea typeface="Courier New Bold"/>
                <a:cs typeface="Courier New Bold"/>
                <a:sym typeface="Courier New Bold"/>
              </a:rPr>
              <a:t>df.fillna </a:t>
            </a:r>
            <a:r>
              <a:rPr lang="en-US" sz="1575">
                <a:solidFill>
                  <a:srgbClr val="333333"/>
                </a:solidFill>
                <a:latin typeface="Courier New"/>
                <a:ea typeface="Courier New"/>
                <a:cs typeface="Courier New"/>
                <a:sym typeface="Courier New"/>
              </a:rPr>
              <a:t>(valeur)</a:t>
            </a:r>
          </a:p>
        </p:txBody>
      </p:sp>
      <p:sp>
        <p:nvSpPr>
          <p:cNvPr name="TextBox 39" id="39"/>
          <p:cNvSpPr txBox="true"/>
          <p:nvPr/>
        </p:nvSpPr>
        <p:spPr>
          <a:xfrm rot="0">
            <a:off x="1057275" y="8153400"/>
            <a:ext cx="8001000"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Doublons</a:t>
            </a:r>
          </a:p>
        </p:txBody>
      </p:sp>
      <p:sp>
        <p:nvSpPr>
          <p:cNvPr name="TextBox 40" id="40"/>
          <p:cNvSpPr txBox="true"/>
          <p:nvPr/>
        </p:nvSpPr>
        <p:spPr>
          <a:xfrm rot="0">
            <a:off x="828675" y="8763000"/>
            <a:ext cx="2160806" cy="266700"/>
          </a:xfrm>
          <a:prstGeom prst="rect">
            <a:avLst/>
          </a:prstGeom>
        </p:spPr>
        <p:txBody>
          <a:bodyPr anchor="t" rtlCol="false" tIns="0" lIns="0" bIns="0" rIns="0">
            <a:spAutoFit/>
          </a:bodyPr>
          <a:lstStyle/>
          <a:p>
            <a:pPr algn="l">
              <a:lnSpc>
                <a:spcPts val="2250"/>
              </a:lnSpc>
            </a:pPr>
            <a:r>
              <a:rPr lang="en-US" sz="1575" b="true">
                <a:solidFill>
                  <a:srgbClr val="FF9100"/>
                </a:solidFill>
                <a:latin typeface="Courier New Bold"/>
                <a:ea typeface="Courier New Bold"/>
                <a:cs typeface="Courier New Bold"/>
                <a:sym typeface="Courier New Bold"/>
              </a:rPr>
              <a:t>df.duplicated()</a:t>
            </a:r>
          </a:p>
        </p:txBody>
      </p:sp>
      <p:sp>
        <p:nvSpPr>
          <p:cNvPr name="TextBox 41" id="41"/>
          <p:cNvSpPr txBox="true"/>
          <p:nvPr/>
        </p:nvSpPr>
        <p:spPr>
          <a:xfrm rot="0">
            <a:off x="828675" y="9048750"/>
            <a:ext cx="2880895" cy="266700"/>
          </a:xfrm>
          <a:prstGeom prst="rect">
            <a:avLst/>
          </a:prstGeom>
        </p:spPr>
        <p:txBody>
          <a:bodyPr anchor="t" rtlCol="false" tIns="0" lIns="0" bIns="0" rIns="0">
            <a:spAutoFit/>
          </a:bodyPr>
          <a:lstStyle/>
          <a:p>
            <a:pPr algn="l">
              <a:lnSpc>
                <a:spcPts val="2250"/>
              </a:lnSpc>
            </a:pPr>
            <a:r>
              <a:rPr lang="en-US" sz="1575" b="true">
                <a:solidFill>
                  <a:srgbClr val="FF9100"/>
                </a:solidFill>
                <a:latin typeface="Courier New Bold"/>
                <a:ea typeface="Courier New Bold"/>
                <a:cs typeface="Courier New Bold"/>
                <a:sym typeface="Courier New Bold"/>
              </a:rPr>
              <a:t>df.drop_duplicates()</a:t>
            </a:r>
          </a:p>
        </p:txBody>
      </p:sp>
      <p:sp>
        <p:nvSpPr>
          <p:cNvPr name="TextBox 42" id="42"/>
          <p:cNvSpPr txBox="true"/>
          <p:nvPr/>
        </p:nvSpPr>
        <p:spPr>
          <a:xfrm rot="0">
            <a:off x="10029825" y="1485900"/>
            <a:ext cx="82296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Exemples Pratiques</a:t>
            </a:r>
          </a:p>
        </p:txBody>
      </p:sp>
      <p:sp>
        <p:nvSpPr>
          <p:cNvPr name="TextBox 43" id="43"/>
          <p:cNvSpPr txBox="true"/>
          <p:nvPr/>
        </p:nvSpPr>
        <p:spPr>
          <a:xfrm rot="0">
            <a:off x="9486900" y="2057400"/>
            <a:ext cx="8229600"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Sélection avec loc/iloc</a:t>
            </a:r>
          </a:p>
        </p:txBody>
      </p:sp>
      <p:sp>
        <p:nvSpPr>
          <p:cNvPr name="TextBox 44" id="44"/>
          <p:cNvSpPr txBox="true"/>
          <p:nvPr/>
        </p:nvSpPr>
        <p:spPr>
          <a:xfrm rot="0">
            <a:off x="9629775" y="2533650"/>
            <a:ext cx="8229600" cy="256413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Exemple de DataFrame</a:t>
            </a:r>
          </a:p>
          <a:p>
            <a:pPr algn="l">
              <a:lnSpc>
                <a:spcPts val="2250"/>
              </a:lnSpc>
            </a:pPr>
            <a:r>
              <a:rPr lang="en-US" sz="1575" b="true">
                <a:solidFill>
                  <a:srgbClr val="FF9100"/>
                </a:solidFill>
                <a:latin typeface="Courier New Bold"/>
                <a:ea typeface="Courier New Bold"/>
                <a:cs typeface="Courier New Bold"/>
                <a:sym typeface="Courier New Bold"/>
              </a:rPr>
              <a:t>import </a:t>
            </a:r>
            <a:r>
              <a:rPr lang="en-US" sz="1575">
                <a:solidFill>
                  <a:srgbClr val="333333"/>
                </a:solidFill>
                <a:latin typeface="Courier New"/>
                <a:ea typeface="Courier New"/>
                <a:cs typeface="Courier New"/>
                <a:sym typeface="Courier New"/>
              </a:rPr>
              <a:t>pandas </a:t>
            </a:r>
            <a:r>
              <a:rPr lang="en-US" sz="1575" b="true">
                <a:solidFill>
                  <a:srgbClr val="FF9100"/>
                </a:solidFill>
                <a:latin typeface="Courier New Bold"/>
                <a:ea typeface="Courier New Bold"/>
                <a:cs typeface="Courier New Bold"/>
                <a:sym typeface="Courier New Bold"/>
              </a:rPr>
              <a:t>as </a:t>
            </a:r>
            <a:r>
              <a:rPr lang="en-US" sz="1575">
                <a:solidFill>
                  <a:srgbClr val="333333"/>
                </a:solidFill>
                <a:latin typeface="Courier New"/>
                <a:ea typeface="Courier New"/>
                <a:cs typeface="Courier New"/>
                <a:sym typeface="Courier New"/>
              </a:rPr>
              <a:t>pd</a:t>
            </a:r>
          </a:p>
          <a:p>
            <a:pPr algn="l">
              <a:lnSpc>
                <a:spcPts val="2250"/>
              </a:lnSpc>
            </a:pPr>
            <a:r>
              <a:rPr lang="en-US" sz="1575">
                <a:solidFill>
                  <a:srgbClr val="333333"/>
                </a:solidFill>
                <a:latin typeface="Courier New"/>
                <a:ea typeface="Courier New"/>
                <a:cs typeface="Courier New"/>
                <a:sym typeface="Courier New"/>
              </a:rPr>
              <a:t>data = { </a:t>
            </a:r>
            <a:r>
              <a:rPr lang="en-US" sz="1575">
                <a:solidFill>
                  <a:srgbClr val="6A9955"/>
                </a:solidFill>
                <a:latin typeface="Courier New"/>
                <a:ea typeface="Courier New"/>
                <a:cs typeface="Courier New"/>
                <a:sym typeface="Courier New"/>
              </a:rPr>
              <a:t>'Nom' </a:t>
            </a:r>
            <a:r>
              <a:rPr lang="en-US" sz="1575">
                <a:solidFill>
                  <a:srgbClr val="333333"/>
                </a:solidFill>
                <a:latin typeface="Courier New"/>
                <a:ea typeface="Courier New"/>
                <a:cs typeface="Courier New"/>
                <a:sym typeface="Courier New"/>
              </a:rPr>
              <a:t>: [</a:t>
            </a:r>
            <a:r>
              <a:rPr lang="en-US" sz="1575">
                <a:solidFill>
                  <a:srgbClr val="6A9955"/>
                </a:solidFill>
                <a:latin typeface="Courier New"/>
                <a:ea typeface="Courier New"/>
                <a:cs typeface="Courier New"/>
                <a:sym typeface="Courier New"/>
              </a:rPr>
              <a:t> 'Alice'</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 'Bob'</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 'Charlie'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6A9955"/>
                </a:solidFill>
                <a:latin typeface="Courier New"/>
                <a:ea typeface="Courier New"/>
                <a:cs typeface="Courier New"/>
                <a:sym typeface="Courier New"/>
              </a:rPr>
              <a:t>'Age' </a:t>
            </a:r>
            <a:r>
              <a:rPr lang="en-US" sz="1575">
                <a:solidFill>
                  <a:srgbClr val="333333"/>
                </a:solidFill>
                <a:latin typeface="Courier New"/>
                <a:ea typeface="Courier New"/>
                <a:cs typeface="Courier New"/>
                <a:sym typeface="Courier New"/>
              </a:rPr>
              <a:t>: [25, 30, 35],</a:t>
            </a:r>
          </a:p>
          <a:p>
            <a:pPr algn="l">
              <a:lnSpc>
                <a:spcPts val="2250"/>
              </a:lnSpc>
            </a:pPr>
            <a:r>
              <a:rPr lang="en-US" sz="1575">
                <a:solidFill>
                  <a:srgbClr val="F1FA8C"/>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Ville' </a:t>
            </a:r>
            <a:r>
              <a:rPr lang="en-US" sz="1575">
                <a:solidFill>
                  <a:srgbClr val="333333"/>
                </a:solidFill>
                <a:latin typeface="Courier New"/>
                <a:ea typeface="Courier New"/>
                <a:cs typeface="Courier New"/>
                <a:sym typeface="Courier New"/>
              </a:rPr>
              <a:t>: [ </a:t>
            </a:r>
            <a:r>
              <a:rPr lang="en-US" sz="1575">
                <a:solidFill>
                  <a:srgbClr val="6A9955"/>
                </a:solidFill>
                <a:latin typeface="Courier New"/>
                <a:ea typeface="Courier New"/>
                <a:cs typeface="Courier New"/>
                <a:sym typeface="Courier New"/>
              </a:rPr>
              <a:t>'Paris' </a:t>
            </a:r>
            <a:r>
              <a:rPr lang="en-US" sz="1575">
                <a:solidFill>
                  <a:srgbClr val="333333"/>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 'Lyon' </a:t>
            </a:r>
            <a:r>
              <a:rPr lang="en-US" sz="1575">
                <a:solidFill>
                  <a:srgbClr val="333333"/>
                </a:solidFill>
                <a:latin typeface="Courier New"/>
                <a:ea typeface="Courier New"/>
                <a:cs typeface="Courier New"/>
                <a:sym typeface="Courier New"/>
              </a:rPr>
              <a:t>,</a:t>
            </a:r>
            <a:r>
              <a:rPr lang="en-US" sz="1575">
                <a:solidFill>
                  <a:srgbClr val="6A9955"/>
                </a:solidFill>
                <a:latin typeface="Courier New"/>
                <a:ea typeface="Courier New"/>
                <a:cs typeface="Courier New"/>
                <a:sym typeface="Courier New"/>
              </a:rPr>
              <a:t> 'Marseille'</a:t>
            </a:r>
            <a:r>
              <a:rPr lang="en-US" sz="1575">
                <a:solidFill>
                  <a:srgbClr val="F1FA8C"/>
                </a:solidFill>
                <a:latin typeface="Courier New"/>
                <a:ea typeface="Courier New"/>
                <a:cs typeface="Courier New"/>
                <a:sym typeface="Courier New"/>
              </a:rPr>
              <a:t> </a:t>
            </a:r>
            <a:r>
              <a:rPr lang="en-US" sz="1575">
                <a:solidFill>
                  <a:srgbClr val="333333"/>
                </a:solidFill>
                <a:latin typeface="Courier New"/>
                <a:ea typeface="Courier New"/>
                <a:cs typeface="Courier New"/>
                <a:sym typeface="Courier New"/>
              </a:rPr>
              <a:t>]}</a:t>
            </a:r>
          </a:p>
          <a:p>
            <a:pPr algn="l">
              <a:lnSpc>
                <a:spcPts val="2250"/>
              </a:lnSpc>
            </a:pPr>
            <a:r>
              <a:rPr lang="en-US" sz="1575">
                <a:solidFill>
                  <a:srgbClr val="333333"/>
                </a:solidFill>
                <a:latin typeface="Courier New"/>
                <a:ea typeface="Courier New"/>
                <a:cs typeface="Courier New"/>
                <a:sym typeface="Courier New"/>
              </a:rPr>
              <a:t>df = pd.DataFrame(data)</a:t>
            </a:r>
          </a:p>
          <a:p>
            <a:pPr algn="l">
              <a:lnSpc>
                <a:spcPts val="2250"/>
              </a:lnSpc>
            </a:pPr>
            <a:r>
              <a:rPr lang="en-US" sz="1575">
                <a:solidFill>
                  <a:srgbClr val="6272A4"/>
                </a:solidFill>
                <a:latin typeface="Courier New"/>
                <a:ea typeface="Courier New"/>
                <a:cs typeface="Courier New"/>
                <a:sym typeface="Courier New"/>
              </a:rPr>
              <a:t># Sélection avec loc</a:t>
            </a:r>
          </a:p>
          <a:p>
            <a:pPr algn="l">
              <a:lnSpc>
                <a:spcPts val="2250"/>
              </a:lnSpc>
            </a:pPr>
            <a:r>
              <a:rPr lang="en-US" sz="1575" b="true">
                <a:solidFill>
                  <a:srgbClr val="FF9100"/>
                </a:solidFill>
                <a:latin typeface="Courier New Bold"/>
                <a:ea typeface="Courier New Bold"/>
                <a:cs typeface="Courier New Bold"/>
                <a:sym typeface="Courier New Bold"/>
              </a:rPr>
              <a:t>df.loc </a:t>
            </a:r>
            <a:r>
              <a:rPr lang="en-US" sz="1575">
                <a:solidFill>
                  <a:srgbClr val="333333"/>
                </a:solidFill>
                <a:latin typeface="Courier New"/>
                <a:ea typeface="Courier New"/>
                <a:cs typeface="Courier New"/>
                <a:sym typeface="Courier New"/>
              </a:rPr>
              <a:t>[0, </a:t>
            </a:r>
            <a:r>
              <a:rPr lang="en-US" sz="1575">
                <a:solidFill>
                  <a:srgbClr val="6A9955"/>
                </a:solidFill>
                <a:latin typeface="Courier New"/>
                <a:ea typeface="Courier New"/>
                <a:cs typeface="Courier New"/>
                <a:sym typeface="Courier New"/>
              </a:rPr>
              <a:t>'Nom'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'Alice'</a:t>
            </a:r>
          </a:p>
          <a:p>
            <a:pPr algn="l">
              <a:lnSpc>
                <a:spcPts val="2250"/>
              </a:lnSpc>
            </a:pPr>
            <a:r>
              <a:rPr lang="en-US" sz="1575" b="true">
                <a:solidFill>
                  <a:srgbClr val="FF9100"/>
                </a:solidFill>
                <a:latin typeface="Courier New Bold"/>
                <a:ea typeface="Courier New Bold"/>
                <a:cs typeface="Courier New Bold"/>
                <a:sym typeface="Courier New Bold"/>
              </a:rPr>
              <a:t>df.loc </a:t>
            </a:r>
            <a:r>
              <a:rPr lang="en-US" sz="1575">
                <a:solidFill>
                  <a:srgbClr val="333333"/>
                </a:solidFill>
                <a:latin typeface="Courier New"/>
                <a:ea typeface="Courier New"/>
                <a:cs typeface="Courier New"/>
                <a:sym typeface="Courier New"/>
              </a:rPr>
              <a:t>[0:1,</a:t>
            </a:r>
            <a:r>
              <a:rPr lang="en-US" sz="1575">
                <a:solidFill>
                  <a:srgbClr val="6A9955"/>
                </a:solidFill>
                <a:latin typeface="Courier New"/>
                <a:ea typeface="Courier New"/>
                <a:cs typeface="Courier New"/>
                <a:sym typeface="Courier New"/>
              </a:rPr>
              <a:t> 'Nom':'Age' </a:t>
            </a:r>
            <a:r>
              <a:rPr lang="en-US" sz="1575">
                <a:solidFill>
                  <a:srgbClr val="333333"/>
                </a:solidFill>
                <a:latin typeface="Courier New"/>
                <a:ea typeface="Courier New"/>
                <a:cs typeface="Courier New"/>
                <a:sym typeface="Courier New"/>
              </a:rPr>
              <a:t>] </a:t>
            </a:r>
            <a:r>
              <a:rPr lang="en-US" sz="1575">
                <a:solidFill>
                  <a:srgbClr val="6272A4"/>
                </a:solidFill>
                <a:latin typeface="Courier New"/>
                <a:ea typeface="Courier New"/>
                <a:cs typeface="Courier New"/>
                <a:sym typeface="Courier New"/>
              </a:rPr>
              <a:t># Premières lignes et colonnes</a:t>
            </a:r>
          </a:p>
        </p:txBody>
      </p:sp>
      <p:sp>
        <p:nvSpPr>
          <p:cNvPr name="TextBox 45" id="45"/>
          <p:cNvSpPr txBox="true"/>
          <p:nvPr/>
        </p:nvSpPr>
        <p:spPr>
          <a:xfrm rot="0">
            <a:off x="9486900" y="5543550"/>
            <a:ext cx="8229600" cy="457200"/>
          </a:xfrm>
          <a:prstGeom prst="rect">
            <a:avLst/>
          </a:prstGeom>
        </p:spPr>
        <p:txBody>
          <a:bodyPr anchor="t" rtlCol="false" tIns="0" lIns="0" bIns="0" rIns="0">
            <a:spAutoFit/>
          </a:bodyPr>
          <a:lstStyle/>
          <a:p>
            <a:pPr algn="l">
              <a:lnSpc>
                <a:spcPts val="3149"/>
              </a:lnSpc>
            </a:pPr>
            <a:r>
              <a:rPr lang="en-US" sz="2250">
                <a:solidFill>
                  <a:srgbClr val="000000"/>
                </a:solidFill>
                <a:latin typeface="Arimo"/>
                <a:ea typeface="Arimo"/>
                <a:cs typeface="Arimo"/>
                <a:sym typeface="Arimo"/>
              </a:rPr>
              <a:t>Nettoyage des Données</a:t>
            </a:r>
          </a:p>
        </p:txBody>
      </p:sp>
      <p:sp>
        <p:nvSpPr>
          <p:cNvPr name="TextBox 46" id="46"/>
          <p:cNvSpPr txBox="true"/>
          <p:nvPr/>
        </p:nvSpPr>
        <p:spPr>
          <a:xfrm rot="0">
            <a:off x="9629775" y="6019800"/>
            <a:ext cx="8229600" cy="2038350"/>
          </a:xfrm>
          <a:prstGeom prst="rect">
            <a:avLst/>
          </a:prstGeom>
        </p:spPr>
        <p:txBody>
          <a:bodyPr anchor="t" rtlCol="false" tIns="0" lIns="0" bIns="0" rIns="0">
            <a:spAutoFit/>
          </a:bodyPr>
          <a:lstStyle/>
          <a:p>
            <a:pPr algn="l">
              <a:lnSpc>
                <a:spcPts val="2250"/>
              </a:lnSpc>
            </a:pPr>
            <a:r>
              <a:rPr lang="en-US" sz="1575">
                <a:solidFill>
                  <a:srgbClr val="6272A4"/>
                </a:solidFill>
                <a:latin typeface="Courier New"/>
                <a:ea typeface="Courier New"/>
                <a:cs typeface="Courier New"/>
                <a:sym typeface="Courier New"/>
              </a:rPr>
              <a:t># Supprimer les lignes avec valeurs manquantes</a:t>
            </a:r>
          </a:p>
          <a:p>
            <a:pPr algn="l">
              <a:lnSpc>
                <a:spcPts val="2250"/>
              </a:lnSpc>
            </a:pPr>
            <a:r>
              <a:rPr lang="en-US" sz="1575" b="true">
                <a:solidFill>
                  <a:srgbClr val="FF9100"/>
                </a:solidFill>
                <a:latin typeface="Courier New Bold"/>
                <a:ea typeface="Courier New Bold"/>
                <a:cs typeface="Courier New Bold"/>
                <a:sym typeface="Courier New Bold"/>
              </a:rPr>
              <a:t>df propre </a:t>
            </a:r>
            <a:r>
              <a:rPr lang="en-US" sz="1575">
                <a:solidFill>
                  <a:srgbClr val="333333"/>
                </a:solidFill>
                <a:latin typeface="Courier New"/>
                <a:ea typeface="Courier New"/>
                <a:cs typeface="Courier New"/>
                <a:sym typeface="Courier New"/>
              </a:rPr>
              <a:t>= df.dropna()</a:t>
            </a:r>
          </a:p>
          <a:p>
            <a:pPr algn="l">
              <a:lnSpc>
                <a:spcPts val="2250"/>
              </a:lnSpc>
            </a:pPr>
            <a:r>
              <a:rPr lang="en-US" sz="1575">
                <a:solidFill>
                  <a:srgbClr val="6272A4"/>
                </a:solidFill>
                <a:latin typeface="Courier New"/>
                <a:ea typeface="Courier New"/>
                <a:cs typeface="Courier New"/>
                <a:sym typeface="Courier New"/>
              </a:rPr>
              <a:t># Remplacer les valeurs manquantes</a:t>
            </a:r>
          </a:p>
          <a:p>
            <a:pPr algn="l">
              <a:lnSpc>
                <a:spcPts val="2250"/>
              </a:lnSpc>
            </a:pPr>
            <a:r>
              <a:rPr lang="en-US" sz="1575" b="true">
                <a:solidFill>
                  <a:srgbClr val="FF9100"/>
                </a:solidFill>
                <a:latin typeface="Courier New Bold"/>
                <a:ea typeface="Courier New Bold"/>
                <a:cs typeface="Courier New Bold"/>
                <a:sym typeface="Courier New Bold"/>
              </a:rPr>
              <a:t>df </a:t>
            </a:r>
            <a:r>
              <a:rPr lang="en-US" sz="1575">
                <a:solidFill>
                  <a:srgbClr val="333333"/>
                </a:solidFill>
                <a:latin typeface="Courier New"/>
                <a:ea typeface="Courier New"/>
                <a:cs typeface="Courier New"/>
                <a:sym typeface="Courier New"/>
              </a:rPr>
              <a:t>.fillna(0)</a:t>
            </a:r>
          </a:p>
          <a:p>
            <a:pPr algn="l">
              <a:lnSpc>
                <a:spcPts val="2250"/>
              </a:lnSpc>
            </a:pPr>
            <a:r>
              <a:rPr lang="en-US" sz="1575">
                <a:solidFill>
                  <a:srgbClr val="6272A4"/>
                </a:solidFill>
                <a:latin typeface="Courier New"/>
                <a:ea typeface="Courier New"/>
                <a:cs typeface="Courier New"/>
                <a:sym typeface="Courier New"/>
              </a:rPr>
              <a:t># Vérifier les doublons</a:t>
            </a:r>
          </a:p>
          <a:p>
            <a:pPr algn="l">
              <a:lnSpc>
                <a:spcPts val="2250"/>
              </a:lnSpc>
            </a:pPr>
            <a:r>
              <a:rPr lang="en-US" sz="1575" b="true">
                <a:solidFill>
                  <a:srgbClr val="FF9100"/>
                </a:solidFill>
                <a:latin typeface="Courier New Bold"/>
                <a:ea typeface="Courier New Bold"/>
                <a:cs typeface="Courier New Bold"/>
                <a:sym typeface="Courier New Bold"/>
              </a:rPr>
              <a:t>df.duplicated()</a:t>
            </a:r>
          </a:p>
        </p:txBody>
      </p:sp>
      <p:sp>
        <p:nvSpPr>
          <p:cNvPr name="TextBox 47" id="47"/>
          <p:cNvSpPr txBox="true"/>
          <p:nvPr/>
        </p:nvSpPr>
        <p:spPr>
          <a:xfrm rot="0">
            <a:off x="571500" y="9725025"/>
            <a:ext cx="1644045"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9 sur 15</a:t>
            </a:r>
          </a:p>
        </p:txBody>
      </p:sp>
      <p:sp>
        <p:nvSpPr>
          <p:cNvPr name="TextBox 48" id="48"/>
          <p:cNvSpPr txBox="true"/>
          <p:nvPr/>
        </p:nvSpPr>
        <p:spPr>
          <a:xfrm rot="0">
            <a:off x="12374762" y="9725025"/>
            <a:ext cx="6410086"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Manipulation et Nettoyage des Données avec Pandas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929938"/>
            <a:chOff x="0" y="0"/>
            <a:chExt cx="24384000" cy="14573250"/>
          </a:xfrm>
        </p:grpSpPr>
        <p:sp>
          <p:nvSpPr>
            <p:cNvPr name="Freeform 3" id="3" descr="preencoded.png"/>
            <p:cNvSpPr/>
            <p:nvPr/>
          </p:nvSpPr>
          <p:spPr>
            <a:xfrm flipH="false" flipV="false" rot="0">
              <a:off x="0" y="0"/>
              <a:ext cx="24384000" cy="14573250"/>
            </a:xfrm>
            <a:custGeom>
              <a:avLst/>
              <a:gdLst/>
              <a:ahLst/>
              <a:cxnLst/>
              <a:rect r="r" b="b" t="t" l="l"/>
              <a:pathLst>
                <a:path h="14573250" w="24384000">
                  <a:moveTo>
                    <a:pt x="0" y="0"/>
                  </a:moveTo>
                  <a:lnTo>
                    <a:pt x="24384000" y="0"/>
                  </a:lnTo>
                  <a:lnTo>
                    <a:pt x="24384000" y="14573250"/>
                  </a:lnTo>
                  <a:lnTo>
                    <a:pt x="0" y="1457325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457200" y="1314450"/>
            <a:ext cx="8458200" cy="1443038"/>
            <a:chOff x="0" y="0"/>
            <a:chExt cx="11277600" cy="1924050"/>
          </a:xfrm>
        </p:grpSpPr>
        <p:sp>
          <p:nvSpPr>
            <p:cNvPr name="Freeform 5" id="5" descr="preencoded.png"/>
            <p:cNvSpPr/>
            <p:nvPr/>
          </p:nvSpPr>
          <p:spPr>
            <a:xfrm flipH="false" flipV="false" rot="0">
              <a:off x="0" y="0"/>
              <a:ext cx="11277600" cy="1924050"/>
            </a:xfrm>
            <a:custGeom>
              <a:avLst/>
              <a:gdLst/>
              <a:ahLst/>
              <a:cxnLst/>
              <a:rect r="r" b="b" t="t" l="l"/>
              <a:pathLst>
                <a:path h="1924050" w="11277600">
                  <a:moveTo>
                    <a:pt x="0" y="0"/>
                  </a:moveTo>
                  <a:lnTo>
                    <a:pt x="11277600" y="0"/>
                  </a:lnTo>
                  <a:lnTo>
                    <a:pt x="11277600" y="1924050"/>
                  </a:lnTo>
                  <a:lnTo>
                    <a:pt x="0" y="192405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628650" y="1543050"/>
            <a:ext cx="285750" cy="285750"/>
            <a:chOff x="0" y="0"/>
            <a:chExt cx="381000" cy="381000"/>
          </a:xfrm>
        </p:grpSpPr>
        <p:sp>
          <p:nvSpPr>
            <p:cNvPr name="Freeform 7" id="7" descr="preencoded.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457200" y="2928938"/>
            <a:ext cx="1990428" cy="514350"/>
            <a:chOff x="0" y="0"/>
            <a:chExt cx="2653904" cy="685800"/>
          </a:xfrm>
        </p:grpSpPr>
        <p:sp>
          <p:nvSpPr>
            <p:cNvPr name="Freeform 9" id="9"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6"/>
              <a:stretch>
                <a:fillRect l="0" t="-1504" r="0" b="-1504"/>
              </a:stretch>
            </a:blipFill>
          </p:spPr>
        </p:sp>
      </p:grpSp>
      <p:grpSp>
        <p:nvGrpSpPr>
          <p:cNvPr name="Group 10" id="10"/>
          <p:cNvGrpSpPr>
            <a:grpSpLocks noChangeAspect="true"/>
          </p:cNvGrpSpPr>
          <p:nvPr/>
        </p:nvGrpSpPr>
        <p:grpSpPr>
          <a:xfrm rot="0">
            <a:off x="2447628" y="2928938"/>
            <a:ext cx="6467772" cy="514350"/>
            <a:chOff x="0" y="0"/>
            <a:chExt cx="8623696" cy="685800"/>
          </a:xfrm>
        </p:grpSpPr>
        <p:sp>
          <p:nvSpPr>
            <p:cNvPr name="Freeform 11" id="11"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12" id="12"/>
          <p:cNvGrpSpPr>
            <a:grpSpLocks noChangeAspect="true"/>
          </p:cNvGrpSpPr>
          <p:nvPr/>
        </p:nvGrpSpPr>
        <p:grpSpPr>
          <a:xfrm rot="0">
            <a:off x="457200" y="3443288"/>
            <a:ext cx="1990428" cy="514350"/>
            <a:chOff x="0" y="0"/>
            <a:chExt cx="2653904" cy="685800"/>
          </a:xfrm>
        </p:grpSpPr>
        <p:sp>
          <p:nvSpPr>
            <p:cNvPr name="Freeform 13" id="13"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8"/>
              <a:stretch>
                <a:fillRect l="0" t="-1877" r="0" b="-1877"/>
              </a:stretch>
            </a:blipFill>
          </p:spPr>
        </p:sp>
      </p:grpSp>
      <p:grpSp>
        <p:nvGrpSpPr>
          <p:cNvPr name="Group 14" id="14"/>
          <p:cNvGrpSpPr>
            <a:grpSpLocks noChangeAspect="true"/>
          </p:cNvGrpSpPr>
          <p:nvPr/>
        </p:nvGrpSpPr>
        <p:grpSpPr>
          <a:xfrm rot="0">
            <a:off x="2447628" y="3443288"/>
            <a:ext cx="6467772" cy="514350"/>
            <a:chOff x="0" y="0"/>
            <a:chExt cx="8623696" cy="685800"/>
          </a:xfrm>
        </p:grpSpPr>
        <p:sp>
          <p:nvSpPr>
            <p:cNvPr name="Freeform 15" id="15"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9"/>
              <a:stretch>
                <a:fillRect l="0" t="-1467" r="0" b="-1467"/>
              </a:stretch>
            </a:blipFill>
          </p:spPr>
        </p:sp>
      </p:grpSp>
      <p:grpSp>
        <p:nvGrpSpPr>
          <p:cNvPr name="Group 16" id="16"/>
          <p:cNvGrpSpPr>
            <a:grpSpLocks noChangeAspect="true"/>
          </p:cNvGrpSpPr>
          <p:nvPr/>
        </p:nvGrpSpPr>
        <p:grpSpPr>
          <a:xfrm rot="0">
            <a:off x="457200" y="3957638"/>
            <a:ext cx="1990428" cy="514350"/>
            <a:chOff x="0" y="0"/>
            <a:chExt cx="2653904" cy="685800"/>
          </a:xfrm>
        </p:grpSpPr>
        <p:sp>
          <p:nvSpPr>
            <p:cNvPr name="Freeform 17" id="17"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8"/>
              <a:stretch>
                <a:fillRect l="0" t="-1877" r="0" b="-1877"/>
              </a:stretch>
            </a:blipFill>
          </p:spPr>
        </p:sp>
      </p:grpSp>
      <p:grpSp>
        <p:nvGrpSpPr>
          <p:cNvPr name="Group 18" id="18"/>
          <p:cNvGrpSpPr>
            <a:grpSpLocks noChangeAspect="true"/>
          </p:cNvGrpSpPr>
          <p:nvPr/>
        </p:nvGrpSpPr>
        <p:grpSpPr>
          <a:xfrm rot="0">
            <a:off x="2447628" y="3957638"/>
            <a:ext cx="6467772" cy="514350"/>
            <a:chOff x="0" y="0"/>
            <a:chExt cx="8623696" cy="685800"/>
          </a:xfrm>
        </p:grpSpPr>
        <p:sp>
          <p:nvSpPr>
            <p:cNvPr name="Freeform 19" id="19"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9"/>
              <a:stretch>
                <a:fillRect l="0" t="-1467" r="0" b="-1467"/>
              </a:stretch>
            </a:blipFill>
          </p:spPr>
        </p:sp>
      </p:grpSp>
      <p:grpSp>
        <p:nvGrpSpPr>
          <p:cNvPr name="Group 20" id="20"/>
          <p:cNvGrpSpPr>
            <a:grpSpLocks noChangeAspect="true"/>
          </p:cNvGrpSpPr>
          <p:nvPr/>
        </p:nvGrpSpPr>
        <p:grpSpPr>
          <a:xfrm rot="0">
            <a:off x="457200" y="4471988"/>
            <a:ext cx="1990428" cy="514350"/>
            <a:chOff x="0" y="0"/>
            <a:chExt cx="2653904" cy="685800"/>
          </a:xfrm>
        </p:grpSpPr>
        <p:sp>
          <p:nvSpPr>
            <p:cNvPr name="Freeform 21" id="21"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22" id="22"/>
          <p:cNvGrpSpPr>
            <a:grpSpLocks noChangeAspect="true"/>
          </p:cNvGrpSpPr>
          <p:nvPr/>
        </p:nvGrpSpPr>
        <p:grpSpPr>
          <a:xfrm rot="0">
            <a:off x="2447628" y="4471988"/>
            <a:ext cx="6467772" cy="514350"/>
            <a:chOff x="0" y="0"/>
            <a:chExt cx="8623696" cy="685800"/>
          </a:xfrm>
        </p:grpSpPr>
        <p:sp>
          <p:nvSpPr>
            <p:cNvPr name="Freeform 23" id="23"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24" id="24"/>
          <p:cNvGrpSpPr>
            <a:grpSpLocks noChangeAspect="true"/>
          </p:cNvGrpSpPr>
          <p:nvPr/>
        </p:nvGrpSpPr>
        <p:grpSpPr>
          <a:xfrm rot="0">
            <a:off x="457200" y="4986338"/>
            <a:ext cx="1990428" cy="514350"/>
            <a:chOff x="0" y="0"/>
            <a:chExt cx="2653904" cy="685800"/>
          </a:xfrm>
        </p:grpSpPr>
        <p:sp>
          <p:nvSpPr>
            <p:cNvPr name="Freeform 25" id="25"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26" id="26"/>
          <p:cNvGrpSpPr>
            <a:grpSpLocks noChangeAspect="true"/>
          </p:cNvGrpSpPr>
          <p:nvPr/>
        </p:nvGrpSpPr>
        <p:grpSpPr>
          <a:xfrm rot="0">
            <a:off x="2447628" y="4986338"/>
            <a:ext cx="6467772" cy="514350"/>
            <a:chOff x="0" y="0"/>
            <a:chExt cx="8623696" cy="685800"/>
          </a:xfrm>
        </p:grpSpPr>
        <p:sp>
          <p:nvSpPr>
            <p:cNvPr name="Freeform 27" id="27"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28" id="28"/>
          <p:cNvGrpSpPr>
            <a:grpSpLocks noChangeAspect="true"/>
          </p:cNvGrpSpPr>
          <p:nvPr/>
        </p:nvGrpSpPr>
        <p:grpSpPr>
          <a:xfrm rot="0">
            <a:off x="457200" y="5500688"/>
            <a:ext cx="1990428" cy="514350"/>
            <a:chOff x="0" y="0"/>
            <a:chExt cx="2653904" cy="685800"/>
          </a:xfrm>
        </p:grpSpPr>
        <p:sp>
          <p:nvSpPr>
            <p:cNvPr name="Freeform 29" id="29"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30" id="30"/>
          <p:cNvGrpSpPr>
            <a:grpSpLocks noChangeAspect="true"/>
          </p:cNvGrpSpPr>
          <p:nvPr/>
        </p:nvGrpSpPr>
        <p:grpSpPr>
          <a:xfrm rot="0">
            <a:off x="2447628" y="5500688"/>
            <a:ext cx="6467772" cy="514350"/>
            <a:chOff x="0" y="0"/>
            <a:chExt cx="8623696" cy="685800"/>
          </a:xfrm>
        </p:grpSpPr>
        <p:sp>
          <p:nvSpPr>
            <p:cNvPr name="Freeform 31" id="31"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32" id="32"/>
          <p:cNvGrpSpPr>
            <a:grpSpLocks noChangeAspect="true"/>
          </p:cNvGrpSpPr>
          <p:nvPr/>
        </p:nvGrpSpPr>
        <p:grpSpPr>
          <a:xfrm rot="0">
            <a:off x="457200" y="6015038"/>
            <a:ext cx="1990428" cy="514350"/>
            <a:chOff x="0" y="0"/>
            <a:chExt cx="2653904" cy="685800"/>
          </a:xfrm>
        </p:grpSpPr>
        <p:sp>
          <p:nvSpPr>
            <p:cNvPr name="Freeform 33" id="33"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34" id="34"/>
          <p:cNvGrpSpPr>
            <a:grpSpLocks noChangeAspect="true"/>
          </p:cNvGrpSpPr>
          <p:nvPr/>
        </p:nvGrpSpPr>
        <p:grpSpPr>
          <a:xfrm rot="0">
            <a:off x="2447628" y="6015038"/>
            <a:ext cx="6467772" cy="514350"/>
            <a:chOff x="0" y="0"/>
            <a:chExt cx="8623696" cy="685800"/>
          </a:xfrm>
        </p:grpSpPr>
        <p:sp>
          <p:nvSpPr>
            <p:cNvPr name="Freeform 35" id="35"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36" id="36"/>
          <p:cNvGrpSpPr>
            <a:grpSpLocks noChangeAspect="true"/>
          </p:cNvGrpSpPr>
          <p:nvPr/>
        </p:nvGrpSpPr>
        <p:grpSpPr>
          <a:xfrm rot="0">
            <a:off x="457200" y="6529388"/>
            <a:ext cx="1990428" cy="514350"/>
            <a:chOff x="0" y="0"/>
            <a:chExt cx="2653904" cy="685800"/>
          </a:xfrm>
        </p:grpSpPr>
        <p:sp>
          <p:nvSpPr>
            <p:cNvPr name="Freeform 37" id="37"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38" id="38"/>
          <p:cNvGrpSpPr>
            <a:grpSpLocks noChangeAspect="true"/>
          </p:cNvGrpSpPr>
          <p:nvPr/>
        </p:nvGrpSpPr>
        <p:grpSpPr>
          <a:xfrm rot="0">
            <a:off x="2447628" y="6529388"/>
            <a:ext cx="6467772" cy="514350"/>
            <a:chOff x="0" y="0"/>
            <a:chExt cx="8623696" cy="685800"/>
          </a:xfrm>
        </p:grpSpPr>
        <p:sp>
          <p:nvSpPr>
            <p:cNvPr name="Freeform 39" id="39"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7"/>
              <a:stretch>
                <a:fillRect l="0" t="-1581" r="0" b="-1581"/>
              </a:stretch>
            </a:blipFill>
          </p:spPr>
        </p:sp>
      </p:grpSp>
      <p:grpSp>
        <p:nvGrpSpPr>
          <p:cNvPr name="Group 40" id="40"/>
          <p:cNvGrpSpPr>
            <a:grpSpLocks noChangeAspect="true"/>
          </p:cNvGrpSpPr>
          <p:nvPr/>
        </p:nvGrpSpPr>
        <p:grpSpPr>
          <a:xfrm rot="0">
            <a:off x="457200" y="7043738"/>
            <a:ext cx="1990428" cy="514350"/>
            <a:chOff x="0" y="0"/>
            <a:chExt cx="2653904" cy="685800"/>
          </a:xfrm>
        </p:grpSpPr>
        <p:sp>
          <p:nvSpPr>
            <p:cNvPr name="Freeform 41" id="41" descr="preencoded.png"/>
            <p:cNvSpPr/>
            <p:nvPr/>
          </p:nvSpPr>
          <p:spPr>
            <a:xfrm flipH="false" flipV="false" rot="0">
              <a:off x="0" y="0"/>
              <a:ext cx="2653919" cy="685800"/>
            </a:xfrm>
            <a:custGeom>
              <a:avLst/>
              <a:gdLst/>
              <a:ahLst/>
              <a:cxnLst/>
              <a:rect r="r" b="b" t="t" l="l"/>
              <a:pathLst>
                <a:path h="685800" w="2653919">
                  <a:moveTo>
                    <a:pt x="0" y="0"/>
                  </a:moveTo>
                  <a:lnTo>
                    <a:pt x="2653919" y="0"/>
                  </a:lnTo>
                  <a:lnTo>
                    <a:pt x="2653919" y="685800"/>
                  </a:lnTo>
                  <a:lnTo>
                    <a:pt x="0" y="685800"/>
                  </a:lnTo>
                  <a:lnTo>
                    <a:pt x="0" y="0"/>
                  </a:lnTo>
                  <a:close/>
                </a:path>
              </a:pathLst>
            </a:custGeom>
            <a:blipFill>
              <a:blip r:embed="rId10"/>
              <a:stretch>
                <a:fillRect l="0" t="-1504" r="0" b="-1504"/>
              </a:stretch>
            </a:blipFill>
          </p:spPr>
        </p:sp>
      </p:grpSp>
      <p:grpSp>
        <p:nvGrpSpPr>
          <p:cNvPr name="Group 42" id="42"/>
          <p:cNvGrpSpPr>
            <a:grpSpLocks noChangeAspect="true"/>
          </p:cNvGrpSpPr>
          <p:nvPr/>
        </p:nvGrpSpPr>
        <p:grpSpPr>
          <a:xfrm rot="0">
            <a:off x="2447628" y="7043738"/>
            <a:ext cx="6467772" cy="514350"/>
            <a:chOff x="0" y="0"/>
            <a:chExt cx="8623696" cy="685800"/>
          </a:xfrm>
        </p:grpSpPr>
        <p:sp>
          <p:nvSpPr>
            <p:cNvPr name="Freeform 43" id="43" descr="preencoded.png"/>
            <p:cNvSpPr/>
            <p:nvPr/>
          </p:nvSpPr>
          <p:spPr>
            <a:xfrm flipH="false" flipV="false" rot="0">
              <a:off x="0" y="0"/>
              <a:ext cx="8623681" cy="685800"/>
            </a:xfrm>
            <a:custGeom>
              <a:avLst/>
              <a:gdLst/>
              <a:ahLst/>
              <a:cxnLst/>
              <a:rect r="r" b="b" t="t" l="l"/>
              <a:pathLst>
                <a:path h="685800" w="8623681">
                  <a:moveTo>
                    <a:pt x="0" y="0"/>
                  </a:moveTo>
                  <a:lnTo>
                    <a:pt x="8623681" y="0"/>
                  </a:lnTo>
                  <a:lnTo>
                    <a:pt x="8623681" y="685800"/>
                  </a:lnTo>
                  <a:lnTo>
                    <a:pt x="0" y="685800"/>
                  </a:lnTo>
                  <a:lnTo>
                    <a:pt x="0" y="0"/>
                  </a:lnTo>
                  <a:close/>
                </a:path>
              </a:pathLst>
            </a:custGeom>
            <a:blipFill>
              <a:blip r:embed="rId9"/>
              <a:stretch>
                <a:fillRect l="0" t="-1467" r="0" b="-1467"/>
              </a:stretch>
            </a:blipFill>
          </p:spPr>
        </p:sp>
      </p:grpSp>
      <p:grpSp>
        <p:nvGrpSpPr>
          <p:cNvPr name="Group 44" id="44"/>
          <p:cNvGrpSpPr>
            <a:grpSpLocks noChangeAspect="true"/>
          </p:cNvGrpSpPr>
          <p:nvPr/>
        </p:nvGrpSpPr>
        <p:grpSpPr>
          <a:xfrm rot="0">
            <a:off x="9372600" y="1314450"/>
            <a:ext cx="8458200" cy="2400300"/>
            <a:chOff x="0" y="0"/>
            <a:chExt cx="11277600" cy="3200400"/>
          </a:xfrm>
        </p:grpSpPr>
        <p:sp>
          <p:nvSpPr>
            <p:cNvPr name="Freeform 45" id="45" descr="preencoded.png"/>
            <p:cNvSpPr/>
            <p:nvPr/>
          </p:nvSpPr>
          <p:spPr>
            <a:xfrm flipH="false" flipV="false" rot="0">
              <a:off x="0" y="0"/>
              <a:ext cx="11277600" cy="3200400"/>
            </a:xfrm>
            <a:custGeom>
              <a:avLst/>
              <a:gdLst/>
              <a:ahLst/>
              <a:cxnLst/>
              <a:rect r="r" b="b" t="t" l="l"/>
              <a:pathLst>
                <a:path h="3200400" w="11277600">
                  <a:moveTo>
                    <a:pt x="0" y="0"/>
                  </a:moveTo>
                  <a:lnTo>
                    <a:pt x="11277600" y="0"/>
                  </a:lnTo>
                  <a:lnTo>
                    <a:pt x="11277600" y="3200400"/>
                  </a:lnTo>
                  <a:lnTo>
                    <a:pt x="0" y="3200400"/>
                  </a:lnTo>
                  <a:lnTo>
                    <a:pt x="0" y="0"/>
                  </a:lnTo>
                  <a:close/>
                </a:path>
              </a:pathLst>
            </a:custGeom>
            <a:blipFill>
              <a:blip r:embed="rId11"/>
              <a:stretch>
                <a:fillRect l="0" t="0" r="0" b="0"/>
              </a:stretch>
            </a:blipFill>
          </p:spPr>
        </p:sp>
      </p:grpSp>
      <p:grpSp>
        <p:nvGrpSpPr>
          <p:cNvPr name="Group 46" id="46"/>
          <p:cNvGrpSpPr>
            <a:grpSpLocks noChangeAspect="true"/>
          </p:cNvGrpSpPr>
          <p:nvPr/>
        </p:nvGrpSpPr>
        <p:grpSpPr>
          <a:xfrm rot="0">
            <a:off x="9544050" y="1543050"/>
            <a:ext cx="328612" cy="285750"/>
            <a:chOff x="0" y="0"/>
            <a:chExt cx="438150" cy="381000"/>
          </a:xfrm>
        </p:grpSpPr>
        <p:sp>
          <p:nvSpPr>
            <p:cNvPr name="Freeform 47" id="47" descr="preencoded.png"/>
            <p:cNvSpPr/>
            <p:nvPr/>
          </p:nvSpPr>
          <p:spPr>
            <a:xfrm flipH="false" flipV="false" rot="0">
              <a:off x="0" y="0"/>
              <a:ext cx="438150" cy="381000"/>
            </a:xfrm>
            <a:custGeom>
              <a:avLst/>
              <a:gdLst/>
              <a:ahLst/>
              <a:cxnLst/>
              <a:rect r="r" b="b" t="t" l="l"/>
              <a:pathLst>
                <a:path h="381000" w="438150">
                  <a:moveTo>
                    <a:pt x="0" y="0"/>
                  </a:moveTo>
                  <a:lnTo>
                    <a:pt x="438150" y="0"/>
                  </a:lnTo>
                  <a:lnTo>
                    <a:pt x="438150" y="381000"/>
                  </a:lnTo>
                  <a:lnTo>
                    <a:pt x="0" y="381000"/>
                  </a:lnTo>
                  <a:lnTo>
                    <a:pt x="0" y="0"/>
                  </a:lnTo>
                  <a:close/>
                </a:path>
              </a:pathLst>
            </a:custGeom>
            <a:blipFill>
              <a:blip r:embed="rId12"/>
              <a:stretch>
                <a:fillRect l="0" t="0" r="0" b="0"/>
              </a:stretch>
            </a:blipFill>
          </p:spPr>
        </p:sp>
      </p:grpSp>
      <p:grpSp>
        <p:nvGrpSpPr>
          <p:cNvPr name="Group 48" id="48"/>
          <p:cNvGrpSpPr>
            <a:grpSpLocks noChangeAspect="true"/>
          </p:cNvGrpSpPr>
          <p:nvPr/>
        </p:nvGrpSpPr>
        <p:grpSpPr>
          <a:xfrm rot="0">
            <a:off x="9544050" y="2628900"/>
            <a:ext cx="8115300" cy="914400"/>
            <a:chOff x="0" y="0"/>
            <a:chExt cx="10820400" cy="1219200"/>
          </a:xfrm>
        </p:grpSpPr>
        <p:sp>
          <p:nvSpPr>
            <p:cNvPr name="Freeform 49" id="49" descr="preencoded.png"/>
            <p:cNvSpPr/>
            <p:nvPr/>
          </p:nvSpPr>
          <p:spPr>
            <a:xfrm flipH="false" flipV="false" rot="0">
              <a:off x="0" y="0"/>
              <a:ext cx="10820400" cy="1219200"/>
            </a:xfrm>
            <a:custGeom>
              <a:avLst/>
              <a:gdLst/>
              <a:ahLst/>
              <a:cxnLst/>
              <a:rect r="r" b="b" t="t" l="l"/>
              <a:pathLst>
                <a:path h="1219200" w="10820400">
                  <a:moveTo>
                    <a:pt x="0" y="0"/>
                  </a:moveTo>
                  <a:lnTo>
                    <a:pt x="10820400" y="0"/>
                  </a:lnTo>
                  <a:lnTo>
                    <a:pt x="10820400" y="1219200"/>
                  </a:lnTo>
                  <a:lnTo>
                    <a:pt x="0" y="1219200"/>
                  </a:lnTo>
                  <a:lnTo>
                    <a:pt x="0" y="0"/>
                  </a:lnTo>
                  <a:close/>
                </a:path>
              </a:pathLst>
            </a:custGeom>
            <a:blipFill>
              <a:blip r:embed="rId13"/>
              <a:stretch>
                <a:fillRect l="0" t="0" r="0" b="0"/>
              </a:stretch>
            </a:blipFill>
          </p:spPr>
        </p:sp>
      </p:grpSp>
      <p:grpSp>
        <p:nvGrpSpPr>
          <p:cNvPr name="Group 50" id="50"/>
          <p:cNvGrpSpPr>
            <a:grpSpLocks noChangeAspect="true"/>
          </p:cNvGrpSpPr>
          <p:nvPr/>
        </p:nvGrpSpPr>
        <p:grpSpPr>
          <a:xfrm rot="0">
            <a:off x="9658350" y="3028950"/>
            <a:ext cx="7886700" cy="400050"/>
            <a:chOff x="0" y="0"/>
            <a:chExt cx="10515600" cy="533400"/>
          </a:xfrm>
        </p:grpSpPr>
        <p:sp>
          <p:nvSpPr>
            <p:cNvPr name="Freeform 51" id="51" descr="preencoded.png"/>
            <p:cNvSpPr/>
            <p:nvPr/>
          </p:nvSpPr>
          <p:spPr>
            <a:xfrm flipH="false" flipV="false" rot="0">
              <a:off x="0" y="0"/>
              <a:ext cx="10515600" cy="533400"/>
            </a:xfrm>
            <a:custGeom>
              <a:avLst/>
              <a:gdLst/>
              <a:ahLst/>
              <a:cxnLst/>
              <a:rect r="r" b="b" t="t" l="l"/>
              <a:pathLst>
                <a:path h="533400" w="10515600">
                  <a:moveTo>
                    <a:pt x="0" y="0"/>
                  </a:moveTo>
                  <a:lnTo>
                    <a:pt x="10515600" y="0"/>
                  </a:lnTo>
                  <a:lnTo>
                    <a:pt x="10515600" y="533400"/>
                  </a:lnTo>
                  <a:lnTo>
                    <a:pt x="0" y="533400"/>
                  </a:lnTo>
                  <a:lnTo>
                    <a:pt x="0" y="0"/>
                  </a:lnTo>
                  <a:close/>
                </a:path>
              </a:pathLst>
            </a:custGeom>
            <a:blipFill>
              <a:blip r:embed="rId14"/>
              <a:stretch>
                <a:fillRect l="0" t="0" r="0" b="0"/>
              </a:stretch>
            </a:blipFill>
          </p:spPr>
        </p:sp>
      </p:grpSp>
      <p:grpSp>
        <p:nvGrpSpPr>
          <p:cNvPr name="Group 52" id="52"/>
          <p:cNvGrpSpPr>
            <a:grpSpLocks noChangeAspect="true"/>
          </p:cNvGrpSpPr>
          <p:nvPr/>
        </p:nvGrpSpPr>
        <p:grpSpPr>
          <a:xfrm rot="0">
            <a:off x="9372600" y="3914775"/>
            <a:ext cx="228600" cy="228600"/>
            <a:chOff x="0" y="0"/>
            <a:chExt cx="304800" cy="304800"/>
          </a:xfrm>
        </p:grpSpPr>
        <p:sp>
          <p:nvSpPr>
            <p:cNvPr name="Freeform 53" id="5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5"/>
              <a:stretch>
                <a:fillRect l="0" t="0" r="0" b="0"/>
              </a:stretch>
            </a:blipFill>
          </p:spPr>
        </p:sp>
      </p:grpSp>
      <p:grpSp>
        <p:nvGrpSpPr>
          <p:cNvPr name="Group 54" id="54"/>
          <p:cNvGrpSpPr>
            <a:grpSpLocks noChangeAspect="true"/>
          </p:cNvGrpSpPr>
          <p:nvPr/>
        </p:nvGrpSpPr>
        <p:grpSpPr>
          <a:xfrm rot="0">
            <a:off x="12375878" y="3914775"/>
            <a:ext cx="228600" cy="228600"/>
            <a:chOff x="0" y="0"/>
            <a:chExt cx="304800" cy="304800"/>
          </a:xfrm>
        </p:grpSpPr>
        <p:sp>
          <p:nvSpPr>
            <p:cNvPr name="Freeform 55" id="5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6"/>
              <a:stretch>
                <a:fillRect l="0" t="0" r="0" b="0"/>
              </a:stretch>
            </a:blipFill>
          </p:spPr>
        </p:sp>
      </p:grpSp>
      <p:grpSp>
        <p:nvGrpSpPr>
          <p:cNvPr name="Group 56" id="56"/>
          <p:cNvGrpSpPr>
            <a:grpSpLocks noChangeAspect="true"/>
          </p:cNvGrpSpPr>
          <p:nvPr/>
        </p:nvGrpSpPr>
        <p:grpSpPr>
          <a:xfrm rot="0">
            <a:off x="9372600" y="4257675"/>
            <a:ext cx="228600" cy="228600"/>
            <a:chOff x="0" y="0"/>
            <a:chExt cx="304800" cy="304800"/>
          </a:xfrm>
        </p:grpSpPr>
        <p:sp>
          <p:nvSpPr>
            <p:cNvPr name="Freeform 57" id="5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17"/>
              <a:stretch>
                <a:fillRect l="0" t="0" r="0" b="0"/>
              </a:stretch>
            </a:blipFill>
          </p:spPr>
        </p:sp>
      </p:grpSp>
      <p:grpSp>
        <p:nvGrpSpPr>
          <p:cNvPr name="Group 58" id="58"/>
          <p:cNvGrpSpPr>
            <a:grpSpLocks noChangeAspect="true"/>
          </p:cNvGrpSpPr>
          <p:nvPr/>
        </p:nvGrpSpPr>
        <p:grpSpPr>
          <a:xfrm rot="0">
            <a:off x="9372600" y="4686300"/>
            <a:ext cx="8458200" cy="1200150"/>
            <a:chOff x="0" y="0"/>
            <a:chExt cx="11277600" cy="1600200"/>
          </a:xfrm>
        </p:grpSpPr>
        <p:sp>
          <p:nvSpPr>
            <p:cNvPr name="Freeform 59" id="59" descr="preencoded.png"/>
            <p:cNvSpPr/>
            <p:nvPr/>
          </p:nvSpPr>
          <p:spPr>
            <a:xfrm flipH="false" flipV="false" rot="0">
              <a:off x="0" y="0"/>
              <a:ext cx="11277600" cy="1600200"/>
            </a:xfrm>
            <a:custGeom>
              <a:avLst/>
              <a:gdLst/>
              <a:ahLst/>
              <a:cxnLst/>
              <a:rect r="r" b="b" t="t" l="l"/>
              <a:pathLst>
                <a:path h="1600200" w="11277600">
                  <a:moveTo>
                    <a:pt x="0" y="0"/>
                  </a:moveTo>
                  <a:lnTo>
                    <a:pt x="11277600" y="0"/>
                  </a:lnTo>
                  <a:lnTo>
                    <a:pt x="11277600" y="1600200"/>
                  </a:lnTo>
                  <a:lnTo>
                    <a:pt x="0" y="1600200"/>
                  </a:lnTo>
                  <a:lnTo>
                    <a:pt x="0" y="0"/>
                  </a:lnTo>
                  <a:close/>
                </a:path>
              </a:pathLst>
            </a:custGeom>
            <a:blipFill>
              <a:blip r:embed="rId18"/>
              <a:stretch>
                <a:fillRect l="0" t="0" r="0" b="0"/>
              </a:stretch>
            </a:blipFill>
          </p:spPr>
        </p:sp>
      </p:grpSp>
      <p:grpSp>
        <p:nvGrpSpPr>
          <p:cNvPr name="Group 60" id="60"/>
          <p:cNvGrpSpPr>
            <a:grpSpLocks noChangeAspect="true"/>
          </p:cNvGrpSpPr>
          <p:nvPr/>
        </p:nvGrpSpPr>
        <p:grpSpPr>
          <a:xfrm rot="0">
            <a:off x="9372600" y="6400800"/>
            <a:ext cx="3571875" cy="3571875"/>
            <a:chOff x="0" y="0"/>
            <a:chExt cx="4762500" cy="4762500"/>
          </a:xfrm>
        </p:grpSpPr>
        <p:sp>
          <p:nvSpPr>
            <p:cNvPr name="Freeform 61" id="61" descr="preencoded.png"/>
            <p:cNvSpPr/>
            <p:nvPr/>
          </p:nvSpPr>
          <p:spPr>
            <a:xfrm flipH="false" flipV="false" rot="0">
              <a:off x="0" y="0"/>
              <a:ext cx="4762500" cy="4762500"/>
            </a:xfrm>
            <a:custGeom>
              <a:avLst/>
              <a:gdLst/>
              <a:ahLst/>
              <a:cxnLst/>
              <a:rect r="r" b="b" t="t" l="l"/>
              <a:pathLst>
                <a:path h="4762500" w="4762500">
                  <a:moveTo>
                    <a:pt x="0" y="0"/>
                  </a:moveTo>
                  <a:lnTo>
                    <a:pt x="4762500" y="0"/>
                  </a:lnTo>
                  <a:lnTo>
                    <a:pt x="4762500" y="4762500"/>
                  </a:lnTo>
                  <a:lnTo>
                    <a:pt x="0" y="4762500"/>
                  </a:lnTo>
                  <a:lnTo>
                    <a:pt x="0" y="0"/>
                  </a:lnTo>
                  <a:close/>
                </a:path>
              </a:pathLst>
            </a:custGeom>
            <a:blipFill>
              <a:blip r:embed="rId19"/>
              <a:stretch>
                <a:fillRect l="0" t="0" r="0" b="0"/>
              </a:stretch>
            </a:blipFill>
          </p:spPr>
        </p:sp>
      </p:grpSp>
      <p:sp>
        <p:nvSpPr>
          <p:cNvPr name="TextBox 62" id="62"/>
          <p:cNvSpPr txBox="true"/>
          <p:nvPr/>
        </p:nvSpPr>
        <p:spPr>
          <a:xfrm rot="0">
            <a:off x="457200" y="438150"/>
            <a:ext cx="17373600" cy="533400"/>
          </a:xfrm>
          <a:prstGeom prst="rect">
            <a:avLst/>
          </a:prstGeom>
        </p:spPr>
        <p:txBody>
          <a:bodyPr anchor="t" rtlCol="false" tIns="0" lIns="0" bIns="0" rIns="0">
            <a:spAutoFit/>
          </a:bodyPr>
          <a:lstStyle/>
          <a:p>
            <a:pPr algn="l">
              <a:lnSpc>
                <a:spcPts val="4050"/>
              </a:lnSpc>
            </a:pPr>
            <a:r>
              <a:rPr lang="en-US" sz="3375" b="true">
                <a:solidFill>
                  <a:srgbClr val="306998"/>
                </a:solidFill>
                <a:latin typeface="Arimo Bold"/>
                <a:ea typeface="Arimo Bold"/>
                <a:cs typeface="Arimo Bold"/>
                <a:sym typeface="Arimo Bold"/>
              </a:rPr>
              <a:t>Analyse Exploratoire des Données</a:t>
            </a:r>
          </a:p>
        </p:txBody>
      </p:sp>
      <p:sp>
        <p:nvSpPr>
          <p:cNvPr name="TextBox 63" id="63"/>
          <p:cNvSpPr txBox="true"/>
          <p:nvPr/>
        </p:nvSpPr>
        <p:spPr>
          <a:xfrm rot="0">
            <a:off x="1028700" y="1428750"/>
            <a:ext cx="9738360" cy="457200"/>
          </a:xfrm>
          <a:prstGeom prst="rect">
            <a:avLst/>
          </a:prstGeom>
        </p:spPr>
        <p:txBody>
          <a:bodyPr anchor="t" rtlCol="false" tIns="0" lIns="0" bIns="0" rIns="0">
            <a:spAutoFit/>
          </a:bodyPr>
          <a:lstStyle/>
          <a:p>
            <a:pPr algn="l">
              <a:lnSpc>
                <a:spcPts val="3149"/>
              </a:lnSpc>
            </a:pPr>
            <a:r>
              <a:rPr lang="en-US" sz="2250" b="true">
                <a:solidFill>
                  <a:srgbClr val="306998"/>
                </a:solidFill>
                <a:latin typeface="Arimo Bold"/>
                <a:ea typeface="Arimo Bold"/>
                <a:cs typeface="Arimo Bold"/>
                <a:sym typeface="Arimo Bold"/>
              </a:rPr>
              <a:t> Statistiques Descriptives</a:t>
            </a:r>
          </a:p>
        </p:txBody>
      </p:sp>
      <p:sp>
        <p:nvSpPr>
          <p:cNvPr name="TextBox 64" id="64"/>
          <p:cNvSpPr txBox="true"/>
          <p:nvPr/>
        </p:nvSpPr>
        <p:spPr>
          <a:xfrm rot="0">
            <a:off x="628650" y="1895475"/>
            <a:ext cx="8115300" cy="633413"/>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La méthode .describe() fournit un résumé statistique pour chaque colonne numérique.</a:t>
            </a:r>
          </a:p>
        </p:txBody>
      </p:sp>
      <p:sp>
        <p:nvSpPr>
          <p:cNvPr name="TextBox 65" id="65"/>
          <p:cNvSpPr txBox="true"/>
          <p:nvPr/>
        </p:nvSpPr>
        <p:spPr>
          <a:xfrm rot="0">
            <a:off x="258158" y="2852738"/>
            <a:ext cx="2388513" cy="590550"/>
          </a:xfrm>
          <a:prstGeom prst="rect">
            <a:avLst/>
          </a:prstGeom>
        </p:spPr>
        <p:txBody>
          <a:bodyPr anchor="t" rtlCol="false" tIns="0" lIns="0" bIns="0" rIns="0">
            <a:spAutoFit/>
          </a:bodyPr>
          <a:lstStyle/>
          <a:p>
            <a:pPr algn="ctr">
              <a:lnSpc>
                <a:spcPts val="2700"/>
              </a:lnSpc>
            </a:pPr>
            <a:r>
              <a:rPr lang="en-US" sz="1800" b="true">
                <a:solidFill>
                  <a:srgbClr val="000000"/>
                </a:solidFill>
                <a:latin typeface="Arimo Bold"/>
                <a:ea typeface="Arimo Bold"/>
                <a:cs typeface="Arimo Bold"/>
                <a:sym typeface="Arimo Bold"/>
              </a:rPr>
              <a:t>Indicateur</a:t>
            </a:r>
          </a:p>
        </p:txBody>
      </p:sp>
      <p:sp>
        <p:nvSpPr>
          <p:cNvPr name="TextBox 66" id="66"/>
          <p:cNvSpPr txBox="true"/>
          <p:nvPr/>
        </p:nvSpPr>
        <p:spPr>
          <a:xfrm rot="0">
            <a:off x="2447628" y="2852738"/>
            <a:ext cx="6467772" cy="590550"/>
          </a:xfrm>
          <a:prstGeom prst="rect">
            <a:avLst/>
          </a:prstGeom>
        </p:spPr>
        <p:txBody>
          <a:bodyPr anchor="t" rtlCol="false" tIns="0" lIns="0" bIns="0" rIns="0">
            <a:spAutoFit/>
          </a:bodyPr>
          <a:lstStyle/>
          <a:p>
            <a:pPr algn="ctr">
              <a:lnSpc>
                <a:spcPts val="2700"/>
              </a:lnSpc>
            </a:pPr>
            <a:r>
              <a:rPr lang="en-US" sz="1800" b="true">
                <a:solidFill>
                  <a:srgbClr val="000000"/>
                </a:solidFill>
                <a:latin typeface="Arimo Bold"/>
                <a:ea typeface="Arimo Bold"/>
                <a:cs typeface="Arimo Bold"/>
                <a:sym typeface="Arimo Bold"/>
              </a:rPr>
              <a:t>Description</a:t>
            </a:r>
          </a:p>
        </p:txBody>
      </p:sp>
      <p:sp>
        <p:nvSpPr>
          <p:cNvPr name="TextBox 67" id="67"/>
          <p:cNvSpPr txBox="true"/>
          <p:nvPr/>
        </p:nvSpPr>
        <p:spPr>
          <a:xfrm rot="0">
            <a:off x="600075" y="336708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count</a:t>
            </a:r>
          </a:p>
        </p:txBody>
      </p:sp>
      <p:sp>
        <p:nvSpPr>
          <p:cNvPr name="TextBox 68" id="68"/>
          <p:cNvSpPr txBox="true"/>
          <p:nvPr/>
        </p:nvSpPr>
        <p:spPr>
          <a:xfrm rot="0">
            <a:off x="2590503" y="3367088"/>
            <a:ext cx="7761327"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Nombre de valeurs non nulles</a:t>
            </a:r>
          </a:p>
        </p:txBody>
      </p:sp>
      <p:sp>
        <p:nvSpPr>
          <p:cNvPr name="TextBox 69" id="69"/>
          <p:cNvSpPr txBox="true"/>
          <p:nvPr/>
        </p:nvSpPr>
        <p:spPr>
          <a:xfrm rot="0">
            <a:off x="600075" y="388143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mean</a:t>
            </a:r>
          </a:p>
        </p:txBody>
      </p:sp>
      <p:sp>
        <p:nvSpPr>
          <p:cNvPr name="TextBox 70" id="70"/>
          <p:cNvSpPr txBox="true"/>
          <p:nvPr/>
        </p:nvSpPr>
        <p:spPr>
          <a:xfrm rot="0">
            <a:off x="2590503" y="3881438"/>
            <a:ext cx="7761327"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Moyenne arithmétique (tendance centrale)</a:t>
            </a:r>
          </a:p>
        </p:txBody>
      </p:sp>
      <p:sp>
        <p:nvSpPr>
          <p:cNvPr name="TextBox 71" id="71"/>
          <p:cNvSpPr txBox="true"/>
          <p:nvPr/>
        </p:nvSpPr>
        <p:spPr>
          <a:xfrm rot="0">
            <a:off x="600075" y="439578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std</a:t>
            </a:r>
          </a:p>
        </p:txBody>
      </p:sp>
      <p:sp>
        <p:nvSpPr>
          <p:cNvPr name="TextBox 72" id="72"/>
          <p:cNvSpPr txBox="true"/>
          <p:nvPr/>
        </p:nvSpPr>
        <p:spPr>
          <a:xfrm rot="0">
            <a:off x="2590503" y="4395788"/>
            <a:ext cx="6467772"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Écart-type (dispersion)</a:t>
            </a:r>
          </a:p>
        </p:txBody>
      </p:sp>
      <p:sp>
        <p:nvSpPr>
          <p:cNvPr name="TextBox 73" id="73"/>
          <p:cNvSpPr txBox="true"/>
          <p:nvPr/>
        </p:nvSpPr>
        <p:spPr>
          <a:xfrm rot="0">
            <a:off x="600075" y="491013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min</a:t>
            </a:r>
          </a:p>
        </p:txBody>
      </p:sp>
      <p:sp>
        <p:nvSpPr>
          <p:cNvPr name="TextBox 74" id="74"/>
          <p:cNvSpPr txBox="true"/>
          <p:nvPr/>
        </p:nvSpPr>
        <p:spPr>
          <a:xfrm rot="0">
            <a:off x="2590503" y="4910138"/>
            <a:ext cx="6467772"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Valeur minimale</a:t>
            </a:r>
          </a:p>
        </p:txBody>
      </p:sp>
      <p:sp>
        <p:nvSpPr>
          <p:cNvPr name="TextBox 75" id="75"/>
          <p:cNvSpPr txBox="true"/>
          <p:nvPr/>
        </p:nvSpPr>
        <p:spPr>
          <a:xfrm rot="0">
            <a:off x="600075" y="542448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25%</a:t>
            </a:r>
          </a:p>
        </p:txBody>
      </p:sp>
      <p:sp>
        <p:nvSpPr>
          <p:cNvPr name="TextBox 76" id="76"/>
          <p:cNvSpPr txBox="true"/>
          <p:nvPr/>
        </p:nvSpPr>
        <p:spPr>
          <a:xfrm rot="0">
            <a:off x="2590503" y="5424488"/>
            <a:ext cx="6467772"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Premier quartile (Q1)</a:t>
            </a:r>
          </a:p>
        </p:txBody>
      </p:sp>
      <p:sp>
        <p:nvSpPr>
          <p:cNvPr name="TextBox 77" id="77"/>
          <p:cNvSpPr txBox="true"/>
          <p:nvPr/>
        </p:nvSpPr>
        <p:spPr>
          <a:xfrm rot="0">
            <a:off x="600075" y="593883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50%</a:t>
            </a:r>
          </a:p>
        </p:txBody>
      </p:sp>
      <p:sp>
        <p:nvSpPr>
          <p:cNvPr name="TextBox 78" id="78"/>
          <p:cNvSpPr txBox="true"/>
          <p:nvPr/>
        </p:nvSpPr>
        <p:spPr>
          <a:xfrm rot="0">
            <a:off x="2590503" y="5938838"/>
            <a:ext cx="6467772"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Médiane</a:t>
            </a:r>
          </a:p>
        </p:txBody>
      </p:sp>
      <p:sp>
        <p:nvSpPr>
          <p:cNvPr name="TextBox 79" id="79"/>
          <p:cNvSpPr txBox="true"/>
          <p:nvPr/>
        </p:nvSpPr>
        <p:spPr>
          <a:xfrm rot="0">
            <a:off x="600075" y="645318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75%</a:t>
            </a:r>
          </a:p>
        </p:txBody>
      </p:sp>
      <p:sp>
        <p:nvSpPr>
          <p:cNvPr name="TextBox 80" id="80"/>
          <p:cNvSpPr txBox="true"/>
          <p:nvPr/>
        </p:nvSpPr>
        <p:spPr>
          <a:xfrm rot="0">
            <a:off x="2590503" y="6453188"/>
            <a:ext cx="7761327"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Troisième quartile (Q3)</a:t>
            </a:r>
          </a:p>
        </p:txBody>
      </p:sp>
      <p:sp>
        <p:nvSpPr>
          <p:cNvPr name="TextBox 81" id="81"/>
          <p:cNvSpPr txBox="true"/>
          <p:nvPr/>
        </p:nvSpPr>
        <p:spPr>
          <a:xfrm rot="0">
            <a:off x="600075" y="6967538"/>
            <a:ext cx="1990428"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max</a:t>
            </a:r>
          </a:p>
        </p:txBody>
      </p:sp>
      <p:sp>
        <p:nvSpPr>
          <p:cNvPr name="TextBox 82" id="82"/>
          <p:cNvSpPr txBox="true"/>
          <p:nvPr/>
        </p:nvSpPr>
        <p:spPr>
          <a:xfrm rot="0">
            <a:off x="2590503" y="6967538"/>
            <a:ext cx="6467772" cy="590550"/>
          </a:xfrm>
          <a:prstGeom prst="rect">
            <a:avLst/>
          </a:prstGeom>
        </p:spPr>
        <p:txBody>
          <a:bodyPr anchor="t" rtlCol="false" tIns="0" lIns="0" bIns="0" rIns="0">
            <a:spAutoFit/>
          </a:bodyPr>
          <a:lstStyle/>
          <a:p>
            <a:pPr algn="l">
              <a:lnSpc>
                <a:spcPts val="2700"/>
              </a:lnSpc>
            </a:pPr>
            <a:r>
              <a:rPr lang="en-US" sz="1800">
                <a:solidFill>
                  <a:srgbClr val="000000"/>
                </a:solidFill>
                <a:latin typeface="Arimo"/>
                <a:ea typeface="Arimo"/>
                <a:cs typeface="Arimo"/>
                <a:sym typeface="Arimo"/>
              </a:rPr>
              <a:t>Valeur maximale</a:t>
            </a:r>
          </a:p>
        </p:txBody>
      </p:sp>
      <p:sp>
        <p:nvSpPr>
          <p:cNvPr name="TextBox 83" id="83"/>
          <p:cNvSpPr txBox="true"/>
          <p:nvPr/>
        </p:nvSpPr>
        <p:spPr>
          <a:xfrm rot="0">
            <a:off x="9986962" y="1428750"/>
            <a:ext cx="9738360" cy="457200"/>
          </a:xfrm>
          <a:prstGeom prst="rect">
            <a:avLst/>
          </a:prstGeom>
        </p:spPr>
        <p:txBody>
          <a:bodyPr anchor="t" rtlCol="false" tIns="0" lIns="0" bIns="0" rIns="0">
            <a:spAutoFit/>
          </a:bodyPr>
          <a:lstStyle/>
          <a:p>
            <a:pPr algn="l">
              <a:lnSpc>
                <a:spcPts val="3149"/>
              </a:lnSpc>
            </a:pPr>
            <a:r>
              <a:rPr lang="en-US" sz="2250" b="true">
                <a:solidFill>
                  <a:srgbClr val="306998"/>
                </a:solidFill>
                <a:latin typeface="Arimo Bold"/>
                <a:ea typeface="Arimo Bold"/>
                <a:cs typeface="Arimo Bold"/>
                <a:sym typeface="Arimo Bold"/>
              </a:rPr>
              <a:t> Analyse des Corrélations</a:t>
            </a:r>
          </a:p>
        </p:txBody>
      </p:sp>
      <p:sp>
        <p:nvSpPr>
          <p:cNvPr name="TextBox 84" id="84"/>
          <p:cNvSpPr txBox="true"/>
          <p:nvPr/>
        </p:nvSpPr>
        <p:spPr>
          <a:xfrm rot="0">
            <a:off x="9544050" y="1895475"/>
            <a:ext cx="8115300" cy="61912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La corrélation mesure la force et la direction de la relation linéaire entre deux variables.</a:t>
            </a:r>
          </a:p>
        </p:txBody>
      </p:sp>
      <p:sp>
        <p:nvSpPr>
          <p:cNvPr name="TextBox 85" id="85"/>
          <p:cNvSpPr txBox="true"/>
          <p:nvPr/>
        </p:nvSpPr>
        <p:spPr>
          <a:xfrm rot="0">
            <a:off x="9658350" y="2695575"/>
            <a:ext cx="7886700" cy="333375"/>
          </a:xfrm>
          <a:prstGeom prst="rect">
            <a:avLst/>
          </a:prstGeom>
        </p:spPr>
        <p:txBody>
          <a:bodyPr anchor="t" rtlCol="false" tIns="0" lIns="0" bIns="0" rIns="0">
            <a:spAutoFit/>
          </a:bodyPr>
          <a:lstStyle/>
          <a:p>
            <a:pPr algn="l">
              <a:lnSpc>
                <a:spcPts val="2250"/>
              </a:lnSpc>
            </a:pPr>
            <a:r>
              <a:rPr lang="en-US" sz="1575" b="true">
                <a:solidFill>
                  <a:srgbClr val="1F2937"/>
                </a:solidFill>
                <a:latin typeface="Arimo Bold"/>
                <a:ea typeface="Arimo Bold"/>
                <a:cs typeface="Arimo Bold"/>
                <a:sym typeface="Arimo Bold"/>
              </a:rPr>
              <a:t>Formule de Pearson :</a:t>
            </a:r>
          </a:p>
        </p:txBody>
      </p:sp>
      <p:sp>
        <p:nvSpPr>
          <p:cNvPr name="TextBox 86" id="86"/>
          <p:cNvSpPr txBox="true"/>
          <p:nvPr/>
        </p:nvSpPr>
        <p:spPr>
          <a:xfrm rot="0">
            <a:off x="8869680" y="2981325"/>
            <a:ext cx="9464040" cy="447675"/>
          </a:xfrm>
          <a:prstGeom prst="rect">
            <a:avLst/>
          </a:prstGeom>
        </p:spPr>
        <p:txBody>
          <a:bodyPr anchor="t" rtlCol="false" tIns="0" lIns="0" bIns="0" rIns="0">
            <a:spAutoFit/>
          </a:bodyPr>
          <a:lstStyle/>
          <a:p>
            <a:pPr algn="ctr">
              <a:lnSpc>
                <a:spcPts val="2250"/>
              </a:lnSpc>
            </a:pPr>
            <a:r>
              <a:rPr lang="en-US" sz="1575">
                <a:solidFill>
                  <a:srgbClr val="000000"/>
                </a:solidFill>
                <a:latin typeface="Arimo"/>
                <a:ea typeface="Arimo"/>
                <a:cs typeface="Arimo"/>
                <a:sym typeface="Arimo"/>
              </a:rPr>
              <a:t>r = Σ((xᵢ - x̄)(yᵢ - ȳ)) / √(Σ(xᵢ - x̄)² * Σ(yᵢ - ȳ)²)</a:t>
            </a:r>
          </a:p>
        </p:txBody>
      </p:sp>
      <p:sp>
        <p:nvSpPr>
          <p:cNvPr name="TextBox 87" id="87"/>
          <p:cNvSpPr txBox="true"/>
          <p:nvPr/>
        </p:nvSpPr>
        <p:spPr>
          <a:xfrm rot="0">
            <a:off x="9658350" y="3838575"/>
            <a:ext cx="2986713"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Corrélation positive (1.0)</a:t>
            </a:r>
          </a:p>
        </p:txBody>
      </p:sp>
      <p:sp>
        <p:nvSpPr>
          <p:cNvPr name="TextBox 88" id="88"/>
          <p:cNvSpPr txBox="true"/>
          <p:nvPr/>
        </p:nvSpPr>
        <p:spPr>
          <a:xfrm rot="0">
            <a:off x="12661628" y="3838575"/>
            <a:ext cx="3181737"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Corrélation négative (-1.0)</a:t>
            </a:r>
          </a:p>
        </p:txBody>
      </p:sp>
      <p:sp>
        <p:nvSpPr>
          <p:cNvPr name="TextBox 89" id="89"/>
          <p:cNvSpPr txBox="true"/>
          <p:nvPr/>
        </p:nvSpPr>
        <p:spPr>
          <a:xfrm rot="0">
            <a:off x="9658350" y="4181475"/>
            <a:ext cx="3836195"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Corrélation proche de zéro (0.0)</a:t>
            </a:r>
          </a:p>
        </p:txBody>
      </p:sp>
      <p:sp>
        <p:nvSpPr>
          <p:cNvPr name="TextBox 90" id="90"/>
          <p:cNvSpPr txBox="true"/>
          <p:nvPr/>
        </p:nvSpPr>
        <p:spPr>
          <a:xfrm rot="0">
            <a:off x="9486900" y="4752975"/>
            <a:ext cx="8229600" cy="333375"/>
          </a:xfrm>
          <a:prstGeom prst="rect">
            <a:avLst/>
          </a:prstGeom>
        </p:spPr>
        <p:txBody>
          <a:bodyPr anchor="t" rtlCol="false" tIns="0" lIns="0" bIns="0" rIns="0">
            <a:spAutoFit/>
          </a:bodyPr>
          <a:lstStyle/>
          <a:p>
            <a:pPr algn="l">
              <a:lnSpc>
                <a:spcPts val="2250"/>
              </a:lnSpc>
            </a:pPr>
            <a:r>
              <a:rPr lang="en-US" sz="1575" b="true">
                <a:solidFill>
                  <a:srgbClr val="000000"/>
                </a:solidFill>
                <a:latin typeface="Arimo Bold"/>
                <a:ea typeface="Arimo Bold"/>
                <a:cs typeface="Arimo Bold"/>
                <a:sym typeface="Arimo Bold"/>
              </a:rPr>
              <a:t>Corrélation Partielle</a:t>
            </a:r>
          </a:p>
        </p:txBody>
      </p:sp>
      <p:sp>
        <p:nvSpPr>
          <p:cNvPr name="TextBox 91" id="91"/>
          <p:cNvSpPr txBox="true"/>
          <p:nvPr/>
        </p:nvSpPr>
        <p:spPr>
          <a:xfrm rot="0">
            <a:off x="9486900" y="5048250"/>
            <a:ext cx="8229600" cy="495300"/>
          </a:xfrm>
          <a:prstGeom prst="rect">
            <a:avLst/>
          </a:prstGeom>
        </p:spPr>
        <p:txBody>
          <a:bodyPr anchor="t" rtlCol="false" tIns="0" lIns="0" bIns="0" rIns="0">
            <a:spAutoFit/>
          </a:bodyPr>
          <a:lstStyle/>
          <a:p>
            <a:pPr algn="l">
              <a:lnSpc>
                <a:spcPts val="1800"/>
              </a:lnSpc>
            </a:pPr>
            <a:r>
              <a:rPr lang="en-US" sz="1350">
                <a:solidFill>
                  <a:srgbClr val="000000"/>
                </a:solidFill>
                <a:latin typeface="Arimo"/>
                <a:ea typeface="Arimo"/>
                <a:cs typeface="Arimo"/>
                <a:sym typeface="Arimo"/>
              </a:rPr>
              <a:t>Définition : La corrélation partielle mesure la relation entre deux variables en contrôlant les autres variables.</a:t>
            </a:r>
          </a:p>
        </p:txBody>
      </p:sp>
      <p:sp>
        <p:nvSpPr>
          <p:cNvPr name="TextBox 92" id="92"/>
          <p:cNvSpPr txBox="true"/>
          <p:nvPr/>
        </p:nvSpPr>
        <p:spPr>
          <a:xfrm rot="0">
            <a:off x="9486900" y="5505450"/>
            <a:ext cx="9875520" cy="266700"/>
          </a:xfrm>
          <a:prstGeom prst="rect">
            <a:avLst/>
          </a:prstGeom>
        </p:spPr>
        <p:txBody>
          <a:bodyPr anchor="t" rtlCol="false" tIns="0" lIns="0" bIns="0" rIns="0">
            <a:spAutoFit/>
          </a:bodyPr>
          <a:lstStyle/>
          <a:p>
            <a:pPr algn="l">
              <a:lnSpc>
                <a:spcPts val="1800"/>
              </a:lnSpc>
            </a:pPr>
            <a:r>
              <a:rPr lang="en-US" sz="1350">
                <a:solidFill>
                  <a:srgbClr val="000000"/>
                </a:solidFill>
                <a:latin typeface="Arimo"/>
                <a:ea typeface="Arimo"/>
                <a:cs typeface="Arimo"/>
                <a:sym typeface="Arimo"/>
              </a:rPr>
              <a:t>Utilité : Idéale pour isoler une relation fondamentale après avoir éliminé d'autres facteurs.</a:t>
            </a:r>
          </a:p>
        </p:txBody>
      </p:sp>
      <p:sp>
        <p:nvSpPr>
          <p:cNvPr name="TextBox 93" id="93"/>
          <p:cNvSpPr txBox="true"/>
          <p:nvPr/>
        </p:nvSpPr>
        <p:spPr>
          <a:xfrm rot="0">
            <a:off x="9372600" y="5924550"/>
            <a:ext cx="8458200"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Matrice de Corrélation</a:t>
            </a:r>
          </a:p>
        </p:txBody>
      </p:sp>
      <p:sp>
        <p:nvSpPr>
          <p:cNvPr name="TextBox 94" id="94"/>
          <p:cNvSpPr txBox="true"/>
          <p:nvPr/>
        </p:nvSpPr>
        <p:spPr>
          <a:xfrm rot="0">
            <a:off x="457200" y="10139363"/>
            <a:ext cx="173736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14 sur 19</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515600"/>
            <a:chOff x="0" y="0"/>
            <a:chExt cx="24384000" cy="14020800"/>
          </a:xfrm>
        </p:grpSpPr>
        <p:sp>
          <p:nvSpPr>
            <p:cNvPr name="Freeform 3" id="3" descr="preencoded.png"/>
            <p:cNvSpPr/>
            <p:nvPr/>
          </p:nvSpPr>
          <p:spPr>
            <a:xfrm flipH="false" flipV="false" rot="0">
              <a:off x="0" y="0"/>
              <a:ext cx="24384000" cy="14020800"/>
            </a:xfrm>
            <a:custGeom>
              <a:avLst/>
              <a:gdLst/>
              <a:ahLst/>
              <a:cxnLst/>
              <a:rect r="r" b="b" t="t" l="l"/>
              <a:pathLst>
                <a:path h="14020800" w="24384000">
                  <a:moveTo>
                    <a:pt x="0" y="0"/>
                  </a:moveTo>
                  <a:lnTo>
                    <a:pt x="24384000" y="0"/>
                  </a:lnTo>
                  <a:lnTo>
                    <a:pt x="24384000" y="14020800"/>
                  </a:lnTo>
                  <a:lnTo>
                    <a:pt x="0" y="140208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571500" y="1543050"/>
            <a:ext cx="342900" cy="457200"/>
            <a:chOff x="0" y="0"/>
            <a:chExt cx="457200" cy="609600"/>
          </a:xfrm>
        </p:grpSpPr>
        <p:sp>
          <p:nvSpPr>
            <p:cNvPr name="Freeform 5" id="5"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571500" y="2971800"/>
            <a:ext cx="8343900" cy="3771900"/>
            <a:chOff x="0" y="0"/>
            <a:chExt cx="11125200" cy="5029200"/>
          </a:xfrm>
        </p:grpSpPr>
        <p:sp>
          <p:nvSpPr>
            <p:cNvPr name="Freeform 7" id="7" descr="preencoded.png"/>
            <p:cNvSpPr/>
            <p:nvPr/>
          </p:nvSpPr>
          <p:spPr>
            <a:xfrm flipH="false" flipV="false" rot="0">
              <a:off x="0" y="0"/>
              <a:ext cx="11125200" cy="5029200"/>
            </a:xfrm>
            <a:custGeom>
              <a:avLst/>
              <a:gdLst/>
              <a:ahLst/>
              <a:cxnLst/>
              <a:rect r="r" b="b" t="t" l="l"/>
              <a:pathLst>
                <a:path h="5029200" w="11125200">
                  <a:moveTo>
                    <a:pt x="0" y="0"/>
                  </a:moveTo>
                  <a:lnTo>
                    <a:pt x="11125200" y="0"/>
                  </a:lnTo>
                  <a:lnTo>
                    <a:pt x="11125200" y="5029200"/>
                  </a:lnTo>
                  <a:lnTo>
                    <a:pt x="0" y="50292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571500" y="6858000"/>
            <a:ext cx="8343900" cy="2171700"/>
            <a:chOff x="0" y="0"/>
            <a:chExt cx="11125200" cy="2895600"/>
          </a:xfrm>
        </p:grpSpPr>
        <p:sp>
          <p:nvSpPr>
            <p:cNvPr name="Freeform 9" id="9" descr="preencoded.png"/>
            <p:cNvSpPr/>
            <p:nvPr/>
          </p:nvSpPr>
          <p:spPr>
            <a:xfrm flipH="false" flipV="false" rot="0">
              <a:off x="0" y="0"/>
              <a:ext cx="11125200" cy="2895600"/>
            </a:xfrm>
            <a:custGeom>
              <a:avLst/>
              <a:gdLst/>
              <a:ahLst/>
              <a:cxnLst/>
              <a:rect r="r" b="b" t="t" l="l"/>
              <a:pathLst>
                <a:path h="2895600" w="11125200">
                  <a:moveTo>
                    <a:pt x="0" y="0"/>
                  </a:moveTo>
                  <a:lnTo>
                    <a:pt x="11125200" y="0"/>
                  </a:lnTo>
                  <a:lnTo>
                    <a:pt x="11125200" y="2895600"/>
                  </a:lnTo>
                  <a:lnTo>
                    <a:pt x="0" y="28956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742950" y="7029450"/>
            <a:ext cx="8001000" cy="1828800"/>
            <a:chOff x="0" y="0"/>
            <a:chExt cx="10668000" cy="2438400"/>
          </a:xfrm>
        </p:grpSpPr>
        <p:sp>
          <p:nvSpPr>
            <p:cNvPr name="Freeform 11" id="11" descr="preencoded.png"/>
            <p:cNvSpPr/>
            <p:nvPr/>
          </p:nvSpPr>
          <p:spPr>
            <a:xfrm flipH="false" flipV="false" rot="0">
              <a:off x="0" y="0"/>
              <a:ext cx="10668000" cy="2438400"/>
            </a:xfrm>
            <a:custGeom>
              <a:avLst/>
              <a:gdLst/>
              <a:ahLst/>
              <a:cxnLst/>
              <a:rect r="r" b="b" t="t" l="l"/>
              <a:pathLst>
                <a:path h="2438400" w="10668000">
                  <a:moveTo>
                    <a:pt x="0" y="0"/>
                  </a:moveTo>
                  <a:lnTo>
                    <a:pt x="10668000" y="0"/>
                  </a:lnTo>
                  <a:lnTo>
                    <a:pt x="10668000" y="2438400"/>
                  </a:lnTo>
                  <a:lnTo>
                    <a:pt x="0" y="24384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9372600" y="1543050"/>
            <a:ext cx="428625" cy="457200"/>
            <a:chOff x="0" y="0"/>
            <a:chExt cx="571500" cy="609600"/>
          </a:xfrm>
        </p:grpSpPr>
        <p:sp>
          <p:nvSpPr>
            <p:cNvPr name="Freeform 13" id="13" descr="preencoded.png"/>
            <p:cNvSpPr/>
            <p:nvPr/>
          </p:nvSpPr>
          <p:spPr>
            <a:xfrm flipH="false" flipV="false" rot="0">
              <a:off x="0" y="0"/>
              <a:ext cx="571500" cy="609600"/>
            </a:xfrm>
            <a:custGeom>
              <a:avLst/>
              <a:gdLst/>
              <a:ahLst/>
              <a:cxnLst/>
              <a:rect r="r" b="b" t="t" l="l"/>
              <a:pathLst>
                <a:path h="609600" w="571500">
                  <a:moveTo>
                    <a:pt x="0" y="0"/>
                  </a:moveTo>
                  <a:lnTo>
                    <a:pt x="571500" y="0"/>
                  </a:lnTo>
                  <a:lnTo>
                    <a:pt x="571500" y="609600"/>
                  </a:lnTo>
                  <a:lnTo>
                    <a:pt x="0" y="609600"/>
                  </a:lnTo>
                  <a:lnTo>
                    <a:pt x="0" y="0"/>
                  </a:lnTo>
                  <a:close/>
                </a:path>
              </a:pathLst>
            </a:custGeom>
            <a:blipFill>
              <a:blip r:embed="rId8"/>
              <a:stretch>
                <a:fillRect l="0" t="0" r="0" b="0"/>
              </a:stretch>
            </a:blipFill>
          </p:spPr>
        </p:sp>
      </p:grpSp>
      <p:grpSp>
        <p:nvGrpSpPr>
          <p:cNvPr name="Group 14" id="14"/>
          <p:cNvGrpSpPr>
            <a:grpSpLocks noChangeAspect="true"/>
          </p:cNvGrpSpPr>
          <p:nvPr/>
        </p:nvGrpSpPr>
        <p:grpSpPr>
          <a:xfrm rot="0">
            <a:off x="9372600" y="2971800"/>
            <a:ext cx="8343900" cy="4114800"/>
            <a:chOff x="0" y="0"/>
            <a:chExt cx="11125200" cy="5486400"/>
          </a:xfrm>
        </p:grpSpPr>
        <p:sp>
          <p:nvSpPr>
            <p:cNvPr name="Freeform 15" id="15" descr="preencoded.png"/>
            <p:cNvSpPr/>
            <p:nvPr/>
          </p:nvSpPr>
          <p:spPr>
            <a:xfrm flipH="false" flipV="false" rot="0">
              <a:off x="0" y="0"/>
              <a:ext cx="11125200" cy="5486400"/>
            </a:xfrm>
            <a:custGeom>
              <a:avLst/>
              <a:gdLst/>
              <a:ahLst/>
              <a:cxnLst/>
              <a:rect r="r" b="b" t="t" l="l"/>
              <a:pathLst>
                <a:path h="5486400" w="11125200">
                  <a:moveTo>
                    <a:pt x="0" y="0"/>
                  </a:moveTo>
                  <a:lnTo>
                    <a:pt x="11125200" y="0"/>
                  </a:lnTo>
                  <a:lnTo>
                    <a:pt x="11125200" y="5486400"/>
                  </a:lnTo>
                  <a:lnTo>
                    <a:pt x="0" y="5486400"/>
                  </a:lnTo>
                  <a:lnTo>
                    <a:pt x="0" y="0"/>
                  </a:lnTo>
                  <a:close/>
                </a:path>
              </a:pathLst>
            </a:custGeom>
            <a:blipFill>
              <a:blip r:embed="rId9"/>
              <a:stretch>
                <a:fillRect l="0" t="0" r="0" b="0"/>
              </a:stretch>
            </a:blipFill>
          </p:spPr>
        </p:sp>
      </p:grpSp>
      <p:grpSp>
        <p:nvGrpSpPr>
          <p:cNvPr name="Group 16" id="16"/>
          <p:cNvGrpSpPr>
            <a:grpSpLocks noChangeAspect="true"/>
          </p:cNvGrpSpPr>
          <p:nvPr/>
        </p:nvGrpSpPr>
        <p:grpSpPr>
          <a:xfrm rot="0">
            <a:off x="9372600" y="7200900"/>
            <a:ext cx="8343900" cy="2171700"/>
            <a:chOff x="0" y="0"/>
            <a:chExt cx="11125200" cy="2895600"/>
          </a:xfrm>
        </p:grpSpPr>
        <p:sp>
          <p:nvSpPr>
            <p:cNvPr name="Freeform 17" id="17" descr="preencoded.png"/>
            <p:cNvSpPr/>
            <p:nvPr/>
          </p:nvSpPr>
          <p:spPr>
            <a:xfrm flipH="false" flipV="false" rot="0">
              <a:off x="0" y="0"/>
              <a:ext cx="11125200" cy="2895600"/>
            </a:xfrm>
            <a:custGeom>
              <a:avLst/>
              <a:gdLst/>
              <a:ahLst/>
              <a:cxnLst/>
              <a:rect r="r" b="b" t="t" l="l"/>
              <a:pathLst>
                <a:path h="2895600" w="11125200">
                  <a:moveTo>
                    <a:pt x="0" y="0"/>
                  </a:moveTo>
                  <a:lnTo>
                    <a:pt x="11125200" y="0"/>
                  </a:lnTo>
                  <a:lnTo>
                    <a:pt x="11125200" y="2895600"/>
                  </a:lnTo>
                  <a:lnTo>
                    <a:pt x="0" y="2895600"/>
                  </a:lnTo>
                  <a:lnTo>
                    <a:pt x="0" y="0"/>
                  </a:lnTo>
                  <a:close/>
                </a:path>
              </a:pathLst>
            </a:custGeom>
            <a:blipFill>
              <a:blip r:embed="rId10"/>
              <a:stretch>
                <a:fillRect l="0" t="0" r="0" b="0"/>
              </a:stretch>
            </a:blipFill>
          </p:spPr>
        </p:sp>
      </p:grpSp>
      <p:grpSp>
        <p:nvGrpSpPr>
          <p:cNvPr name="Group 18" id="18"/>
          <p:cNvGrpSpPr>
            <a:grpSpLocks noChangeAspect="true"/>
          </p:cNvGrpSpPr>
          <p:nvPr/>
        </p:nvGrpSpPr>
        <p:grpSpPr>
          <a:xfrm rot="0">
            <a:off x="9544050" y="7372350"/>
            <a:ext cx="8001000" cy="1828800"/>
            <a:chOff x="0" y="0"/>
            <a:chExt cx="10668000" cy="2438400"/>
          </a:xfrm>
        </p:grpSpPr>
        <p:sp>
          <p:nvSpPr>
            <p:cNvPr name="Freeform 19" id="19" descr="preencoded.png"/>
            <p:cNvSpPr/>
            <p:nvPr/>
          </p:nvSpPr>
          <p:spPr>
            <a:xfrm flipH="false" flipV="false" rot="0">
              <a:off x="0" y="0"/>
              <a:ext cx="10668000" cy="2438400"/>
            </a:xfrm>
            <a:custGeom>
              <a:avLst/>
              <a:gdLst/>
              <a:ahLst/>
              <a:cxnLst/>
              <a:rect r="r" b="b" t="t" l="l"/>
              <a:pathLst>
                <a:path h="2438400" w="10668000">
                  <a:moveTo>
                    <a:pt x="0" y="0"/>
                  </a:moveTo>
                  <a:lnTo>
                    <a:pt x="10668000" y="0"/>
                  </a:lnTo>
                  <a:lnTo>
                    <a:pt x="10668000" y="2438400"/>
                  </a:lnTo>
                  <a:lnTo>
                    <a:pt x="0" y="2438400"/>
                  </a:lnTo>
                  <a:lnTo>
                    <a:pt x="0" y="0"/>
                  </a:lnTo>
                  <a:close/>
                </a:path>
              </a:pathLst>
            </a:custGeom>
            <a:blipFill>
              <a:blip r:embed="rId11"/>
              <a:stretch>
                <a:fillRect l="0" t="0" r="0" b="0"/>
              </a:stretch>
            </a:blipFill>
          </p:spPr>
        </p:sp>
      </p:grpSp>
      <p:grpSp>
        <p:nvGrpSpPr>
          <p:cNvPr name="Group 20" id="20"/>
          <p:cNvGrpSpPr>
            <a:grpSpLocks noChangeAspect="true"/>
          </p:cNvGrpSpPr>
          <p:nvPr/>
        </p:nvGrpSpPr>
        <p:grpSpPr>
          <a:xfrm rot="0">
            <a:off x="571500" y="9544050"/>
            <a:ext cx="285750" cy="400050"/>
            <a:chOff x="0" y="0"/>
            <a:chExt cx="381000" cy="533400"/>
          </a:xfrm>
        </p:grpSpPr>
        <p:sp>
          <p:nvSpPr>
            <p:cNvPr name="Freeform 21" id="21" descr="preencoded.png"/>
            <p:cNvSpPr/>
            <p:nvPr/>
          </p:nvSpPr>
          <p:spPr>
            <a:xfrm flipH="false" flipV="false" rot="0">
              <a:off x="0" y="0"/>
              <a:ext cx="381000" cy="533400"/>
            </a:xfrm>
            <a:custGeom>
              <a:avLst/>
              <a:gdLst/>
              <a:ahLst/>
              <a:cxnLst/>
              <a:rect r="r" b="b" t="t" l="l"/>
              <a:pathLst>
                <a:path h="533400" w="381000">
                  <a:moveTo>
                    <a:pt x="0" y="0"/>
                  </a:moveTo>
                  <a:lnTo>
                    <a:pt x="381000" y="0"/>
                  </a:lnTo>
                  <a:lnTo>
                    <a:pt x="381000" y="533400"/>
                  </a:lnTo>
                  <a:lnTo>
                    <a:pt x="0" y="533400"/>
                  </a:lnTo>
                  <a:lnTo>
                    <a:pt x="0" y="0"/>
                  </a:lnTo>
                  <a:close/>
                </a:path>
              </a:pathLst>
            </a:custGeom>
            <a:blipFill>
              <a:blip r:embed="rId12"/>
              <a:stretch>
                <a:fillRect l="0" t="0" r="0" b="0"/>
              </a:stretch>
            </a:blipFill>
          </p:spPr>
        </p:sp>
      </p:grpSp>
      <p:sp>
        <p:nvSpPr>
          <p:cNvPr name="TextBox 22" id="22"/>
          <p:cNvSpPr txBox="true"/>
          <p:nvPr/>
        </p:nvSpPr>
        <p:spPr>
          <a:xfrm rot="0">
            <a:off x="571500" y="581025"/>
            <a:ext cx="205740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Visualisation avec Matplotlib</a:t>
            </a:r>
          </a:p>
        </p:txBody>
      </p:sp>
      <p:sp>
        <p:nvSpPr>
          <p:cNvPr name="TextBox 23" id="23"/>
          <p:cNvSpPr txBox="true"/>
          <p:nvPr/>
        </p:nvSpPr>
        <p:spPr>
          <a:xfrm rot="0">
            <a:off x="1085850" y="1485900"/>
            <a:ext cx="4432786"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Graphique Linéaire</a:t>
            </a:r>
          </a:p>
        </p:txBody>
      </p:sp>
      <p:sp>
        <p:nvSpPr>
          <p:cNvPr name="TextBox 24" id="24"/>
          <p:cNvSpPr txBox="true"/>
          <p:nvPr/>
        </p:nvSpPr>
        <p:spPr>
          <a:xfrm rot="0">
            <a:off x="571500" y="1981200"/>
            <a:ext cx="8343900" cy="87630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Matplotlib offre un contrôle précis sur chaque élément d'un graphique.</a:t>
            </a:r>
          </a:p>
        </p:txBody>
      </p:sp>
      <p:sp>
        <p:nvSpPr>
          <p:cNvPr name="TextBox 25" id="25"/>
          <p:cNvSpPr txBox="true"/>
          <p:nvPr/>
        </p:nvSpPr>
        <p:spPr>
          <a:xfrm rot="0">
            <a:off x="742950" y="2905125"/>
            <a:ext cx="8343900" cy="3838575"/>
          </a:xfrm>
          <a:prstGeom prst="rect">
            <a:avLst/>
          </a:prstGeom>
        </p:spPr>
        <p:txBody>
          <a:bodyPr anchor="t" rtlCol="false" tIns="0" lIns="0" bIns="0" rIns="0">
            <a:spAutoFit/>
          </a:bodyPr>
          <a:lstStyle/>
          <a:p>
            <a:pPr algn="l">
              <a:lnSpc>
                <a:spcPts val="2700"/>
              </a:lnSpc>
            </a:pPr>
            <a:r>
              <a:rPr lang="en-US" sz="1800">
                <a:solidFill>
                  <a:srgbClr val="6272A4"/>
                </a:solidFill>
                <a:latin typeface="Courier New"/>
                <a:ea typeface="Courier New"/>
                <a:cs typeface="Courier New"/>
                <a:sym typeface="Courier New"/>
              </a:rPr>
              <a:t># Graphique linéaire</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000000"/>
                </a:solidFill>
                <a:latin typeface="Courier New"/>
                <a:ea typeface="Courier New"/>
                <a:cs typeface="Courier New"/>
                <a:sym typeface="Courier New"/>
              </a:rPr>
              <a:t>matplotlib.pyplot </a:t>
            </a:r>
            <a:r>
              <a:rPr lang="en-US" sz="1800">
                <a:solidFill>
                  <a:srgbClr val="FF9100"/>
                </a:solidFill>
                <a:latin typeface="Courier New"/>
                <a:ea typeface="Courier New"/>
                <a:cs typeface="Courier New"/>
                <a:sym typeface="Courier New"/>
              </a:rPr>
              <a:t>as </a:t>
            </a:r>
            <a:r>
              <a:rPr lang="en-US" sz="1800">
                <a:solidFill>
                  <a:srgbClr val="000000"/>
                </a:solidFill>
                <a:latin typeface="Courier New"/>
                <a:ea typeface="Courier New"/>
                <a:cs typeface="Courier New"/>
                <a:sym typeface="Courier New"/>
              </a:rPr>
              <a:t>plt</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000000"/>
                </a:solidFill>
                <a:latin typeface="Courier New"/>
                <a:ea typeface="Courier New"/>
                <a:cs typeface="Courier New"/>
                <a:sym typeface="Courier New"/>
              </a:rPr>
              <a:t>numpy </a:t>
            </a:r>
            <a:r>
              <a:rPr lang="en-US" sz="1800">
                <a:solidFill>
                  <a:srgbClr val="FF9100"/>
                </a:solidFill>
                <a:latin typeface="Courier New"/>
                <a:ea typeface="Courier New"/>
                <a:cs typeface="Courier New"/>
                <a:sym typeface="Courier New"/>
              </a:rPr>
              <a:t>as </a:t>
            </a:r>
            <a:r>
              <a:rPr lang="en-US" sz="1800">
                <a:solidFill>
                  <a:srgbClr val="000000"/>
                </a:solidFill>
                <a:latin typeface="Courier New"/>
                <a:ea typeface="Courier New"/>
                <a:cs typeface="Courier New"/>
                <a:sym typeface="Courier New"/>
              </a:rPr>
              <a:t>np</a:t>
            </a:r>
          </a:p>
          <a:p>
            <a:pPr algn="l">
              <a:lnSpc>
                <a:spcPts val="2700"/>
              </a:lnSpc>
            </a:pPr>
            <a:r>
              <a:rPr lang="en-US" sz="1800">
                <a:solidFill>
                  <a:srgbClr val="000000"/>
                </a:solidFill>
                <a:latin typeface="Courier New"/>
                <a:ea typeface="Courier New"/>
                <a:cs typeface="Courier New"/>
                <a:sym typeface="Courier New"/>
              </a:rPr>
              <a:t>x = np.linspace( </a:t>
            </a:r>
            <a:r>
              <a:rPr lang="en-US" sz="1800">
                <a:solidFill>
                  <a:srgbClr val="FF9100"/>
                </a:solidFill>
                <a:latin typeface="Courier New"/>
                <a:ea typeface="Courier New"/>
                <a:cs typeface="Courier New"/>
                <a:sym typeface="Courier New"/>
              </a:rPr>
              <a:t>0 </a:t>
            </a:r>
            <a:r>
              <a:rPr lang="en-US" sz="1800">
                <a:solidFill>
                  <a:srgbClr val="000000"/>
                </a:solidFill>
                <a:latin typeface="Courier New"/>
                <a:ea typeface="Courier New"/>
                <a:cs typeface="Courier New"/>
                <a:sym typeface="Courier New"/>
              </a:rPr>
              <a:t>, </a:t>
            </a:r>
            <a:r>
              <a:rPr lang="en-US" sz="1800">
                <a:solidFill>
                  <a:srgbClr val="FF9100"/>
                </a:solidFill>
                <a:latin typeface="Courier New"/>
                <a:ea typeface="Courier New"/>
                <a:cs typeface="Courier New"/>
                <a:sym typeface="Courier New"/>
              </a:rPr>
              <a:t>10 </a:t>
            </a:r>
            <a:r>
              <a:rPr lang="en-US" sz="1800">
                <a:solidFill>
                  <a:srgbClr val="000000"/>
                </a:solidFill>
                <a:latin typeface="Courier New"/>
                <a:ea typeface="Courier New"/>
                <a:cs typeface="Courier New"/>
                <a:sym typeface="Courier New"/>
              </a:rPr>
              <a:t>, </a:t>
            </a:r>
            <a:r>
              <a:rPr lang="en-US" sz="1800">
                <a:solidFill>
                  <a:srgbClr val="FF9100"/>
                </a:solidFill>
                <a:latin typeface="Courier New"/>
                <a:ea typeface="Courier New"/>
                <a:cs typeface="Courier New"/>
                <a:sym typeface="Courier New"/>
              </a:rPr>
              <a:t>100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y = np.sin(x)</a:t>
            </a:r>
          </a:p>
          <a:p>
            <a:pPr algn="l">
              <a:lnSpc>
                <a:spcPts val="2700"/>
              </a:lnSpc>
            </a:pPr>
            <a:r>
              <a:rPr lang="en-US" sz="1800">
                <a:solidFill>
                  <a:srgbClr val="000000"/>
                </a:solidFill>
                <a:latin typeface="Courier New"/>
                <a:ea typeface="Courier New"/>
                <a:cs typeface="Courier New"/>
                <a:sym typeface="Courier New"/>
              </a:rPr>
              <a:t>plt.plot(x, y, label= </a:t>
            </a:r>
            <a:r>
              <a:rPr lang="en-US" sz="1800">
                <a:solidFill>
                  <a:srgbClr val="F1FA8C"/>
                </a:solidFill>
                <a:latin typeface="Courier New"/>
                <a:ea typeface="Courier New"/>
                <a:cs typeface="Courier New"/>
                <a:sym typeface="Courier New"/>
              </a:rPr>
              <a:t>'sin(x)'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plt.title( </a:t>
            </a:r>
            <a:r>
              <a:rPr lang="en-US" sz="1800">
                <a:solidFill>
                  <a:srgbClr val="F1FA8C"/>
                </a:solidFill>
                <a:latin typeface="Courier New"/>
                <a:ea typeface="Courier New"/>
                <a:cs typeface="Courier New"/>
                <a:sym typeface="Courier New"/>
              </a:rPr>
              <a:t>'Graphique Linéaire'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plt.legend()</a:t>
            </a:r>
          </a:p>
          <a:p>
            <a:pPr algn="l">
              <a:lnSpc>
                <a:spcPts val="2700"/>
              </a:lnSpc>
            </a:pPr>
            <a:r>
              <a:rPr lang="en-US" sz="1800">
                <a:solidFill>
                  <a:srgbClr val="000000"/>
                </a:solidFill>
                <a:latin typeface="Courier New"/>
                <a:ea typeface="Courier New"/>
                <a:cs typeface="Courier New"/>
                <a:sym typeface="Courier New"/>
              </a:rPr>
              <a:t>plt.grid( </a:t>
            </a:r>
            <a:r>
              <a:rPr lang="en-US" sz="1800">
                <a:solidFill>
                  <a:srgbClr val="FF9100"/>
                </a:solidFill>
                <a:latin typeface="Courier New"/>
                <a:ea typeface="Courier New"/>
                <a:cs typeface="Courier New"/>
                <a:sym typeface="Courier New"/>
              </a:rPr>
              <a:t>True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plt.show()</a:t>
            </a:r>
          </a:p>
        </p:txBody>
      </p:sp>
      <p:sp>
        <p:nvSpPr>
          <p:cNvPr name="TextBox 26" id="26"/>
          <p:cNvSpPr txBox="true"/>
          <p:nvPr/>
        </p:nvSpPr>
        <p:spPr>
          <a:xfrm rot="0">
            <a:off x="9972675" y="1485900"/>
            <a:ext cx="3808600"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Nuage de Points</a:t>
            </a:r>
          </a:p>
        </p:txBody>
      </p:sp>
      <p:sp>
        <p:nvSpPr>
          <p:cNvPr name="TextBox 27" id="27"/>
          <p:cNvSpPr txBox="true"/>
          <p:nvPr/>
        </p:nvSpPr>
        <p:spPr>
          <a:xfrm rot="0">
            <a:off x="9372600" y="1981200"/>
            <a:ext cx="8343900" cy="87630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Matplotlib offre une granularité de contrôle important pour la visualisation.</a:t>
            </a:r>
          </a:p>
        </p:txBody>
      </p:sp>
      <p:sp>
        <p:nvSpPr>
          <p:cNvPr name="TextBox 28" id="28"/>
          <p:cNvSpPr txBox="true"/>
          <p:nvPr/>
        </p:nvSpPr>
        <p:spPr>
          <a:xfrm rot="0">
            <a:off x="9544050" y="2905125"/>
            <a:ext cx="8343900" cy="4181475"/>
          </a:xfrm>
          <a:prstGeom prst="rect">
            <a:avLst/>
          </a:prstGeom>
        </p:spPr>
        <p:txBody>
          <a:bodyPr anchor="t" rtlCol="false" tIns="0" lIns="0" bIns="0" rIns="0">
            <a:spAutoFit/>
          </a:bodyPr>
          <a:lstStyle/>
          <a:p>
            <a:pPr algn="l">
              <a:lnSpc>
                <a:spcPts val="2700"/>
              </a:lnSpc>
            </a:pPr>
            <a:r>
              <a:rPr lang="en-US" sz="1800">
                <a:solidFill>
                  <a:srgbClr val="6272A4"/>
                </a:solidFill>
                <a:latin typeface="Courier New"/>
                <a:ea typeface="Courier New"/>
                <a:cs typeface="Courier New"/>
                <a:sym typeface="Courier New"/>
              </a:rPr>
              <a:t># Nuage de points</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000000"/>
                </a:solidFill>
                <a:latin typeface="Courier New"/>
                <a:ea typeface="Courier New"/>
                <a:cs typeface="Courier New"/>
                <a:sym typeface="Courier New"/>
              </a:rPr>
              <a:t>matplotlib.pyplot </a:t>
            </a:r>
            <a:r>
              <a:rPr lang="en-US" sz="1800">
                <a:solidFill>
                  <a:srgbClr val="FF9100"/>
                </a:solidFill>
                <a:latin typeface="Courier New"/>
                <a:ea typeface="Courier New"/>
                <a:cs typeface="Courier New"/>
                <a:sym typeface="Courier New"/>
              </a:rPr>
              <a:t>as </a:t>
            </a:r>
            <a:r>
              <a:rPr lang="en-US" sz="1800">
                <a:solidFill>
                  <a:srgbClr val="000000"/>
                </a:solidFill>
                <a:latin typeface="Courier New"/>
                <a:ea typeface="Courier New"/>
                <a:cs typeface="Courier New"/>
                <a:sym typeface="Courier New"/>
              </a:rPr>
              <a:t>plt</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000000"/>
                </a:solidFill>
                <a:latin typeface="Courier New"/>
                <a:ea typeface="Courier New"/>
                <a:cs typeface="Courier New"/>
                <a:sym typeface="Courier New"/>
              </a:rPr>
              <a:t>numpy </a:t>
            </a:r>
            <a:r>
              <a:rPr lang="en-US" sz="1800">
                <a:solidFill>
                  <a:srgbClr val="FF9100"/>
                </a:solidFill>
                <a:latin typeface="Courier New"/>
                <a:ea typeface="Courier New"/>
                <a:cs typeface="Courier New"/>
                <a:sym typeface="Courier New"/>
              </a:rPr>
              <a:t>as </a:t>
            </a:r>
            <a:r>
              <a:rPr lang="en-US" sz="1800">
                <a:solidFill>
                  <a:srgbClr val="000000"/>
                </a:solidFill>
                <a:latin typeface="Courier New"/>
                <a:ea typeface="Courier New"/>
                <a:cs typeface="Courier New"/>
                <a:sym typeface="Courier New"/>
              </a:rPr>
              <a:t>np</a:t>
            </a:r>
          </a:p>
          <a:p>
            <a:pPr algn="l">
              <a:lnSpc>
                <a:spcPts val="2700"/>
              </a:lnSpc>
            </a:pPr>
            <a:r>
              <a:rPr lang="en-US" sz="1800">
                <a:solidFill>
                  <a:srgbClr val="000000"/>
                </a:solidFill>
                <a:latin typeface="Courier New"/>
                <a:ea typeface="Courier New"/>
                <a:cs typeface="Courier New"/>
                <a:sym typeface="Courier New"/>
              </a:rPr>
              <a:t>np.random.seed( </a:t>
            </a:r>
            <a:r>
              <a:rPr lang="en-US" sz="1800">
                <a:solidFill>
                  <a:srgbClr val="FF9100"/>
                </a:solidFill>
                <a:latin typeface="Courier New"/>
                <a:ea typeface="Courier New"/>
                <a:cs typeface="Courier New"/>
                <a:sym typeface="Courier New"/>
              </a:rPr>
              <a:t>42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x_scatter = np.random.rand( </a:t>
            </a:r>
            <a:r>
              <a:rPr lang="en-US" sz="1800">
                <a:solidFill>
                  <a:srgbClr val="FF9100"/>
                </a:solidFill>
                <a:latin typeface="Courier New"/>
                <a:ea typeface="Courier New"/>
                <a:cs typeface="Courier New"/>
                <a:sym typeface="Courier New"/>
              </a:rPr>
              <a:t>50 </a:t>
            </a:r>
            <a:r>
              <a:rPr lang="en-US" sz="1800">
                <a:solidFill>
                  <a:srgbClr val="000000"/>
                </a:solidFill>
                <a:latin typeface="Courier New"/>
                <a:ea typeface="Courier New"/>
                <a:cs typeface="Courier New"/>
                <a:sym typeface="Courier New"/>
              </a:rPr>
              <a:t>) * </a:t>
            </a:r>
            <a:r>
              <a:rPr lang="en-US" sz="1800">
                <a:solidFill>
                  <a:srgbClr val="FF9100"/>
                </a:solidFill>
                <a:latin typeface="Courier New"/>
                <a:ea typeface="Courier New"/>
                <a:cs typeface="Courier New"/>
                <a:sym typeface="Courier New"/>
              </a:rPr>
              <a:t>10</a:t>
            </a:r>
          </a:p>
          <a:p>
            <a:pPr algn="l">
              <a:lnSpc>
                <a:spcPts val="2700"/>
              </a:lnSpc>
            </a:pPr>
            <a:r>
              <a:rPr lang="en-US" sz="1800">
                <a:solidFill>
                  <a:srgbClr val="000000"/>
                </a:solidFill>
                <a:latin typeface="Courier New"/>
                <a:ea typeface="Courier New"/>
                <a:cs typeface="Courier New"/>
                <a:sym typeface="Courier New"/>
              </a:rPr>
              <a:t>y_scatter = np.random.rand( </a:t>
            </a:r>
            <a:r>
              <a:rPr lang="en-US" sz="1800">
                <a:solidFill>
                  <a:srgbClr val="FF9100"/>
                </a:solidFill>
                <a:latin typeface="Courier New"/>
                <a:ea typeface="Courier New"/>
                <a:cs typeface="Courier New"/>
                <a:sym typeface="Courier New"/>
              </a:rPr>
              <a:t>50 </a:t>
            </a:r>
            <a:r>
              <a:rPr lang="en-US" sz="1800">
                <a:solidFill>
                  <a:srgbClr val="000000"/>
                </a:solidFill>
                <a:latin typeface="Courier New"/>
                <a:ea typeface="Courier New"/>
                <a:cs typeface="Courier New"/>
                <a:sym typeface="Courier New"/>
              </a:rPr>
              <a:t>) * </a:t>
            </a:r>
            <a:r>
              <a:rPr lang="en-US" sz="1800">
                <a:solidFill>
                  <a:srgbClr val="FF9100"/>
                </a:solidFill>
                <a:latin typeface="Courier New"/>
                <a:ea typeface="Courier New"/>
                <a:cs typeface="Courier New"/>
                <a:sym typeface="Courier New"/>
              </a:rPr>
              <a:t>10</a:t>
            </a:r>
          </a:p>
          <a:p>
            <a:pPr algn="l">
              <a:lnSpc>
                <a:spcPts val="2700"/>
              </a:lnSpc>
            </a:pPr>
            <a:r>
              <a:rPr lang="en-US" sz="1800">
                <a:solidFill>
                  <a:srgbClr val="000000"/>
                </a:solidFill>
                <a:latin typeface="Courier New"/>
                <a:ea typeface="Courier New"/>
                <a:cs typeface="Courier New"/>
                <a:sym typeface="Courier New"/>
              </a:rPr>
              <a:t>plt.scatter(x_scatter, y_scatter, color= </a:t>
            </a:r>
            <a:r>
              <a:rPr lang="en-US" sz="1800">
                <a:solidFill>
                  <a:srgbClr val="F1FA8C"/>
                </a:solidFill>
                <a:latin typeface="Courier New"/>
                <a:ea typeface="Courier New"/>
                <a:cs typeface="Courier New"/>
                <a:sym typeface="Courier New"/>
              </a:rPr>
              <a:t>'red' </a:t>
            </a:r>
            <a:r>
              <a:rPr lang="en-US" sz="1800">
                <a:solidFill>
                  <a:srgbClr val="000000"/>
                </a:solidFill>
                <a:latin typeface="Courier New"/>
                <a:ea typeface="Courier New"/>
                <a:cs typeface="Courier New"/>
                <a:sym typeface="Courier New"/>
              </a:rPr>
              <a:t>, alpha= </a:t>
            </a:r>
            <a:r>
              <a:rPr lang="en-US" sz="1800">
                <a:solidFill>
                  <a:srgbClr val="FF9100"/>
                </a:solidFill>
                <a:latin typeface="Courier New"/>
                <a:ea typeface="Courier New"/>
                <a:cs typeface="Courier New"/>
                <a:sym typeface="Courier New"/>
              </a:rPr>
              <a:t>0.7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plt.title( </a:t>
            </a:r>
            <a:r>
              <a:rPr lang="en-US" sz="1800">
                <a:solidFill>
                  <a:srgbClr val="F1FA8C"/>
                </a:solidFill>
                <a:latin typeface="Courier New"/>
                <a:ea typeface="Courier New"/>
                <a:cs typeface="Courier New"/>
                <a:sym typeface="Courier New"/>
              </a:rPr>
              <a:t>'Nuage de Points'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plt.grid( </a:t>
            </a:r>
            <a:r>
              <a:rPr lang="en-US" sz="1800">
                <a:solidFill>
                  <a:srgbClr val="FF9100"/>
                </a:solidFill>
                <a:latin typeface="Courier New"/>
                <a:ea typeface="Courier New"/>
                <a:cs typeface="Courier New"/>
                <a:sym typeface="Courier New"/>
              </a:rPr>
              <a:t>True </a:t>
            </a:r>
            <a:r>
              <a:rPr lang="en-US" sz="1800">
                <a:solidFill>
                  <a:srgbClr val="000000"/>
                </a:solidFill>
                <a:latin typeface="Courier New"/>
                <a:ea typeface="Courier New"/>
                <a:cs typeface="Courier New"/>
                <a:sym typeface="Courier New"/>
              </a:rPr>
              <a:t>)</a:t>
            </a:r>
          </a:p>
          <a:p>
            <a:pPr algn="l">
              <a:lnSpc>
                <a:spcPts val="2700"/>
              </a:lnSpc>
            </a:pPr>
            <a:r>
              <a:rPr lang="en-US" sz="1800">
                <a:solidFill>
                  <a:srgbClr val="000000"/>
                </a:solidFill>
                <a:latin typeface="Courier New"/>
                <a:ea typeface="Courier New"/>
                <a:cs typeface="Courier New"/>
                <a:sym typeface="Courier New"/>
              </a:rPr>
              <a:t>plt.show()</a:t>
            </a:r>
          </a:p>
        </p:txBody>
      </p:sp>
      <p:sp>
        <p:nvSpPr>
          <p:cNvPr name="TextBox 29" id="29"/>
          <p:cNvSpPr txBox="true"/>
          <p:nvPr/>
        </p:nvSpPr>
        <p:spPr>
          <a:xfrm rot="0">
            <a:off x="971550" y="9553575"/>
            <a:ext cx="5369064"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Matplotlib est la base pour Seaborn et Plotly.</a:t>
            </a:r>
          </a:p>
        </p:txBody>
      </p:sp>
      <p:sp>
        <p:nvSpPr>
          <p:cNvPr name="TextBox 30" id="30"/>
          <p:cNvSpPr txBox="true"/>
          <p:nvPr/>
        </p:nvSpPr>
        <p:spPr>
          <a:xfrm rot="0">
            <a:off x="16219215" y="9553575"/>
            <a:ext cx="1796742"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11 sur 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1372850"/>
            <a:chOff x="0" y="0"/>
            <a:chExt cx="24384000" cy="15163800"/>
          </a:xfrm>
        </p:grpSpPr>
        <p:sp>
          <p:nvSpPr>
            <p:cNvPr name="Freeform 3" id="3" descr="preencoded.png"/>
            <p:cNvSpPr/>
            <p:nvPr/>
          </p:nvSpPr>
          <p:spPr>
            <a:xfrm flipH="false" flipV="false" rot="0">
              <a:off x="0" y="0"/>
              <a:ext cx="24384000" cy="15163800"/>
            </a:xfrm>
            <a:custGeom>
              <a:avLst/>
              <a:gdLst/>
              <a:ahLst/>
              <a:cxnLst/>
              <a:rect r="r" b="b" t="t" l="l"/>
              <a:pathLst>
                <a:path h="15163800" w="24384000">
                  <a:moveTo>
                    <a:pt x="0" y="0"/>
                  </a:moveTo>
                  <a:lnTo>
                    <a:pt x="24384000" y="0"/>
                  </a:lnTo>
                  <a:lnTo>
                    <a:pt x="24384000" y="15163800"/>
                  </a:lnTo>
                  <a:lnTo>
                    <a:pt x="0" y="15163800"/>
                  </a:lnTo>
                  <a:lnTo>
                    <a:pt x="0" y="0"/>
                  </a:lnTo>
                  <a:close/>
                </a:path>
              </a:pathLst>
            </a:custGeom>
            <a:blipFill>
              <a:blip r:embed="rId3"/>
              <a:stretch>
                <a:fillRect l="0" t="-125" r="0" b="-125"/>
              </a:stretch>
            </a:blipFill>
          </p:spPr>
        </p:sp>
      </p:grpSp>
      <p:grpSp>
        <p:nvGrpSpPr>
          <p:cNvPr name="Group 4" id="4"/>
          <p:cNvGrpSpPr>
            <a:grpSpLocks noChangeAspect="true"/>
          </p:cNvGrpSpPr>
          <p:nvPr/>
        </p:nvGrpSpPr>
        <p:grpSpPr>
          <a:xfrm rot="0">
            <a:off x="685800" y="2286000"/>
            <a:ext cx="257175" cy="257175"/>
            <a:chOff x="0" y="0"/>
            <a:chExt cx="342900" cy="342900"/>
          </a:xfrm>
        </p:grpSpPr>
        <p:sp>
          <p:nvSpPr>
            <p:cNvPr name="Freeform 5" id="5"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685800" y="2743200"/>
            <a:ext cx="257175" cy="257175"/>
            <a:chOff x="0" y="0"/>
            <a:chExt cx="342900" cy="342900"/>
          </a:xfrm>
        </p:grpSpPr>
        <p:sp>
          <p:nvSpPr>
            <p:cNvPr name="Freeform 7" id="7"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4"/>
              <a:stretch>
                <a:fillRect l="0" t="0" r="0" b="0"/>
              </a:stretch>
            </a:blipFill>
          </p:spPr>
        </p:sp>
      </p:grpSp>
      <p:grpSp>
        <p:nvGrpSpPr>
          <p:cNvPr name="Group 8" id="8"/>
          <p:cNvGrpSpPr>
            <a:grpSpLocks noChangeAspect="true"/>
          </p:cNvGrpSpPr>
          <p:nvPr/>
        </p:nvGrpSpPr>
        <p:grpSpPr>
          <a:xfrm rot="0">
            <a:off x="685800" y="3200400"/>
            <a:ext cx="8229600" cy="2343150"/>
            <a:chOff x="0" y="0"/>
            <a:chExt cx="10972800" cy="3124200"/>
          </a:xfrm>
        </p:grpSpPr>
        <p:sp>
          <p:nvSpPr>
            <p:cNvPr name="Freeform 9" id="9" descr="preencoded.png"/>
            <p:cNvSpPr/>
            <p:nvPr/>
          </p:nvSpPr>
          <p:spPr>
            <a:xfrm flipH="false" flipV="false" rot="0">
              <a:off x="0" y="0"/>
              <a:ext cx="10972800" cy="3124200"/>
            </a:xfrm>
            <a:custGeom>
              <a:avLst/>
              <a:gdLst/>
              <a:ahLst/>
              <a:cxnLst/>
              <a:rect r="r" b="b" t="t" l="l"/>
              <a:pathLst>
                <a:path h="3124200" w="10972800">
                  <a:moveTo>
                    <a:pt x="0" y="0"/>
                  </a:moveTo>
                  <a:lnTo>
                    <a:pt x="10972800" y="0"/>
                  </a:lnTo>
                  <a:lnTo>
                    <a:pt x="10972800" y="3124200"/>
                  </a:lnTo>
                  <a:lnTo>
                    <a:pt x="0" y="3124200"/>
                  </a:lnTo>
                  <a:lnTo>
                    <a:pt x="0" y="0"/>
                  </a:lnTo>
                  <a:close/>
                </a:path>
              </a:pathLst>
            </a:custGeom>
            <a:blipFill>
              <a:blip r:embed="rId5"/>
              <a:stretch>
                <a:fillRect l="0" t="0" r="0" b="0"/>
              </a:stretch>
            </a:blipFill>
          </p:spPr>
        </p:sp>
      </p:grpSp>
      <p:grpSp>
        <p:nvGrpSpPr>
          <p:cNvPr name="Group 10" id="10"/>
          <p:cNvGrpSpPr>
            <a:grpSpLocks noChangeAspect="true"/>
          </p:cNvGrpSpPr>
          <p:nvPr/>
        </p:nvGrpSpPr>
        <p:grpSpPr>
          <a:xfrm rot="0">
            <a:off x="685800" y="5715000"/>
            <a:ext cx="5429250" cy="2714625"/>
            <a:chOff x="0" y="0"/>
            <a:chExt cx="7239000" cy="3619500"/>
          </a:xfrm>
        </p:grpSpPr>
        <p:sp>
          <p:nvSpPr>
            <p:cNvPr name="Freeform 11" id="11" descr="preencoded.png"/>
            <p:cNvSpPr/>
            <p:nvPr/>
          </p:nvSpPr>
          <p:spPr>
            <a:xfrm flipH="false" flipV="false" rot="0">
              <a:off x="0" y="0"/>
              <a:ext cx="7239000" cy="3619500"/>
            </a:xfrm>
            <a:custGeom>
              <a:avLst/>
              <a:gdLst/>
              <a:ahLst/>
              <a:cxnLst/>
              <a:rect r="r" b="b" t="t" l="l"/>
              <a:pathLst>
                <a:path h="3619500" w="7239000">
                  <a:moveTo>
                    <a:pt x="0" y="0"/>
                  </a:moveTo>
                  <a:lnTo>
                    <a:pt x="7239000" y="0"/>
                  </a:lnTo>
                  <a:lnTo>
                    <a:pt x="7239000" y="3619500"/>
                  </a:lnTo>
                  <a:lnTo>
                    <a:pt x="0" y="3619500"/>
                  </a:lnTo>
                  <a:lnTo>
                    <a:pt x="0" y="0"/>
                  </a:lnTo>
                  <a:close/>
                </a:path>
              </a:pathLst>
            </a:custGeom>
            <a:blipFill>
              <a:blip r:embed="rId6"/>
              <a:stretch>
                <a:fillRect l="0" t="0" r="0" b="0"/>
              </a:stretch>
            </a:blipFill>
          </p:spPr>
        </p:sp>
      </p:grpSp>
      <p:grpSp>
        <p:nvGrpSpPr>
          <p:cNvPr name="Group 12" id="12"/>
          <p:cNvGrpSpPr>
            <a:grpSpLocks noChangeAspect="true"/>
          </p:cNvGrpSpPr>
          <p:nvPr/>
        </p:nvGrpSpPr>
        <p:grpSpPr>
          <a:xfrm rot="0">
            <a:off x="9372600" y="1657350"/>
            <a:ext cx="428625" cy="514350"/>
            <a:chOff x="0" y="0"/>
            <a:chExt cx="571500" cy="685800"/>
          </a:xfrm>
        </p:grpSpPr>
        <p:sp>
          <p:nvSpPr>
            <p:cNvPr name="Freeform 13" id="13" descr="preencoded.png"/>
            <p:cNvSpPr/>
            <p:nvPr/>
          </p:nvSpPr>
          <p:spPr>
            <a:xfrm flipH="false" flipV="false" rot="0">
              <a:off x="0" y="0"/>
              <a:ext cx="571500" cy="685800"/>
            </a:xfrm>
            <a:custGeom>
              <a:avLst/>
              <a:gdLst/>
              <a:ahLst/>
              <a:cxnLst/>
              <a:rect r="r" b="b" t="t" l="l"/>
              <a:pathLst>
                <a:path h="685800" w="571500">
                  <a:moveTo>
                    <a:pt x="0" y="0"/>
                  </a:moveTo>
                  <a:lnTo>
                    <a:pt x="571500" y="0"/>
                  </a:lnTo>
                  <a:lnTo>
                    <a:pt x="571500" y="685800"/>
                  </a:lnTo>
                  <a:lnTo>
                    <a:pt x="0" y="6858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9372600" y="2343150"/>
            <a:ext cx="257175" cy="257175"/>
            <a:chOff x="0" y="0"/>
            <a:chExt cx="342900" cy="342900"/>
          </a:xfrm>
        </p:grpSpPr>
        <p:sp>
          <p:nvSpPr>
            <p:cNvPr name="Freeform 15" id="15"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4"/>
              <a:stretch>
                <a:fillRect l="0" t="0" r="0" b="0"/>
              </a:stretch>
            </a:blipFill>
          </p:spPr>
        </p:sp>
      </p:grpSp>
      <p:grpSp>
        <p:nvGrpSpPr>
          <p:cNvPr name="Group 16" id="16"/>
          <p:cNvGrpSpPr>
            <a:grpSpLocks noChangeAspect="true"/>
          </p:cNvGrpSpPr>
          <p:nvPr/>
        </p:nvGrpSpPr>
        <p:grpSpPr>
          <a:xfrm rot="0">
            <a:off x="9372600" y="2800350"/>
            <a:ext cx="257175" cy="257175"/>
            <a:chOff x="0" y="0"/>
            <a:chExt cx="342900" cy="342900"/>
          </a:xfrm>
        </p:grpSpPr>
        <p:sp>
          <p:nvSpPr>
            <p:cNvPr name="Freeform 17" id="17" descr="preencoded.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4"/>
              <a:stretch>
                <a:fillRect l="0" t="0" r="0" b="0"/>
              </a:stretch>
            </a:blipFill>
          </p:spPr>
        </p:sp>
      </p:grpSp>
      <p:grpSp>
        <p:nvGrpSpPr>
          <p:cNvPr name="Group 18" id="18"/>
          <p:cNvGrpSpPr>
            <a:grpSpLocks noChangeAspect="true"/>
          </p:cNvGrpSpPr>
          <p:nvPr/>
        </p:nvGrpSpPr>
        <p:grpSpPr>
          <a:xfrm rot="0">
            <a:off x="9372600" y="3257550"/>
            <a:ext cx="8229600" cy="3714750"/>
            <a:chOff x="0" y="0"/>
            <a:chExt cx="10972800" cy="4953000"/>
          </a:xfrm>
        </p:grpSpPr>
        <p:sp>
          <p:nvSpPr>
            <p:cNvPr name="Freeform 19" id="19" descr="preencoded.png"/>
            <p:cNvSpPr/>
            <p:nvPr/>
          </p:nvSpPr>
          <p:spPr>
            <a:xfrm flipH="false" flipV="false" rot="0">
              <a:off x="0" y="0"/>
              <a:ext cx="10972800" cy="4953000"/>
            </a:xfrm>
            <a:custGeom>
              <a:avLst/>
              <a:gdLst/>
              <a:ahLst/>
              <a:cxnLst/>
              <a:rect r="r" b="b" t="t" l="l"/>
              <a:pathLst>
                <a:path h="4953000" w="10972800">
                  <a:moveTo>
                    <a:pt x="0" y="0"/>
                  </a:moveTo>
                  <a:lnTo>
                    <a:pt x="10972800" y="0"/>
                  </a:lnTo>
                  <a:lnTo>
                    <a:pt x="10972800" y="4953000"/>
                  </a:lnTo>
                  <a:lnTo>
                    <a:pt x="0" y="4953000"/>
                  </a:lnTo>
                  <a:lnTo>
                    <a:pt x="0" y="0"/>
                  </a:lnTo>
                  <a:close/>
                </a:path>
              </a:pathLst>
            </a:custGeom>
            <a:blipFill>
              <a:blip r:embed="rId8"/>
              <a:stretch>
                <a:fillRect l="0" t="0" r="0" b="0"/>
              </a:stretch>
            </a:blipFill>
          </p:spPr>
        </p:sp>
      </p:grpSp>
      <p:grpSp>
        <p:nvGrpSpPr>
          <p:cNvPr name="Group 20" id="20"/>
          <p:cNvGrpSpPr>
            <a:grpSpLocks noChangeAspect="true"/>
          </p:cNvGrpSpPr>
          <p:nvPr/>
        </p:nvGrpSpPr>
        <p:grpSpPr>
          <a:xfrm rot="0">
            <a:off x="9372600" y="7143750"/>
            <a:ext cx="8229600" cy="3028950"/>
            <a:chOff x="0" y="0"/>
            <a:chExt cx="10972800" cy="4038600"/>
          </a:xfrm>
        </p:grpSpPr>
        <p:sp>
          <p:nvSpPr>
            <p:cNvPr name="Freeform 21" id="21" descr="preencoded.png"/>
            <p:cNvSpPr/>
            <p:nvPr/>
          </p:nvSpPr>
          <p:spPr>
            <a:xfrm flipH="false" flipV="false" rot="0">
              <a:off x="0" y="0"/>
              <a:ext cx="10972800" cy="4038600"/>
            </a:xfrm>
            <a:custGeom>
              <a:avLst/>
              <a:gdLst/>
              <a:ahLst/>
              <a:cxnLst/>
              <a:rect r="r" b="b" t="t" l="l"/>
              <a:pathLst>
                <a:path h="4038600" w="10972800">
                  <a:moveTo>
                    <a:pt x="0" y="0"/>
                  </a:moveTo>
                  <a:lnTo>
                    <a:pt x="10972800" y="0"/>
                  </a:lnTo>
                  <a:lnTo>
                    <a:pt x="10972800" y="4038600"/>
                  </a:lnTo>
                  <a:lnTo>
                    <a:pt x="0" y="4038600"/>
                  </a:lnTo>
                  <a:lnTo>
                    <a:pt x="0" y="0"/>
                  </a:lnTo>
                  <a:close/>
                </a:path>
              </a:pathLst>
            </a:custGeom>
            <a:blipFill>
              <a:blip r:embed="rId9"/>
              <a:stretch>
                <a:fillRect l="0" t="-471" r="0" b="-471"/>
              </a:stretch>
            </a:blipFill>
          </p:spPr>
        </p:sp>
      </p:grpSp>
      <p:grpSp>
        <p:nvGrpSpPr>
          <p:cNvPr name="Group 22" id="22"/>
          <p:cNvGrpSpPr>
            <a:grpSpLocks noChangeAspect="true"/>
          </p:cNvGrpSpPr>
          <p:nvPr/>
        </p:nvGrpSpPr>
        <p:grpSpPr>
          <a:xfrm rot="0">
            <a:off x="9544050" y="7715250"/>
            <a:ext cx="5715000" cy="2000250"/>
            <a:chOff x="0" y="0"/>
            <a:chExt cx="7620000" cy="2667000"/>
          </a:xfrm>
        </p:grpSpPr>
        <p:sp>
          <p:nvSpPr>
            <p:cNvPr name="Freeform 23" id="23" descr="preencoded.png"/>
            <p:cNvSpPr/>
            <p:nvPr/>
          </p:nvSpPr>
          <p:spPr>
            <a:xfrm flipH="false" flipV="false" rot="0">
              <a:off x="0" y="0"/>
              <a:ext cx="7620000" cy="2667000"/>
            </a:xfrm>
            <a:custGeom>
              <a:avLst/>
              <a:gdLst/>
              <a:ahLst/>
              <a:cxnLst/>
              <a:rect r="r" b="b" t="t" l="l"/>
              <a:pathLst>
                <a:path h="2667000" w="7620000">
                  <a:moveTo>
                    <a:pt x="0" y="0"/>
                  </a:moveTo>
                  <a:lnTo>
                    <a:pt x="7620000" y="0"/>
                  </a:lnTo>
                  <a:lnTo>
                    <a:pt x="7620000" y="2667000"/>
                  </a:lnTo>
                  <a:lnTo>
                    <a:pt x="0" y="2667000"/>
                  </a:lnTo>
                  <a:lnTo>
                    <a:pt x="0" y="0"/>
                  </a:lnTo>
                  <a:close/>
                </a:path>
              </a:pathLst>
            </a:custGeom>
            <a:blipFill>
              <a:blip r:embed="rId10"/>
              <a:stretch>
                <a:fillRect l="0" t="0" r="0" b="0"/>
              </a:stretch>
            </a:blipFill>
          </p:spPr>
        </p:sp>
      </p:grpSp>
      <p:sp>
        <p:nvSpPr>
          <p:cNvPr name="TextBox 24" id="24"/>
          <p:cNvSpPr txBox="true"/>
          <p:nvPr/>
        </p:nvSpPr>
        <p:spPr>
          <a:xfrm rot="0">
            <a:off x="685800" y="695325"/>
            <a:ext cx="169164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Visualisations Avancées</a:t>
            </a:r>
          </a:p>
        </p:txBody>
      </p:sp>
      <p:sp>
        <p:nvSpPr>
          <p:cNvPr name="TextBox 25" id="25"/>
          <p:cNvSpPr txBox="true"/>
          <p:nvPr/>
        </p:nvSpPr>
        <p:spPr>
          <a:xfrm rot="0">
            <a:off x="857250" y="1600200"/>
            <a:ext cx="4721037"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Seaborn : Heatmaps</a:t>
            </a:r>
          </a:p>
        </p:txBody>
      </p:sp>
      <p:sp>
        <p:nvSpPr>
          <p:cNvPr name="TextBox 26" id="26"/>
          <p:cNvSpPr txBox="true"/>
          <p:nvPr/>
        </p:nvSpPr>
        <p:spPr>
          <a:xfrm rot="0">
            <a:off x="1057275" y="2152650"/>
            <a:ext cx="5809208"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Bibliothèque construite sur Matplotlib</a:t>
            </a:r>
          </a:p>
        </p:txBody>
      </p:sp>
      <p:sp>
        <p:nvSpPr>
          <p:cNvPr name="TextBox 27" id="27"/>
          <p:cNvSpPr txBox="true"/>
          <p:nvPr/>
        </p:nvSpPr>
        <p:spPr>
          <a:xfrm rot="0">
            <a:off x="1057275" y="2609850"/>
            <a:ext cx="5898416"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Visualisations statistiques esthétiques</a:t>
            </a:r>
          </a:p>
        </p:txBody>
      </p:sp>
      <p:sp>
        <p:nvSpPr>
          <p:cNvPr name="TextBox 28" id="28"/>
          <p:cNvSpPr txBox="true"/>
          <p:nvPr/>
        </p:nvSpPr>
        <p:spPr>
          <a:xfrm rot="0">
            <a:off x="828675" y="3133725"/>
            <a:ext cx="8229600" cy="2409825"/>
          </a:xfrm>
          <a:prstGeom prst="rect">
            <a:avLst/>
          </a:prstGeom>
        </p:spPr>
        <p:txBody>
          <a:bodyPr anchor="t" rtlCol="false" tIns="0" lIns="0" bIns="0" rIns="0">
            <a:spAutoFit/>
          </a:bodyPr>
          <a:lstStyle/>
          <a:p>
            <a:pPr algn="l">
              <a:lnSpc>
                <a:spcPts val="2700"/>
              </a:lnSpc>
            </a:pPr>
            <a:r>
              <a:rPr lang="en-US" sz="1800">
                <a:solidFill>
                  <a:srgbClr val="6272A4"/>
                </a:solidFill>
                <a:latin typeface="Courier New"/>
                <a:ea typeface="Courier New"/>
                <a:cs typeface="Courier New"/>
                <a:sym typeface="Courier New"/>
              </a:rPr>
              <a:t># Exemple de heatmap de corrélation</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F8F8F2"/>
                </a:solidFill>
                <a:latin typeface="Courier New"/>
                <a:ea typeface="Courier New"/>
                <a:cs typeface="Courier New"/>
                <a:sym typeface="Courier New"/>
              </a:rPr>
              <a:t>seaborn </a:t>
            </a:r>
            <a:r>
              <a:rPr lang="en-US" sz="1800">
                <a:solidFill>
                  <a:srgbClr val="FF9100"/>
                </a:solidFill>
                <a:latin typeface="Courier New"/>
                <a:ea typeface="Courier New"/>
                <a:cs typeface="Courier New"/>
                <a:sym typeface="Courier New"/>
              </a:rPr>
              <a:t>as </a:t>
            </a:r>
            <a:r>
              <a:rPr lang="en-US" sz="1800">
                <a:solidFill>
                  <a:srgbClr val="F8F8F2"/>
                </a:solidFill>
                <a:latin typeface="Courier New"/>
                <a:ea typeface="Courier New"/>
                <a:cs typeface="Courier New"/>
                <a:sym typeface="Courier New"/>
              </a:rPr>
              <a:t>sns</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F8F8F2"/>
                </a:solidFill>
                <a:latin typeface="Courier New"/>
                <a:ea typeface="Courier New"/>
                <a:cs typeface="Courier New"/>
                <a:sym typeface="Courier New"/>
              </a:rPr>
              <a:t>pandas </a:t>
            </a:r>
            <a:r>
              <a:rPr lang="en-US" sz="1800">
                <a:solidFill>
                  <a:srgbClr val="FF9100"/>
                </a:solidFill>
                <a:latin typeface="Courier New"/>
                <a:ea typeface="Courier New"/>
                <a:cs typeface="Courier New"/>
                <a:sym typeface="Courier New"/>
              </a:rPr>
              <a:t>as </a:t>
            </a:r>
            <a:r>
              <a:rPr lang="en-US" sz="1800">
                <a:solidFill>
                  <a:srgbClr val="F8F8F2"/>
                </a:solidFill>
                <a:latin typeface="Courier New"/>
                <a:ea typeface="Courier New"/>
                <a:cs typeface="Courier New"/>
                <a:sym typeface="Courier New"/>
              </a:rPr>
              <a:t>pd</a:t>
            </a:r>
          </a:p>
          <a:p>
            <a:pPr algn="l">
              <a:lnSpc>
                <a:spcPts val="2700"/>
              </a:lnSpc>
            </a:pPr>
            <a:r>
              <a:rPr lang="en-US" sz="1800">
                <a:solidFill>
                  <a:srgbClr val="F8F8F2"/>
                </a:solidFill>
                <a:latin typeface="Courier New"/>
                <a:ea typeface="Courier New"/>
                <a:cs typeface="Courier New"/>
                <a:sym typeface="Courier New"/>
              </a:rPr>
              <a:t>correlation_matrix = df.corr()</a:t>
            </a:r>
          </a:p>
          <a:p>
            <a:pPr algn="l">
              <a:lnSpc>
                <a:spcPts val="2700"/>
              </a:lnSpc>
            </a:pPr>
            <a:r>
              <a:rPr lang="en-US" sz="1800">
                <a:solidFill>
                  <a:srgbClr val="F8F8F2"/>
                </a:solidFill>
                <a:latin typeface="Courier New"/>
                <a:ea typeface="Courier New"/>
                <a:cs typeface="Courier New"/>
                <a:sym typeface="Courier New"/>
              </a:rPr>
              <a:t>sns.heatmap(correlation_matrix, annot= </a:t>
            </a:r>
            <a:r>
              <a:rPr lang="en-US" sz="1800">
                <a:solidFill>
                  <a:srgbClr val="FF9100"/>
                </a:solidFill>
                <a:latin typeface="Courier New"/>
                <a:ea typeface="Courier New"/>
                <a:cs typeface="Courier New"/>
                <a:sym typeface="Courier New"/>
              </a:rPr>
              <a:t>True </a:t>
            </a:r>
            <a:r>
              <a:rPr lang="en-US" sz="1800">
                <a:solidFill>
                  <a:srgbClr val="F8F8F2"/>
                </a:solidFill>
                <a:latin typeface="Courier New"/>
                <a:ea typeface="Courier New"/>
                <a:cs typeface="Courier New"/>
                <a:sym typeface="Courier New"/>
              </a:rPr>
              <a:t>, cmap= </a:t>
            </a:r>
            <a:r>
              <a:rPr lang="en-US" sz="1800">
                <a:solidFill>
                  <a:srgbClr val="F1FA8C"/>
                </a:solidFill>
                <a:latin typeface="Courier New"/>
                <a:ea typeface="Courier New"/>
                <a:cs typeface="Courier New"/>
                <a:sym typeface="Courier New"/>
              </a:rPr>
              <a:t>'coolwarm' </a:t>
            </a:r>
            <a:r>
              <a:rPr lang="en-US" sz="1800">
                <a:solidFill>
                  <a:srgbClr val="F8F8F2"/>
                </a:solidFill>
                <a:latin typeface="Courier New"/>
                <a:ea typeface="Courier New"/>
                <a:cs typeface="Courier New"/>
                <a:sym typeface="Courier New"/>
              </a:rPr>
              <a:t>)</a:t>
            </a:r>
          </a:p>
        </p:txBody>
      </p:sp>
      <p:sp>
        <p:nvSpPr>
          <p:cNvPr name="TextBox 29" id="29"/>
          <p:cNvSpPr txBox="true"/>
          <p:nvPr/>
        </p:nvSpPr>
        <p:spPr>
          <a:xfrm rot="0">
            <a:off x="9972675" y="1628775"/>
            <a:ext cx="6991945" cy="514350"/>
          </a:xfrm>
          <a:prstGeom prst="rect">
            <a:avLst/>
          </a:prstGeom>
        </p:spPr>
        <p:txBody>
          <a:bodyPr anchor="t" rtlCol="false" tIns="0" lIns="0" bIns="0" rIns="0">
            <a:spAutoFit/>
          </a:bodyPr>
          <a:lstStyle/>
          <a:p>
            <a:pPr algn="l">
              <a:lnSpc>
                <a:spcPts val="3600"/>
              </a:lnSpc>
            </a:pPr>
            <a:r>
              <a:rPr lang="en-US" sz="2700" b="true">
                <a:solidFill>
                  <a:srgbClr val="000000"/>
                </a:solidFill>
                <a:latin typeface="Arimo Bold"/>
                <a:ea typeface="Arimo Bold"/>
                <a:cs typeface="Arimo Bold"/>
                <a:sym typeface="Arimo Bold"/>
              </a:rPr>
              <a:t>Plotly : Graphiques Interactifs</a:t>
            </a:r>
          </a:p>
        </p:txBody>
      </p:sp>
      <p:sp>
        <p:nvSpPr>
          <p:cNvPr name="TextBox 30" id="30"/>
          <p:cNvSpPr txBox="true"/>
          <p:nvPr/>
        </p:nvSpPr>
        <p:spPr>
          <a:xfrm rot="0">
            <a:off x="9744075" y="2209800"/>
            <a:ext cx="6849427"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Bibliothèque pour visualizations interactives</a:t>
            </a:r>
          </a:p>
        </p:txBody>
      </p:sp>
      <p:sp>
        <p:nvSpPr>
          <p:cNvPr name="TextBox 31" id="31"/>
          <p:cNvSpPr txBox="true"/>
          <p:nvPr/>
        </p:nvSpPr>
        <p:spPr>
          <a:xfrm rot="0">
            <a:off x="9744075" y="2667000"/>
            <a:ext cx="5823675" cy="476250"/>
          </a:xfrm>
          <a:prstGeom prst="rect">
            <a:avLst/>
          </a:prstGeom>
        </p:spPr>
        <p:txBody>
          <a:bodyPr anchor="t" rtlCol="false" tIns="0" lIns="0" bIns="0" rIns="0">
            <a:spAutoFit/>
          </a:bodyPr>
          <a:lstStyle/>
          <a:p>
            <a:pPr algn="l">
              <a:lnSpc>
                <a:spcPts val="3150"/>
              </a:lnSpc>
            </a:pPr>
            <a:r>
              <a:rPr lang="en-US" sz="2025">
                <a:solidFill>
                  <a:srgbClr val="000000"/>
                </a:solidFill>
                <a:latin typeface="Arimo"/>
                <a:ea typeface="Arimo"/>
                <a:cs typeface="Arimo"/>
                <a:sym typeface="Arimo"/>
              </a:rPr>
              <a:t>Capacités 3D et interactivité avancée</a:t>
            </a:r>
          </a:p>
        </p:txBody>
      </p:sp>
      <p:sp>
        <p:nvSpPr>
          <p:cNvPr name="TextBox 32" id="32"/>
          <p:cNvSpPr txBox="true"/>
          <p:nvPr/>
        </p:nvSpPr>
        <p:spPr>
          <a:xfrm rot="0">
            <a:off x="9515475" y="3190875"/>
            <a:ext cx="8229600" cy="3781425"/>
          </a:xfrm>
          <a:prstGeom prst="rect">
            <a:avLst/>
          </a:prstGeom>
        </p:spPr>
        <p:txBody>
          <a:bodyPr anchor="t" rtlCol="false" tIns="0" lIns="0" bIns="0" rIns="0">
            <a:spAutoFit/>
          </a:bodyPr>
          <a:lstStyle/>
          <a:p>
            <a:pPr algn="l">
              <a:lnSpc>
                <a:spcPts val="2700"/>
              </a:lnSpc>
            </a:pPr>
            <a:r>
              <a:rPr lang="en-US" sz="1800">
                <a:solidFill>
                  <a:srgbClr val="6272A4"/>
                </a:solidFill>
                <a:latin typeface="Courier New"/>
                <a:ea typeface="Courier New"/>
                <a:cs typeface="Courier New"/>
                <a:sym typeface="Courier New"/>
              </a:rPr>
              <a:t># Exemple de nuage de points interactif</a:t>
            </a:r>
          </a:p>
          <a:p>
            <a:pPr algn="l">
              <a:lnSpc>
                <a:spcPts val="2700"/>
              </a:lnSpc>
            </a:pPr>
            <a:r>
              <a:rPr lang="en-US" sz="1800">
                <a:solidFill>
                  <a:srgbClr val="FF9100"/>
                </a:solidFill>
                <a:latin typeface="Courier New"/>
                <a:ea typeface="Courier New"/>
                <a:cs typeface="Courier New"/>
                <a:sym typeface="Courier New"/>
              </a:rPr>
              <a:t>import </a:t>
            </a:r>
            <a:r>
              <a:rPr lang="en-US" sz="1800">
                <a:solidFill>
                  <a:srgbClr val="F8F8F2"/>
                </a:solidFill>
                <a:latin typeface="Courier New"/>
                <a:ea typeface="Courier New"/>
                <a:cs typeface="Courier New"/>
                <a:sym typeface="Courier New"/>
              </a:rPr>
              <a:t>plotly.express </a:t>
            </a:r>
            <a:r>
              <a:rPr lang="en-US" sz="1800">
                <a:solidFill>
                  <a:srgbClr val="FF9100"/>
                </a:solidFill>
                <a:latin typeface="Courier New"/>
                <a:ea typeface="Courier New"/>
                <a:cs typeface="Courier New"/>
                <a:sym typeface="Courier New"/>
              </a:rPr>
              <a:t>as </a:t>
            </a:r>
            <a:r>
              <a:rPr lang="en-US" sz="1800">
                <a:solidFill>
                  <a:srgbClr val="F8F8F2"/>
                </a:solidFill>
                <a:latin typeface="Courier New"/>
                <a:ea typeface="Courier New"/>
                <a:cs typeface="Courier New"/>
                <a:sym typeface="Courier New"/>
              </a:rPr>
              <a:t>px</a:t>
            </a:r>
          </a:p>
          <a:p>
            <a:pPr algn="l">
              <a:lnSpc>
                <a:spcPts val="2700"/>
              </a:lnSpc>
            </a:pPr>
            <a:r>
              <a:rPr lang="en-US" sz="1800">
                <a:solidFill>
                  <a:srgbClr val="F8F8F2"/>
                </a:solidFill>
                <a:latin typeface="Courier New"/>
                <a:ea typeface="Courier New"/>
                <a:cs typeface="Courier New"/>
                <a:sym typeface="Courier New"/>
              </a:rPr>
              <a:t>df = pd.DataFrame({ </a:t>
            </a:r>
            <a:r>
              <a:rPr lang="en-US" sz="1800">
                <a:solidFill>
                  <a:srgbClr val="F1FA8C"/>
                </a:solidFill>
                <a:latin typeface="Courier New"/>
                <a:ea typeface="Courier New"/>
                <a:cs typeface="Courier New"/>
                <a:sym typeface="Courier New"/>
              </a:rPr>
              <a:t>'Pays' </a:t>
            </a:r>
            <a:r>
              <a:rPr lang="en-US" sz="1800">
                <a:solidFill>
                  <a:srgbClr val="F8F8F2"/>
                </a:solidFill>
                <a:latin typeface="Courier New"/>
                <a:ea typeface="Courier New"/>
                <a:cs typeface="Courier New"/>
                <a:sym typeface="Courier New"/>
              </a:rPr>
              <a:t>: [ </a:t>
            </a:r>
            <a:r>
              <a:rPr lang="en-US" sz="1800">
                <a:solidFill>
                  <a:srgbClr val="F1FA8C"/>
                </a:solidFill>
                <a:latin typeface="Courier New"/>
                <a:ea typeface="Courier New"/>
                <a:cs typeface="Courier New"/>
                <a:sym typeface="Courier New"/>
              </a:rPr>
              <a:t>'France' </a:t>
            </a:r>
            <a:r>
              <a:rPr lang="en-US" sz="1800">
                <a:solidFill>
                  <a:srgbClr val="F8F8F2"/>
                </a:solidFill>
                <a:latin typeface="Courier New"/>
                <a:ea typeface="Courier New"/>
                <a:cs typeface="Courier New"/>
                <a:sym typeface="Courier New"/>
              </a:rPr>
              <a:t>, </a:t>
            </a:r>
            <a:r>
              <a:rPr lang="en-US" sz="1800">
                <a:solidFill>
                  <a:srgbClr val="F1FA8C"/>
                </a:solidFill>
                <a:latin typeface="Courier New"/>
                <a:ea typeface="Courier New"/>
                <a:cs typeface="Courier New"/>
                <a:sym typeface="Courier New"/>
              </a:rPr>
              <a:t>'Allemagne' </a:t>
            </a:r>
            <a:r>
              <a:rPr lang="en-US" sz="1800">
                <a:solidFill>
                  <a:srgbClr val="F8F8F2"/>
                </a:solidFill>
                <a:latin typeface="Courier New"/>
                <a:ea typeface="Courier New"/>
                <a:cs typeface="Courier New"/>
                <a:sym typeface="Courier New"/>
              </a:rPr>
              <a:t>, </a:t>
            </a:r>
            <a:r>
              <a:rPr lang="en-US" sz="1800">
                <a:solidFill>
                  <a:srgbClr val="F1FA8C"/>
                </a:solidFill>
                <a:latin typeface="Courier New"/>
                <a:ea typeface="Courier New"/>
                <a:cs typeface="Courier New"/>
                <a:sym typeface="Courier New"/>
              </a:rPr>
              <a:t>'Espagne' </a:t>
            </a:r>
            <a:r>
              <a:rPr lang="en-US" sz="1800">
                <a:solidFill>
                  <a:srgbClr val="F8F8F2"/>
                </a:solidFill>
                <a:latin typeface="Courier New"/>
                <a:ea typeface="Courier New"/>
                <a:cs typeface="Courier New"/>
                <a:sym typeface="Courier New"/>
              </a:rPr>
              <a:t>],</a:t>
            </a:r>
          </a:p>
          <a:p>
            <a:pPr algn="l">
              <a:lnSpc>
                <a:spcPts val="2700"/>
              </a:lnSpc>
            </a:pPr>
            <a:r>
              <a:rPr lang="en-US" sz="1800">
                <a:solidFill>
                  <a:srgbClr val="F1FA8C"/>
                </a:solidFill>
                <a:latin typeface="Courier New"/>
                <a:ea typeface="Courier New"/>
                <a:cs typeface="Courier New"/>
                <a:sym typeface="Courier New"/>
              </a:rPr>
              <a:t>'Population' </a:t>
            </a:r>
            <a:r>
              <a:rPr lang="en-US" sz="1800">
                <a:solidFill>
                  <a:srgbClr val="F8F8F2"/>
                </a:solidFill>
                <a:latin typeface="Courier New"/>
                <a:ea typeface="Courier New"/>
                <a:cs typeface="Courier New"/>
                <a:sym typeface="Courier New"/>
              </a:rPr>
              <a:t>: [67, 83, 47],</a:t>
            </a:r>
          </a:p>
          <a:p>
            <a:pPr algn="l">
              <a:lnSpc>
                <a:spcPts val="2700"/>
              </a:lnSpc>
            </a:pPr>
            <a:r>
              <a:rPr lang="en-US" sz="1800">
                <a:solidFill>
                  <a:srgbClr val="F1FA8C"/>
                </a:solidFill>
                <a:latin typeface="Courier New"/>
                <a:ea typeface="Courier New"/>
                <a:cs typeface="Courier New"/>
                <a:sym typeface="Courier New"/>
              </a:rPr>
              <a:t>'PIB_par_habitant' </a:t>
            </a:r>
            <a:r>
              <a:rPr lang="en-US" sz="1800">
                <a:solidFill>
                  <a:srgbClr val="F8F8F2"/>
                </a:solidFill>
                <a:latin typeface="Courier New"/>
                <a:ea typeface="Courier New"/>
                <a:cs typeface="Courier New"/>
                <a:sym typeface="Courier New"/>
              </a:rPr>
              <a:t>: [42000, 48000, 30000]})</a:t>
            </a:r>
          </a:p>
          <a:p>
            <a:pPr algn="l">
              <a:lnSpc>
                <a:spcPts val="2700"/>
              </a:lnSpc>
            </a:pPr>
            <a:r>
              <a:rPr lang="en-US" sz="1800">
                <a:solidFill>
                  <a:srgbClr val="F8F8F2"/>
                </a:solidFill>
                <a:latin typeface="Courier New"/>
                <a:ea typeface="Courier New"/>
                <a:cs typeface="Courier New"/>
                <a:sym typeface="Courier New"/>
              </a:rPr>
              <a:t>fig = px.scatter(df, x= </a:t>
            </a:r>
            <a:r>
              <a:rPr lang="en-US" sz="1800">
                <a:solidFill>
                  <a:srgbClr val="F1FA8C"/>
                </a:solidFill>
                <a:latin typeface="Courier New"/>
                <a:ea typeface="Courier New"/>
                <a:cs typeface="Courier New"/>
                <a:sym typeface="Courier New"/>
              </a:rPr>
              <a:t>'Population' </a:t>
            </a:r>
            <a:r>
              <a:rPr lang="en-US" sz="1800">
                <a:solidFill>
                  <a:srgbClr val="F8F8F2"/>
                </a:solidFill>
                <a:latin typeface="Courier New"/>
                <a:ea typeface="Courier New"/>
                <a:cs typeface="Courier New"/>
                <a:sym typeface="Courier New"/>
              </a:rPr>
              <a:t>, y= </a:t>
            </a:r>
            <a:r>
              <a:rPr lang="en-US" sz="1800">
                <a:solidFill>
                  <a:srgbClr val="F1FA8C"/>
                </a:solidFill>
                <a:latin typeface="Courier New"/>
                <a:ea typeface="Courier New"/>
                <a:cs typeface="Courier New"/>
                <a:sym typeface="Courier New"/>
              </a:rPr>
              <a:t>'PIB_par_habitant' </a:t>
            </a:r>
            <a:r>
              <a:rPr lang="en-US" sz="1800">
                <a:solidFill>
                  <a:srgbClr val="F8F8F2"/>
                </a:solidFill>
                <a:latin typeface="Courier New"/>
                <a:ea typeface="Courier New"/>
                <a:cs typeface="Courier New"/>
                <a:sym typeface="Courier New"/>
              </a:rPr>
              <a:t>,</a:t>
            </a:r>
          </a:p>
          <a:p>
            <a:pPr algn="l">
              <a:lnSpc>
                <a:spcPts val="2700"/>
              </a:lnSpc>
            </a:pPr>
            <a:r>
              <a:rPr lang="en-US" sz="1800">
                <a:solidFill>
                  <a:srgbClr val="F8F8F2"/>
                </a:solidFill>
                <a:latin typeface="Courier New"/>
                <a:ea typeface="Courier New"/>
                <a:cs typeface="Courier New"/>
                <a:sym typeface="Courier New"/>
              </a:rPr>
              <a:t>size= </a:t>
            </a:r>
            <a:r>
              <a:rPr lang="en-US" sz="1800">
                <a:solidFill>
                  <a:srgbClr val="F1FA8C"/>
                </a:solidFill>
                <a:latin typeface="Courier New"/>
                <a:ea typeface="Courier New"/>
                <a:cs typeface="Courier New"/>
                <a:sym typeface="Courier New"/>
              </a:rPr>
              <a:t>'Population' </a:t>
            </a:r>
            <a:r>
              <a:rPr lang="en-US" sz="1800">
                <a:solidFill>
                  <a:srgbClr val="F8F8F2"/>
                </a:solidFill>
                <a:latin typeface="Courier New"/>
                <a:ea typeface="Courier New"/>
                <a:cs typeface="Courier New"/>
                <a:sym typeface="Courier New"/>
              </a:rPr>
              <a:t>, color= </a:t>
            </a:r>
            <a:r>
              <a:rPr lang="en-US" sz="1800">
                <a:solidFill>
                  <a:srgbClr val="F1FA8C"/>
                </a:solidFill>
                <a:latin typeface="Courier New"/>
                <a:ea typeface="Courier New"/>
                <a:cs typeface="Courier New"/>
                <a:sym typeface="Courier New"/>
              </a:rPr>
              <a:t>'Pays' </a:t>
            </a:r>
            <a:r>
              <a:rPr lang="en-US" sz="1800">
                <a:solidFill>
                  <a:srgbClr val="F8F8F2"/>
                </a:solidFill>
                <a:latin typeface="Courier New"/>
                <a:ea typeface="Courier New"/>
                <a:cs typeface="Courier New"/>
                <a:sym typeface="Courier New"/>
              </a:rPr>
              <a:t>, hover_name= </a:t>
            </a:r>
            <a:r>
              <a:rPr lang="en-US" sz="1800">
                <a:solidFill>
                  <a:srgbClr val="F1FA8C"/>
                </a:solidFill>
                <a:latin typeface="Courier New"/>
                <a:ea typeface="Courier New"/>
                <a:cs typeface="Courier New"/>
                <a:sym typeface="Courier New"/>
              </a:rPr>
              <a:t>'Pays' </a:t>
            </a:r>
            <a:r>
              <a:rPr lang="en-US" sz="1800">
                <a:solidFill>
                  <a:srgbClr val="F8F8F2"/>
                </a:solidFill>
                <a:latin typeface="Courier New"/>
                <a:ea typeface="Courier New"/>
                <a:cs typeface="Courier New"/>
                <a:sym typeface="Courier New"/>
              </a:rPr>
              <a:t>)</a:t>
            </a:r>
          </a:p>
          <a:p>
            <a:pPr algn="l">
              <a:lnSpc>
                <a:spcPts val="2700"/>
              </a:lnSpc>
            </a:pPr>
            <a:r>
              <a:rPr lang="en-US" sz="1800">
                <a:solidFill>
                  <a:srgbClr val="F8F8F2"/>
                </a:solidFill>
                <a:latin typeface="Courier New"/>
                <a:ea typeface="Courier New"/>
                <a:cs typeface="Courier New"/>
                <a:sym typeface="Courier New"/>
              </a:rPr>
              <a:t>fig.show()</a:t>
            </a:r>
          </a:p>
        </p:txBody>
      </p:sp>
      <p:sp>
        <p:nvSpPr>
          <p:cNvPr name="TextBox 33" id="33"/>
          <p:cNvSpPr txBox="true"/>
          <p:nvPr/>
        </p:nvSpPr>
        <p:spPr>
          <a:xfrm rot="0">
            <a:off x="11841480" y="7267575"/>
            <a:ext cx="3291840" cy="347662"/>
          </a:xfrm>
          <a:prstGeom prst="rect">
            <a:avLst/>
          </a:prstGeom>
        </p:spPr>
        <p:txBody>
          <a:bodyPr anchor="t" rtlCol="false" tIns="0" lIns="0" bIns="0" rIns="0">
            <a:spAutoFit/>
          </a:bodyPr>
          <a:lstStyle/>
          <a:p>
            <a:pPr algn="ctr">
              <a:lnSpc>
                <a:spcPts val="2700"/>
              </a:lnSpc>
            </a:pPr>
            <a:r>
              <a:rPr lang="en-US" sz="1800" i="true">
                <a:solidFill>
                  <a:srgbClr val="6B7280"/>
                </a:solidFill>
                <a:latin typeface="Arimo Italics"/>
                <a:ea typeface="Arimo Italics"/>
                <a:cs typeface="Arimo Italics"/>
                <a:sym typeface="Arimo Italics"/>
              </a:rPr>
              <a:t>Visualisation interactive</a:t>
            </a:r>
          </a:p>
        </p:txBody>
      </p:sp>
      <p:sp>
        <p:nvSpPr>
          <p:cNvPr name="TextBox 34" id="34"/>
          <p:cNvSpPr txBox="true"/>
          <p:nvPr/>
        </p:nvSpPr>
        <p:spPr>
          <a:xfrm rot="0">
            <a:off x="685800" y="10353675"/>
            <a:ext cx="169164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12 sur 15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629900"/>
            <a:chOff x="0" y="0"/>
            <a:chExt cx="24384000" cy="14173200"/>
          </a:xfrm>
        </p:grpSpPr>
        <p:sp>
          <p:nvSpPr>
            <p:cNvPr name="Freeform 3" id="3" descr="preencoded.png"/>
            <p:cNvSpPr/>
            <p:nvPr/>
          </p:nvSpPr>
          <p:spPr>
            <a:xfrm flipH="false" flipV="false" rot="0">
              <a:off x="0" y="0"/>
              <a:ext cx="24384000" cy="14173200"/>
            </a:xfrm>
            <a:custGeom>
              <a:avLst/>
              <a:gdLst/>
              <a:ahLst/>
              <a:cxnLst/>
              <a:rect r="r" b="b" t="t" l="l"/>
              <a:pathLst>
                <a:path h="14173200" w="24384000">
                  <a:moveTo>
                    <a:pt x="0" y="0"/>
                  </a:moveTo>
                  <a:lnTo>
                    <a:pt x="24384000" y="0"/>
                  </a:lnTo>
                  <a:lnTo>
                    <a:pt x="24384000" y="14173200"/>
                  </a:lnTo>
                  <a:lnTo>
                    <a:pt x="0" y="141732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571500" y="1657350"/>
            <a:ext cx="5562525" cy="3600450"/>
            <a:chOff x="0" y="0"/>
            <a:chExt cx="7416700" cy="4800600"/>
          </a:xfrm>
        </p:grpSpPr>
        <p:sp>
          <p:nvSpPr>
            <p:cNvPr name="Freeform 5" id="5" descr="preencoded.png"/>
            <p:cNvSpPr/>
            <p:nvPr/>
          </p:nvSpPr>
          <p:spPr>
            <a:xfrm flipH="false" flipV="false" rot="0">
              <a:off x="0" y="0"/>
              <a:ext cx="7416673" cy="4800600"/>
            </a:xfrm>
            <a:custGeom>
              <a:avLst/>
              <a:gdLst/>
              <a:ahLst/>
              <a:cxnLst/>
              <a:rect r="r" b="b" t="t" l="l"/>
              <a:pathLst>
                <a:path h="4800600" w="7416673">
                  <a:moveTo>
                    <a:pt x="0" y="0"/>
                  </a:moveTo>
                  <a:lnTo>
                    <a:pt x="7416673" y="0"/>
                  </a:lnTo>
                  <a:lnTo>
                    <a:pt x="7416673" y="4800600"/>
                  </a:lnTo>
                  <a:lnTo>
                    <a:pt x="0" y="4800600"/>
                  </a:lnTo>
                  <a:lnTo>
                    <a:pt x="0" y="0"/>
                  </a:lnTo>
                  <a:close/>
                </a:path>
              </a:pathLst>
            </a:custGeom>
            <a:blipFill>
              <a:blip r:embed="rId4"/>
              <a:stretch>
                <a:fillRect l="0" t="-42" r="0" b="-42"/>
              </a:stretch>
            </a:blipFill>
          </p:spPr>
        </p:sp>
      </p:grpSp>
      <p:grpSp>
        <p:nvGrpSpPr>
          <p:cNvPr name="Group 6" id="6"/>
          <p:cNvGrpSpPr>
            <a:grpSpLocks noChangeAspect="true"/>
          </p:cNvGrpSpPr>
          <p:nvPr/>
        </p:nvGrpSpPr>
        <p:grpSpPr>
          <a:xfrm rot="0">
            <a:off x="857250" y="1943100"/>
            <a:ext cx="857250" cy="857250"/>
            <a:chOff x="0" y="0"/>
            <a:chExt cx="1143000" cy="1143000"/>
          </a:xfrm>
        </p:grpSpPr>
        <p:sp>
          <p:nvSpPr>
            <p:cNvPr name="Freeform 7" id="7"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1071562" y="2143125"/>
            <a:ext cx="428625" cy="457200"/>
            <a:chOff x="0" y="0"/>
            <a:chExt cx="571500" cy="609600"/>
          </a:xfrm>
        </p:grpSpPr>
        <p:sp>
          <p:nvSpPr>
            <p:cNvPr name="Freeform 9" id="9" descr="preencoded.png"/>
            <p:cNvSpPr/>
            <p:nvPr/>
          </p:nvSpPr>
          <p:spPr>
            <a:xfrm flipH="false" flipV="false" rot="0">
              <a:off x="0" y="0"/>
              <a:ext cx="571500" cy="609600"/>
            </a:xfrm>
            <a:custGeom>
              <a:avLst/>
              <a:gdLst/>
              <a:ahLst/>
              <a:cxnLst/>
              <a:rect r="r" b="b" t="t" l="l"/>
              <a:pathLst>
                <a:path h="609600" w="571500">
                  <a:moveTo>
                    <a:pt x="0" y="0"/>
                  </a:moveTo>
                  <a:lnTo>
                    <a:pt x="571500" y="0"/>
                  </a:lnTo>
                  <a:lnTo>
                    <a:pt x="571500" y="609600"/>
                  </a:lnTo>
                  <a:lnTo>
                    <a:pt x="0" y="609600"/>
                  </a:lnTo>
                  <a:lnTo>
                    <a:pt x="0" y="0"/>
                  </a:lnTo>
                  <a:close/>
                </a:path>
              </a:pathLst>
            </a:custGeom>
            <a:blipFill>
              <a:blip r:embed="rId6"/>
              <a:stretch>
                <a:fillRect l="0" t="0" r="0" b="0"/>
              </a:stretch>
            </a:blipFill>
          </p:spPr>
        </p:sp>
      </p:grpSp>
      <p:grpSp>
        <p:nvGrpSpPr>
          <p:cNvPr name="Group 10" id="10"/>
          <p:cNvGrpSpPr>
            <a:grpSpLocks noChangeAspect="true"/>
          </p:cNvGrpSpPr>
          <p:nvPr/>
        </p:nvGrpSpPr>
        <p:grpSpPr>
          <a:xfrm rot="0">
            <a:off x="857250" y="3086100"/>
            <a:ext cx="228600" cy="228600"/>
            <a:chOff x="0" y="0"/>
            <a:chExt cx="304800" cy="304800"/>
          </a:xfrm>
        </p:grpSpPr>
        <p:sp>
          <p:nvSpPr>
            <p:cNvPr name="Freeform 11" id="1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2" id="12"/>
          <p:cNvGrpSpPr>
            <a:grpSpLocks noChangeAspect="true"/>
          </p:cNvGrpSpPr>
          <p:nvPr/>
        </p:nvGrpSpPr>
        <p:grpSpPr>
          <a:xfrm rot="0">
            <a:off x="857250" y="3543300"/>
            <a:ext cx="228600" cy="228600"/>
            <a:chOff x="0" y="0"/>
            <a:chExt cx="304800" cy="304800"/>
          </a:xfrm>
        </p:grpSpPr>
        <p:sp>
          <p:nvSpPr>
            <p:cNvPr name="Freeform 13" id="1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857250" y="4000500"/>
            <a:ext cx="228600" cy="228600"/>
            <a:chOff x="0" y="0"/>
            <a:chExt cx="304800" cy="304800"/>
          </a:xfrm>
        </p:grpSpPr>
        <p:sp>
          <p:nvSpPr>
            <p:cNvPr name="Freeform 15" id="1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16" id="16"/>
          <p:cNvGrpSpPr>
            <a:grpSpLocks noChangeAspect="true"/>
          </p:cNvGrpSpPr>
          <p:nvPr/>
        </p:nvGrpSpPr>
        <p:grpSpPr>
          <a:xfrm rot="0">
            <a:off x="6362625" y="1657350"/>
            <a:ext cx="5562525" cy="3600450"/>
            <a:chOff x="0" y="0"/>
            <a:chExt cx="7416700" cy="4800600"/>
          </a:xfrm>
        </p:grpSpPr>
        <p:sp>
          <p:nvSpPr>
            <p:cNvPr name="Freeform 17" id="17" descr="preencoded.png"/>
            <p:cNvSpPr/>
            <p:nvPr/>
          </p:nvSpPr>
          <p:spPr>
            <a:xfrm flipH="false" flipV="false" rot="0">
              <a:off x="0" y="0"/>
              <a:ext cx="7416673" cy="4800600"/>
            </a:xfrm>
            <a:custGeom>
              <a:avLst/>
              <a:gdLst/>
              <a:ahLst/>
              <a:cxnLst/>
              <a:rect r="r" b="b" t="t" l="l"/>
              <a:pathLst>
                <a:path h="4800600" w="7416673">
                  <a:moveTo>
                    <a:pt x="0" y="0"/>
                  </a:moveTo>
                  <a:lnTo>
                    <a:pt x="7416673" y="0"/>
                  </a:lnTo>
                  <a:lnTo>
                    <a:pt x="7416673" y="4800600"/>
                  </a:lnTo>
                  <a:lnTo>
                    <a:pt x="0" y="4800600"/>
                  </a:lnTo>
                  <a:lnTo>
                    <a:pt x="0" y="0"/>
                  </a:lnTo>
                  <a:close/>
                </a:path>
              </a:pathLst>
            </a:custGeom>
            <a:blipFill>
              <a:blip r:embed="rId8"/>
              <a:stretch>
                <a:fillRect l="0" t="-42" r="0" b="-42"/>
              </a:stretch>
            </a:blipFill>
          </p:spPr>
        </p:sp>
      </p:grpSp>
      <p:grpSp>
        <p:nvGrpSpPr>
          <p:cNvPr name="Group 18" id="18"/>
          <p:cNvGrpSpPr>
            <a:grpSpLocks noChangeAspect="true"/>
          </p:cNvGrpSpPr>
          <p:nvPr/>
        </p:nvGrpSpPr>
        <p:grpSpPr>
          <a:xfrm rot="0">
            <a:off x="6648375" y="1943100"/>
            <a:ext cx="857250" cy="857250"/>
            <a:chOff x="0" y="0"/>
            <a:chExt cx="1143000" cy="1143000"/>
          </a:xfrm>
        </p:grpSpPr>
        <p:sp>
          <p:nvSpPr>
            <p:cNvPr name="Freeform 19" id="19"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9"/>
              <a:stretch>
                <a:fillRect l="0" t="0" r="0" b="0"/>
              </a:stretch>
            </a:blipFill>
          </p:spPr>
        </p:sp>
      </p:grpSp>
      <p:grpSp>
        <p:nvGrpSpPr>
          <p:cNvPr name="Group 20" id="20"/>
          <p:cNvGrpSpPr>
            <a:grpSpLocks noChangeAspect="true"/>
          </p:cNvGrpSpPr>
          <p:nvPr/>
        </p:nvGrpSpPr>
        <p:grpSpPr>
          <a:xfrm rot="0">
            <a:off x="6648375" y="3086100"/>
            <a:ext cx="228600" cy="228600"/>
            <a:chOff x="0" y="0"/>
            <a:chExt cx="304800" cy="304800"/>
          </a:xfrm>
        </p:grpSpPr>
        <p:sp>
          <p:nvSpPr>
            <p:cNvPr name="Freeform 21" id="2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22" id="22"/>
          <p:cNvGrpSpPr>
            <a:grpSpLocks noChangeAspect="true"/>
          </p:cNvGrpSpPr>
          <p:nvPr/>
        </p:nvGrpSpPr>
        <p:grpSpPr>
          <a:xfrm rot="0">
            <a:off x="6648375" y="3543300"/>
            <a:ext cx="228600" cy="228600"/>
            <a:chOff x="0" y="0"/>
            <a:chExt cx="304800" cy="304800"/>
          </a:xfrm>
        </p:grpSpPr>
        <p:sp>
          <p:nvSpPr>
            <p:cNvPr name="Freeform 23" id="2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24" id="24"/>
          <p:cNvGrpSpPr>
            <a:grpSpLocks noChangeAspect="true"/>
          </p:cNvGrpSpPr>
          <p:nvPr/>
        </p:nvGrpSpPr>
        <p:grpSpPr>
          <a:xfrm rot="0">
            <a:off x="6648375" y="4000500"/>
            <a:ext cx="228600" cy="228600"/>
            <a:chOff x="0" y="0"/>
            <a:chExt cx="304800" cy="304800"/>
          </a:xfrm>
        </p:grpSpPr>
        <p:sp>
          <p:nvSpPr>
            <p:cNvPr name="Freeform 25" id="2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26" id="26"/>
          <p:cNvGrpSpPr>
            <a:grpSpLocks noChangeAspect="true"/>
          </p:cNvGrpSpPr>
          <p:nvPr/>
        </p:nvGrpSpPr>
        <p:grpSpPr>
          <a:xfrm rot="0">
            <a:off x="12153752" y="1657350"/>
            <a:ext cx="5562748" cy="3600450"/>
            <a:chOff x="0" y="0"/>
            <a:chExt cx="7416998" cy="4800600"/>
          </a:xfrm>
        </p:grpSpPr>
        <p:sp>
          <p:nvSpPr>
            <p:cNvPr name="Freeform 27" id="27" descr="preencoded.png"/>
            <p:cNvSpPr/>
            <p:nvPr/>
          </p:nvSpPr>
          <p:spPr>
            <a:xfrm flipH="false" flipV="false" rot="0">
              <a:off x="0" y="0"/>
              <a:ext cx="7417054" cy="4800600"/>
            </a:xfrm>
            <a:custGeom>
              <a:avLst/>
              <a:gdLst/>
              <a:ahLst/>
              <a:cxnLst/>
              <a:rect r="r" b="b" t="t" l="l"/>
              <a:pathLst>
                <a:path h="4800600" w="7417054">
                  <a:moveTo>
                    <a:pt x="0" y="0"/>
                  </a:moveTo>
                  <a:lnTo>
                    <a:pt x="7417054" y="0"/>
                  </a:lnTo>
                  <a:lnTo>
                    <a:pt x="7417054" y="4800600"/>
                  </a:lnTo>
                  <a:lnTo>
                    <a:pt x="0" y="4800600"/>
                  </a:lnTo>
                  <a:lnTo>
                    <a:pt x="0" y="0"/>
                  </a:lnTo>
                  <a:close/>
                </a:path>
              </a:pathLst>
            </a:custGeom>
            <a:blipFill>
              <a:blip r:embed="rId10"/>
              <a:stretch>
                <a:fillRect l="0" t="-44" r="0" b="-44"/>
              </a:stretch>
            </a:blipFill>
          </p:spPr>
        </p:sp>
      </p:grpSp>
      <p:grpSp>
        <p:nvGrpSpPr>
          <p:cNvPr name="Group 28" id="28"/>
          <p:cNvGrpSpPr>
            <a:grpSpLocks noChangeAspect="true"/>
          </p:cNvGrpSpPr>
          <p:nvPr/>
        </p:nvGrpSpPr>
        <p:grpSpPr>
          <a:xfrm rot="0">
            <a:off x="12439502" y="1943100"/>
            <a:ext cx="857250" cy="857250"/>
            <a:chOff x="0" y="0"/>
            <a:chExt cx="1143000" cy="1143000"/>
          </a:xfrm>
        </p:grpSpPr>
        <p:sp>
          <p:nvSpPr>
            <p:cNvPr name="Freeform 29" id="29"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1"/>
              <a:stretch>
                <a:fillRect l="0" t="0" r="0" b="0"/>
              </a:stretch>
            </a:blipFill>
          </p:spPr>
        </p:sp>
      </p:grpSp>
      <p:grpSp>
        <p:nvGrpSpPr>
          <p:cNvPr name="Group 30" id="30"/>
          <p:cNvGrpSpPr>
            <a:grpSpLocks noChangeAspect="true"/>
          </p:cNvGrpSpPr>
          <p:nvPr/>
        </p:nvGrpSpPr>
        <p:grpSpPr>
          <a:xfrm rot="0">
            <a:off x="12718107" y="2143125"/>
            <a:ext cx="300038" cy="457200"/>
            <a:chOff x="0" y="0"/>
            <a:chExt cx="400050" cy="609600"/>
          </a:xfrm>
        </p:grpSpPr>
        <p:sp>
          <p:nvSpPr>
            <p:cNvPr name="Freeform 31" id="31" descr="preencoded.png"/>
            <p:cNvSpPr/>
            <p:nvPr/>
          </p:nvSpPr>
          <p:spPr>
            <a:xfrm flipH="false" flipV="false" rot="0">
              <a:off x="0" y="0"/>
              <a:ext cx="400050" cy="609600"/>
            </a:xfrm>
            <a:custGeom>
              <a:avLst/>
              <a:gdLst/>
              <a:ahLst/>
              <a:cxnLst/>
              <a:rect r="r" b="b" t="t" l="l"/>
              <a:pathLst>
                <a:path h="609600" w="400050">
                  <a:moveTo>
                    <a:pt x="0" y="0"/>
                  </a:moveTo>
                  <a:lnTo>
                    <a:pt x="400050" y="0"/>
                  </a:lnTo>
                  <a:lnTo>
                    <a:pt x="400050" y="609600"/>
                  </a:lnTo>
                  <a:lnTo>
                    <a:pt x="0" y="609600"/>
                  </a:lnTo>
                  <a:lnTo>
                    <a:pt x="0" y="0"/>
                  </a:lnTo>
                  <a:close/>
                </a:path>
              </a:pathLst>
            </a:custGeom>
            <a:blipFill>
              <a:blip r:embed="rId12"/>
              <a:stretch>
                <a:fillRect l="0" t="0" r="0" b="0"/>
              </a:stretch>
            </a:blipFill>
          </p:spPr>
        </p:sp>
      </p:grpSp>
      <p:grpSp>
        <p:nvGrpSpPr>
          <p:cNvPr name="Group 32" id="32"/>
          <p:cNvGrpSpPr>
            <a:grpSpLocks noChangeAspect="true"/>
          </p:cNvGrpSpPr>
          <p:nvPr/>
        </p:nvGrpSpPr>
        <p:grpSpPr>
          <a:xfrm rot="0">
            <a:off x="12439502" y="3086100"/>
            <a:ext cx="228600" cy="228600"/>
            <a:chOff x="0" y="0"/>
            <a:chExt cx="304800" cy="304800"/>
          </a:xfrm>
        </p:grpSpPr>
        <p:sp>
          <p:nvSpPr>
            <p:cNvPr name="Freeform 33" id="3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34" id="34"/>
          <p:cNvGrpSpPr>
            <a:grpSpLocks noChangeAspect="true"/>
          </p:cNvGrpSpPr>
          <p:nvPr/>
        </p:nvGrpSpPr>
        <p:grpSpPr>
          <a:xfrm rot="0">
            <a:off x="12439502" y="3886200"/>
            <a:ext cx="228600" cy="228600"/>
            <a:chOff x="0" y="0"/>
            <a:chExt cx="304800" cy="304800"/>
          </a:xfrm>
        </p:grpSpPr>
        <p:sp>
          <p:nvSpPr>
            <p:cNvPr name="Freeform 35" id="3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36" id="36"/>
          <p:cNvGrpSpPr>
            <a:grpSpLocks noChangeAspect="true"/>
          </p:cNvGrpSpPr>
          <p:nvPr/>
        </p:nvGrpSpPr>
        <p:grpSpPr>
          <a:xfrm rot="0">
            <a:off x="12439502" y="4343400"/>
            <a:ext cx="228600" cy="228600"/>
            <a:chOff x="0" y="0"/>
            <a:chExt cx="304800" cy="304800"/>
          </a:xfrm>
        </p:grpSpPr>
        <p:sp>
          <p:nvSpPr>
            <p:cNvPr name="Freeform 37" id="3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38" id="38"/>
          <p:cNvGrpSpPr>
            <a:grpSpLocks noChangeAspect="true"/>
          </p:cNvGrpSpPr>
          <p:nvPr/>
        </p:nvGrpSpPr>
        <p:grpSpPr>
          <a:xfrm rot="0">
            <a:off x="571500" y="5486400"/>
            <a:ext cx="5562525" cy="3943350"/>
            <a:chOff x="0" y="0"/>
            <a:chExt cx="7416700" cy="5257800"/>
          </a:xfrm>
        </p:grpSpPr>
        <p:sp>
          <p:nvSpPr>
            <p:cNvPr name="Freeform 39" id="39" descr="preencoded.png"/>
            <p:cNvSpPr/>
            <p:nvPr/>
          </p:nvSpPr>
          <p:spPr>
            <a:xfrm flipH="false" flipV="false" rot="0">
              <a:off x="0" y="0"/>
              <a:ext cx="7416673" cy="5257800"/>
            </a:xfrm>
            <a:custGeom>
              <a:avLst/>
              <a:gdLst/>
              <a:ahLst/>
              <a:cxnLst/>
              <a:rect r="r" b="b" t="t" l="l"/>
              <a:pathLst>
                <a:path h="5257800" w="7416673">
                  <a:moveTo>
                    <a:pt x="0" y="0"/>
                  </a:moveTo>
                  <a:lnTo>
                    <a:pt x="7416673" y="0"/>
                  </a:lnTo>
                  <a:lnTo>
                    <a:pt x="7416673" y="5257800"/>
                  </a:lnTo>
                  <a:lnTo>
                    <a:pt x="0" y="5257800"/>
                  </a:lnTo>
                  <a:lnTo>
                    <a:pt x="0" y="0"/>
                  </a:lnTo>
                  <a:close/>
                </a:path>
              </a:pathLst>
            </a:custGeom>
            <a:blipFill>
              <a:blip r:embed="rId13"/>
              <a:stretch>
                <a:fillRect l="0" t="-42" r="0" b="-42"/>
              </a:stretch>
            </a:blipFill>
          </p:spPr>
        </p:sp>
      </p:grpSp>
      <p:grpSp>
        <p:nvGrpSpPr>
          <p:cNvPr name="Group 40" id="40"/>
          <p:cNvGrpSpPr>
            <a:grpSpLocks noChangeAspect="true"/>
          </p:cNvGrpSpPr>
          <p:nvPr/>
        </p:nvGrpSpPr>
        <p:grpSpPr>
          <a:xfrm rot="0">
            <a:off x="857250" y="5772150"/>
            <a:ext cx="857250" cy="857250"/>
            <a:chOff x="0" y="0"/>
            <a:chExt cx="1143000" cy="1143000"/>
          </a:xfrm>
        </p:grpSpPr>
        <p:sp>
          <p:nvSpPr>
            <p:cNvPr name="Freeform 41" id="41"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4"/>
              <a:stretch>
                <a:fillRect l="0" t="0" r="0" b="0"/>
              </a:stretch>
            </a:blipFill>
          </p:spPr>
        </p:sp>
      </p:grpSp>
      <p:grpSp>
        <p:nvGrpSpPr>
          <p:cNvPr name="Group 42" id="42"/>
          <p:cNvGrpSpPr>
            <a:grpSpLocks noChangeAspect="true"/>
          </p:cNvGrpSpPr>
          <p:nvPr/>
        </p:nvGrpSpPr>
        <p:grpSpPr>
          <a:xfrm rot="0">
            <a:off x="1071562" y="5972175"/>
            <a:ext cx="428625" cy="457200"/>
            <a:chOff x="0" y="0"/>
            <a:chExt cx="571500" cy="609600"/>
          </a:xfrm>
        </p:grpSpPr>
        <p:sp>
          <p:nvSpPr>
            <p:cNvPr name="Freeform 43" id="43" descr="preencoded.png"/>
            <p:cNvSpPr/>
            <p:nvPr/>
          </p:nvSpPr>
          <p:spPr>
            <a:xfrm flipH="false" flipV="false" rot="0">
              <a:off x="0" y="0"/>
              <a:ext cx="571500" cy="609600"/>
            </a:xfrm>
            <a:custGeom>
              <a:avLst/>
              <a:gdLst/>
              <a:ahLst/>
              <a:cxnLst/>
              <a:rect r="r" b="b" t="t" l="l"/>
              <a:pathLst>
                <a:path h="609600" w="571500">
                  <a:moveTo>
                    <a:pt x="0" y="0"/>
                  </a:moveTo>
                  <a:lnTo>
                    <a:pt x="571500" y="0"/>
                  </a:lnTo>
                  <a:lnTo>
                    <a:pt x="571500" y="609600"/>
                  </a:lnTo>
                  <a:lnTo>
                    <a:pt x="0" y="609600"/>
                  </a:lnTo>
                  <a:lnTo>
                    <a:pt x="0" y="0"/>
                  </a:lnTo>
                  <a:close/>
                </a:path>
              </a:pathLst>
            </a:custGeom>
            <a:blipFill>
              <a:blip r:embed="rId15"/>
              <a:stretch>
                <a:fillRect l="0" t="0" r="0" b="0"/>
              </a:stretch>
            </a:blipFill>
          </p:spPr>
        </p:sp>
      </p:grpSp>
      <p:grpSp>
        <p:nvGrpSpPr>
          <p:cNvPr name="Group 44" id="44"/>
          <p:cNvGrpSpPr>
            <a:grpSpLocks noChangeAspect="true"/>
          </p:cNvGrpSpPr>
          <p:nvPr/>
        </p:nvGrpSpPr>
        <p:grpSpPr>
          <a:xfrm rot="0">
            <a:off x="857250" y="6915150"/>
            <a:ext cx="228600" cy="228600"/>
            <a:chOff x="0" y="0"/>
            <a:chExt cx="304800" cy="304800"/>
          </a:xfrm>
        </p:grpSpPr>
        <p:sp>
          <p:nvSpPr>
            <p:cNvPr name="Freeform 45" id="45"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46" id="46"/>
          <p:cNvGrpSpPr>
            <a:grpSpLocks noChangeAspect="true"/>
          </p:cNvGrpSpPr>
          <p:nvPr/>
        </p:nvGrpSpPr>
        <p:grpSpPr>
          <a:xfrm rot="0">
            <a:off x="857250" y="7715250"/>
            <a:ext cx="228600" cy="228600"/>
            <a:chOff x="0" y="0"/>
            <a:chExt cx="304800" cy="304800"/>
          </a:xfrm>
        </p:grpSpPr>
        <p:sp>
          <p:nvSpPr>
            <p:cNvPr name="Freeform 47" id="4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48" id="48"/>
          <p:cNvGrpSpPr>
            <a:grpSpLocks noChangeAspect="true"/>
          </p:cNvGrpSpPr>
          <p:nvPr/>
        </p:nvGrpSpPr>
        <p:grpSpPr>
          <a:xfrm rot="0">
            <a:off x="857250" y="8515350"/>
            <a:ext cx="228600" cy="228600"/>
            <a:chOff x="0" y="0"/>
            <a:chExt cx="304800" cy="304800"/>
          </a:xfrm>
        </p:grpSpPr>
        <p:sp>
          <p:nvSpPr>
            <p:cNvPr name="Freeform 49" id="4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50" id="50"/>
          <p:cNvGrpSpPr>
            <a:grpSpLocks noChangeAspect="true"/>
          </p:cNvGrpSpPr>
          <p:nvPr/>
        </p:nvGrpSpPr>
        <p:grpSpPr>
          <a:xfrm rot="0">
            <a:off x="6362625" y="5486400"/>
            <a:ext cx="5562525" cy="3943350"/>
            <a:chOff x="0" y="0"/>
            <a:chExt cx="7416700" cy="5257800"/>
          </a:xfrm>
        </p:grpSpPr>
        <p:sp>
          <p:nvSpPr>
            <p:cNvPr name="Freeform 51" id="51" descr="preencoded.png"/>
            <p:cNvSpPr/>
            <p:nvPr/>
          </p:nvSpPr>
          <p:spPr>
            <a:xfrm flipH="false" flipV="false" rot="0">
              <a:off x="0" y="0"/>
              <a:ext cx="7416673" cy="5257800"/>
            </a:xfrm>
            <a:custGeom>
              <a:avLst/>
              <a:gdLst/>
              <a:ahLst/>
              <a:cxnLst/>
              <a:rect r="r" b="b" t="t" l="l"/>
              <a:pathLst>
                <a:path h="5257800" w="7416673">
                  <a:moveTo>
                    <a:pt x="0" y="0"/>
                  </a:moveTo>
                  <a:lnTo>
                    <a:pt x="7416673" y="0"/>
                  </a:lnTo>
                  <a:lnTo>
                    <a:pt x="7416673" y="5257800"/>
                  </a:lnTo>
                  <a:lnTo>
                    <a:pt x="0" y="5257800"/>
                  </a:lnTo>
                  <a:lnTo>
                    <a:pt x="0" y="0"/>
                  </a:lnTo>
                  <a:close/>
                </a:path>
              </a:pathLst>
            </a:custGeom>
            <a:blipFill>
              <a:blip r:embed="rId16"/>
              <a:stretch>
                <a:fillRect l="0" t="-42" r="0" b="-42"/>
              </a:stretch>
            </a:blipFill>
          </p:spPr>
        </p:sp>
      </p:grpSp>
      <p:grpSp>
        <p:nvGrpSpPr>
          <p:cNvPr name="Group 52" id="52"/>
          <p:cNvGrpSpPr>
            <a:grpSpLocks noChangeAspect="true"/>
          </p:cNvGrpSpPr>
          <p:nvPr/>
        </p:nvGrpSpPr>
        <p:grpSpPr>
          <a:xfrm rot="0">
            <a:off x="6648375" y="5772150"/>
            <a:ext cx="857250" cy="857250"/>
            <a:chOff x="0" y="0"/>
            <a:chExt cx="1143000" cy="1143000"/>
          </a:xfrm>
        </p:grpSpPr>
        <p:sp>
          <p:nvSpPr>
            <p:cNvPr name="Freeform 53" id="53"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7"/>
              <a:stretch>
                <a:fillRect l="0" t="0" r="0" b="0"/>
              </a:stretch>
            </a:blipFill>
          </p:spPr>
        </p:sp>
      </p:grpSp>
      <p:grpSp>
        <p:nvGrpSpPr>
          <p:cNvPr name="Group 54" id="54"/>
          <p:cNvGrpSpPr>
            <a:grpSpLocks noChangeAspect="true"/>
          </p:cNvGrpSpPr>
          <p:nvPr/>
        </p:nvGrpSpPr>
        <p:grpSpPr>
          <a:xfrm rot="0">
            <a:off x="6905550" y="5972175"/>
            <a:ext cx="342900" cy="457200"/>
            <a:chOff x="0" y="0"/>
            <a:chExt cx="457200" cy="609600"/>
          </a:xfrm>
        </p:grpSpPr>
        <p:sp>
          <p:nvSpPr>
            <p:cNvPr name="Freeform 55" id="55"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18"/>
              <a:stretch>
                <a:fillRect l="0" t="0" r="0" b="0"/>
              </a:stretch>
            </a:blipFill>
          </p:spPr>
        </p:sp>
      </p:grpSp>
      <p:grpSp>
        <p:nvGrpSpPr>
          <p:cNvPr name="Group 56" id="56"/>
          <p:cNvGrpSpPr>
            <a:grpSpLocks noChangeAspect="true"/>
          </p:cNvGrpSpPr>
          <p:nvPr/>
        </p:nvGrpSpPr>
        <p:grpSpPr>
          <a:xfrm rot="0">
            <a:off x="6648375" y="6915150"/>
            <a:ext cx="228600" cy="228600"/>
            <a:chOff x="0" y="0"/>
            <a:chExt cx="304800" cy="304800"/>
          </a:xfrm>
        </p:grpSpPr>
        <p:sp>
          <p:nvSpPr>
            <p:cNvPr name="Freeform 57" id="57"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58" id="58"/>
          <p:cNvGrpSpPr>
            <a:grpSpLocks noChangeAspect="true"/>
          </p:cNvGrpSpPr>
          <p:nvPr/>
        </p:nvGrpSpPr>
        <p:grpSpPr>
          <a:xfrm rot="0">
            <a:off x="6648375" y="7715250"/>
            <a:ext cx="228600" cy="228600"/>
            <a:chOff x="0" y="0"/>
            <a:chExt cx="304800" cy="304800"/>
          </a:xfrm>
        </p:grpSpPr>
        <p:sp>
          <p:nvSpPr>
            <p:cNvPr name="Freeform 59" id="5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60" id="60"/>
          <p:cNvGrpSpPr>
            <a:grpSpLocks noChangeAspect="true"/>
          </p:cNvGrpSpPr>
          <p:nvPr/>
        </p:nvGrpSpPr>
        <p:grpSpPr>
          <a:xfrm rot="0">
            <a:off x="6648375" y="8515350"/>
            <a:ext cx="228600" cy="228600"/>
            <a:chOff x="0" y="0"/>
            <a:chExt cx="304800" cy="304800"/>
          </a:xfrm>
        </p:grpSpPr>
        <p:sp>
          <p:nvSpPr>
            <p:cNvPr name="Freeform 61" id="6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62" id="62"/>
          <p:cNvGrpSpPr>
            <a:grpSpLocks noChangeAspect="true"/>
          </p:cNvGrpSpPr>
          <p:nvPr/>
        </p:nvGrpSpPr>
        <p:grpSpPr>
          <a:xfrm rot="0">
            <a:off x="12153752" y="5486400"/>
            <a:ext cx="5562748" cy="3943350"/>
            <a:chOff x="0" y="0"/>
            <a:chExt cx="7416998" cy="5257800"/>
          </a:xfrm>
        </p:grpSpPr>
        <p:sp>
          <p:nvSpPr>
            <p:cNvPr name="Freeform 63" id="63" descr="preencoded.png"/>
            <p:cNvSpPr/>
            <p:nvPr/>
          </p:nvSpPr>
          <p:spPr>
            <a:xfrm flipH="false" flipV="false" rot="0">
              <a:off x="0" y="0"/>
              <a:ext cx="7417054" cy="5257800"/>
            </a:xfrm>
            <a:custGeom>
              <a:avLst/>
              <a:gdLst/>
              <a:ahLst/>
              <a:cxnLst/>
              <a:rect r="r" b="b" t="t" l="l"/>
              <a:pathLst>
                <a:path h="5257800" w="7417054">
                  <a:moveTo>
                    <a:pt x="0" y="0"/>
                  </a:moveTo>
                  <a:lnTo>
                    <a:pt x="7417054" y="0"/>
                  </a:lnTo>
                  <a:lnTo>
                    <a:pt x="7417054" y="5257800"/>
                  </a:lnTo>
                  <a:lnTo>
                    <a:pt x="0" y="5257800"/>
                  </a:lnTo>
                  <a:lnTo>
                    <a:pt x="0" y="0"/>
                  </a:lnTo>
                  <a:close/>
                </a:path>
              </a:pathLst>
            </a:custGeom>
            <a:blipFill>
              <a:blip r:embed="rId19"/>
              <a:stretch>
                <a:fillRect l="0" t="-44" r="0" b="-44"/>
              </a:stretch>
            </a:blipFill>
          </p:spPr>
        </p:sp>
      </p:grpSp>
      <p:grpSp>
        <p:nvGrpSpPr>
          <p:cNvPr name="Group 64" id="64"/>
          <p:cNvGrpSpPr>
            <a:grpSpLocks noChangeAspect="true"/>
          </p:cNvGrpSpPr>
          <p:nvPr/>
        </p:nvGrpSpPr>
        <p:grpSpPr>
          <a:xfrm rot="0">
            <a:off x="12439502" y="5772150"/>
            <a:ext cx="857250" cy="857250"/>
            <a:chOff x="0" y="0"/>
            <a:chExt cx="1143000" cy="1143000"/>
          </a:xfrm>
        </p:grpSpPr>
        <p:sp>
          <p:nvSpPr>
            <p:cNvPr name="Freeform 65" id="65" descr="preencoded.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20"/>
              <a:stretch>
                <a:fillRect l="0" t="0" r="0" b="0"/>
              </a:stretch>
            </a:blipFill>
          </p:spPr>
        </p:sp>
      </p:grpSp>
      <p:grpSp>
        <p:nvGrpSpPr>
          <p:cNvPr name="Group 66" id="66"/>
          <p:cNvGrpSpPr>
            <a:grpSpLocks noChangeAspect="true"/>
          </p:cNvGrpSpPr>
          <p:nvPr/>
        </p:nvGrpSpPr>
        <p:grpSpPr>
          <a:xfrm rot="0">
            <a:off x="12696676" y="5972175"/>
            <a:ext cx="342900" cy="457200"/>
            <a:chOff x="0" y="0"/>
            <a:chExt cx="457200" cy="609600"/>
          </a:xfrm>
        </p:grpSpPr>
        <p:sp>
          <p:nvSpPr>
            <p:cNvPr name="Freeform 67" id="67" descr="preencoded.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21"/>
              <a:stretch>
                <a:fillRect l="0" t="0" r="0" b="0"/>
              </a:stretch>
            </a:blipFill>
          </p:spPr>
        </p:sp>
      </p:grpSp>
      <p:grpSp>
        <p:nvGrpSpPr>
          <p:cNvPr name="Group 68" id="68"/>
          <p:cNvGrpSpPr>
            <a:grpSpLocks noChangeAspect="true"/>
          </p:cNvGrpSpPr>
          <p:nvPr/>
        </p:nvGrpSpPr>
        <p:grpSpPr>
          <a:xfrm rot="0">
            <a:off x="12439502" y="6915150"/>
            <a:ext cx="228600" cy="228600"/>
            <a:chOff x="0" y="0"/>
            <a:chExt cx="304800" cy="304800"/>
          </a:xfrm>
        </p:grpSpPr>
        <p:sp>
          <p:nvSpPr>
            <p:cNvPr name="Freeform 69" id="69"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70" id="70"/>
          <p:cNvGrpSpPr>
            <a:grpSpLocks noChangeAspect="true"/>
          </p:cNvGrpSpPr>
          <p:nvPr/>
        </p:nvGrpSpPr>
        <p:grpSpPr>
          <a:xfrm rot="0">
            <a:off x="12439502" y="7372350"/>
            <a:ext cx="228600" cy="228600"/>
            <a:chOff x="0" y="0"/>
            <a:chExt cx="304800" cy="304800"/>
          </a:xfrm>
        </p:grpSpPr>
        <p:sp>
          <p:nvSpPr>
            <p:cNvPr name="Freeform 71" id="71"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grpSp>
        <p:nvGrpSpPr>
          <p:cNvPr name="Group 72" id="72"/>
          <p:cNvGrpSpPr>
            <a:grpSpLocks noChangeAspect="true"/>
          </p:cNvGrpSpPr>
          <p:nvPr/>
        </p:nvGrpSpPr>
        <p:grpSpPr>
          <a:xfrm rot="0">
            <a:off x="12439502" y="8172450"/>
            <a:ext cx="228600" cy="228600"/>
            <a:chOff x="0" y="0"/>
            <a:chExt cx="304800" cy="304800"/>
          </a:xfrm>
        </p:grpSpPr>
        <p:sp>
          <p:nvSpPr>
            <p:cNvPr name="Freeform 73" id="73" descr="preencoded.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7"/>
              <a:stretch>
                <a:fillRect l="0" t="0" r="0" b="0"/>
              </a:stretch>
            </a:blipFill>
          </p:spPr>
        </p:sp>
      </p:grpSp>
      <p:sp>
        <p:nvSpPr>
          <p:cNvPr name="TextBox 74" id="74"/>
          <p:cNvSpPr txBox="true"/>
          <p:nvPr/>
        </p:nvSpPr>
        <p:spPr>
          <a:xfrm rot="0">
            <a:off x="571500" y="581025"/>
            <a:ext cx="2057400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Bibliothèques de Machine Learning</a:t>
            </a:r>
          </a:p>
        </p:txBody>
      </p:sp>
      <p:sp>
        <p:nvSpPr>
          <p:cNvPr name="TextBox 75" id="75"/>
          <p:cNvSpPr txBox="true"/>
          <p:nvPr/>
        </p:nvSpPr>
        <p:spPr>
          <a:xfrm rot="0">
            <a:off x="1943100" y="2114550"/>
            <a:ext cx="2214384"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Scikit-learn</a:t>
            </a:r>
          </a:p>
        </p:txBody>
      </p:sp>
      <p:sp>
        <p:nvSpPr>
          <p:cNvPr name="TextBox 76" id="76"/>
          <p:cNvSpPr txBox="true"/>
          <p:nvPr/>
        </p:nvSpPr>
        <p:spPr>
          <a:xfrm rot="0">
            <a:off x="1200150" y="2952750"/>
            <a:ext cx="5395317"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ML classique : classification, régression</a:t>
            </a:r>
          </a:p>
        </p:txBody>
      </p:sp>
      <p:sp>
        <p:nvSpPr>
          <p:cNvPr name="TextBox 77" id="77"/>
          <p:cNvSpPr txBox="true"/>
          <p:nvPr/>
        </p:nvSpPr>
        <p:spPr>
          <a:xfrm rot="0">
            <a:off x="1200150" y="3409950"/>
            <a:ext cx="3744039"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Interface simple et efficace</a:t>
            </a:r>
          </a:p>
        </p:txBody>
      </p:sp>
      <p:sp>
        <p:nvSpPr>
          <p:cNvPr name="TextBox 78" id="78"/>
          <p:cNvSpPr txBox="true"/>
          <p:nvPr/>
        </p:nvSpPr>
        <p:spPr>
          <a:xfrm rot="0">
            <a:off x="1200150" y="3867150"/>
            <a:ext cx="5133588"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Basée sur NumPy, SciPy et Matplotlib</a:t>
            </a:r>
          </a:p>
        </p:txBody>
      </p:sp>
      <p:sp>
        <p:nvSpPr>
          <p:cNvPr name="TextBox 79" id="79"/>
          <p:cNvSpPr txBox="true"/>
          <p:nvPr/>
        </p:nvSpPr>
        <p:spPr>
          <a:xfrm rot="0">
            <a:off x="7734225" y="2114550"/>
            <a:ext cx="2177950"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TensorFlow</a:t>
            </a:r>
          </a:p>
        </p:txBody>
      </p:sp>
      <p:sp>
        <p:nvSpPr>
          <p:cNvPr name="TextBox 80" id="80"/>
          <p:cNvSpPr txBox="true"/>
          <p:nvPr/>
        </p:nvSpPr>
        <p:spPr>
          <a:xfrm rot="0">
            <a:off x="6991275" y="2952750"/>
            <a:ext cx="5337184"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Deep Learning et réseaux de neurones</a:t>
            </a:r>
          </a:p>
        </p:txBody>
      </p:sp>
      <p:sp>
        <p:nvSpPr>
          <p:cNvPr name="TextBox 81" id="81"/>
          <p:cNvSpPr txBox="true"/>
          <p:nvPr/>
        </p:nvSpPr>
        <p:spPr>
          <a:xfrm rot="0">
            <a:off x="6991275" y="3409950"/>
            <a:ext cx="3364438"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Recherche et production</a:t>
            </a:r>
          </a:p>
        </p:txBody>
      </p:sp>
      <p:sp>
        <p:nvSpPr>
          <p:cNvPr name="TextBox 82" id="82"/>
          <p:cNvSpPr txBox="true"/>
          <p:nvPr/>
        </p:nvSpPr>
        <p:spPr>
          <a:xfrm rot="0">
            <a:off x="6991275" y="3867150"/>
            <a:ext cx="3998535"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API Python pour déploiement</a:t>
            </a:r>
          </a:p>
        </p:txBody>
      </p:sp>
      <p:sp>
        <p:nvSpPr>
          <p:cNvPr name="TextBox 83" id="83"/>
          <p:cNvSpPr txBox="true"/>
          <p:nvPr/>
        </p:nvSpPr>
        <p:spPr>
          <a:xfrm rot="0">
            <a:off x="13525352" y="2114550"/>
            <a:ext cx="1521620"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PyTorch</a:t>
            </a:r>
          </a:p>
        </p:txBody>
      </p:sp>
      <p:sp>
        <p:nvSpPr>
          <p:cNvPr name="TextBox 84" id="84"/>
          <p:cNvSpPr txBox="true"/>
          <p:nvPr/>
        </p:nvSpPr>
        <p:spPr>
          <a:xfrm rot="0">
            <a:off x="12782402" y="2952750"/>
            <a:ext cx="4648348"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Framework de Deep Learning open-source</a:t>
            </a:r>
          </a:p>
        </p:txBody>
      </p:sp>
      <p:sp>
        <p:nvSpPr>
          <p:cNvPr name="TextBox 85" id="85"/>
          <p:cNvSpPr txBox="true"/>
          <p:nvPr/>
        </p:nvSpPr>
        <p:spPr>
          <a:xfrm rot="0">
            <a:off x="12782402" y="3752850"/>
            <a:ext cx="4235350"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Graphes de calcul dynamiques</a:t>
            </a:r>
          </a:p>
        </p:txBody>
      </p:sp>
      <p:sp>
        <p:nvSpPr>
          <p:cNvPr name="TextBox 86" id="86"/>
          <p:cNvSpPr txBox="true"/>
          <p:nvPr/>
        </p:nvSpPr>
        <p:spPr>
          <a:xfrm rot="0">
            <a:off x="12782402" y="4210050"/>
            <a:ext cx="4648348"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Facilité de débogage et d'expérimentation</a:t>
            </a:r>
          </a:p>
        </p:txBody>
      </p:sp>
      <p:sp>
        <p:nvSpPr>
          <p:cNvPr name="TextBox 87" id="87"/>
          <p:cNvSpPr txBox="true"/>
          <p:nvPr/>
        </p:nvSpPr>
        <p:spPr>
          <a:xfrm rot="0">
            <a:off x="1943100" y="5943600"/>
            <a:ext cx="2870983"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Neuralforecast</a:t>
            </a:r>
          </a:p>
        </p:txBody>
      </p:sp>
      <p:sp>
        <p:nvSpPr>
          <p:cNvPr name="TextBox 88" id="88"/>
          <p:cNvSpPr txBox="true"/>
          <p:nvPr/>
        </p:nvSpPr>
        <p:spPr>
          <a:xfrm rot="0">
            <a:off x="1200150" y="67818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Framework pour pré visions temporelles avancées</a:t>
            </a:r>
          </a:p>
        </p:txBody>
      </p:sp>
      <p:sp>
        <p:nvSpPr>
          <p:cNvPr name="TextBox 89" id="89"/>
          <p:cNvSpPr txBox="true"/>
          <p:nvPr/>
        </p:nvSpPr>
        <p:spPr>
          <a:xfrm rot="0">
            <a:off x="1200150" y="75819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Intégration des réseaux de neurones quantiles</a:t>
            </a:r>
          </a:p>
        </p:txBody>
      </p:sp>
      <p:sp>
        <p:nvSpPr>
          <p:cNvPr name="TextBox 90" id="90"/>
          <p:cNvSpPr txBox="true"/>
          <p:nvPr/>
        </p:nvSpPr>
        <p:spPr>
          <a:xfrm rot="0">
            <a:off x="1200150" y="83820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Cross-Temporal Attention pour capture de nuances</a:t>
            </a:r>
          </a:p>
        </p:txBody>
      </p:sp>
      <p:sp>
        <p:nvSpPr>
          <p:cNvPr name="TextBox 91" id="91"/>
          <p:cNvSpPr txBox="true"/>
          <p:nvPr/>
        </p:nvSpPr>
        <p:spPr>
          <a:xfrm rot="0">
            <a:off x="7734225" y="5943600"/>
            <a:ext cx="2402979"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Statsmodels</a:t>
            </a:r>
          </a:p>
        </p:txBody>
      </p:sp>
      <p:sp>
        <p:nvSpPr>
          <p:cNvPr name="TextBox 92" id="92"/>
          <p:cNvSpPr txBox="true"/>
          <p:nvPr/>
        </p:nvSpPr>
        <p:spPr>
          <a:xfrm rot="0">
            <a:off x="6991275" y="67818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Utilitaire complet pour modèles statistiques et calculs</a:t>
            </a:r>
          </a:p>
        </p:txBody>
      </p:sp>
      <p:sp>
        <p:nvSpPr>
          <p:cNvPr name="TextBox 93" id="93"/>
          <p:cNvSpPr txBox="true"/>
          <p:nvPr/>
        </p:nvSpPr>
        <p:spPr>
          <a:xfrm rot="0">
            <a:off x="6991275" y="75819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Régressions JSONL et tests d'hypothèses</a:t>
            </a:r>
          </a:p>
        </p:txBody>
      </p:sp>
      <p:sp>
        <p:nvSpPr>
          <p:cNvPr name="TextBox 94" id="94"/>
          <p:cNvSpPr txBox="true"/>
          <p:nvPr/>
        </p:nvSpPr>
        <p:spPr>
          <a:xfrm rot="0">
            <a:off x="6991275" y="8382000"/>
            <a:ext cx="4648125"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Séries chronologiques dans ANOVA, ARIMA et autres</a:t>
            </a:r>
          </a:p>
        </p:txBody>
      </p:sp>
      <p:sp>
        <p:nvSpPr>
          <p:cNvPr name="TextBox 95" id="95"/>
          <p:cNvSpPr txBox="true"/>
          <p:nvPr/>
        </p:nvSpPr>
        <p:spPr>
          <a:xfrm rot="0">
            <a:off x="13525352" y="5943600"/>
            <a:ext cx="1529924" cy="457200"/>
          </a:xfrm>
          <a:prstGeom prst="rect">
            <a:avLst/>
          </a:prstGeom>
        </p:spPr>
        <p:txBody>
          <a:bodyPr anchor="t" rtlCol="false" tIns="0" lIns="0" bIns="0" rIns="0">
            <a:spAutoFit/>
          </a:bodyPr>
          <a:lstStyle/>
          <a:p>
            <a:pPr algn="l">
              <a:lnSpc>
                <a:spcPts val="3149"/>
              </a:lnSpc>
            </a:pPr>
            <a:r>
              <a:rPr lang="en-US" sz="2250" b="true">
                <a:solidFill>
                  <a:srgbClr val="000000"/>
                </a:solidFill>
                <a:latin typeface="Arimo Bold"/>
                <a:ea typeface="Arimo Bold"/>
                <a:cs typeface="Arimo Bold"/>
                <a:sym typeface="Arimo Bold"/>
              </a:rPr>
              <a:t>PyCaret</a:t>
            </a:r>
          </a:p>
        </p:txBody>
      </p:sp>
      <p:sp>
        <p:nvSpPr>
          <p:cNvPr name="TextBox 96" id="96"/>
          <p:cNvSpPr txBox="true"/>
          <p:nvPr/>
        </p:nvSpPr>
        <p:spPr>
          <a:xfrm rot="0">
            <a:off x="12782402" y="6781800"/>
            <a:ext cx="5543460" cy="4191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Automatisation complète de pipeline ML</a:t>
            </a:r>
          </a:p>
        </p:txBody>
      </p:sp>
      <p:sp>
        <p:nvSpPr>
          <p:cNvPr name="TextBox 97" id="97"/>
          <p:cNvSpPr txBox="true"/>
          <p:nvPr/>
        </p:nvSpPr>
        <p:spPr>
          <a:xfrm rot="0">
            <a:off x="12782402" y="7239000"/>
            <a:ext cx="4648348"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Comparaison des modèles par performances</a:t>
            </a:r>
          </a:p>
        </p:txBody>
      </p:sp>
      <p:sp>
        <p:nvSpPr>
          <p:cNvPr name="TextBox 98" id="98"/>
          <p:cNvSpPr txBox="true"/>
          <p:nvPr/>
        </p:nvSpPr>
        <p:spPr>
          <a:xfrm rot="0">
            <a:off x="12782402" y="8039100"/>
            <a:ext cx="4648348" cy="762000"/>
          </a:xfrm>
          <a:prstGeom prst="rect">
            <a:avLst/>
          </a:prstGeom>
        </p:spPr>
        <p:txBody>
          <a:bodyPr anchor="t" rtlCol="false" tIns="0" lIns="0" bIns="0" rIns="0">
            <a:spAutoFit/>
          </a:bodyPr>
          <a:lstStyle/>
          <a:p>
            <a:pPr algn="l">
              <a:lnSpc>
                <a:spcPts val="2700"/>
              </a:lnSpc>
            </a:pPr>
            <a:r>
              <a:rPr lang="en-US" sz="1800">
                <a:solidFill>
                  <a:srgbClr val="374151"/>
                </a:solidFill>
                <a:latin typeface="Arimo"/>
                <a:ea typeface="Arimo"/>
                <a:cs typeface="Arimo"/>
                <a:sym typeface="Arimo"/>
              </a:rPr>
              <a:t>Exportation facilitée et déploiement simplifié</a:t>
            </a:r>
          </a:p>
        </p:txBody>
      </p:sp>
      <p:sp>
        <p:nvSpPr>
          <p:cNvPr name="TextBox 99" id="99"/>
          <p:cNvSpPr txBox="true"/>
          <p:nvPr/>
        </p:nvSpPr>
        <p:spPr>
          <a:xfrm rot="0">
            <a:off x="571500" y="9725025"/>
            <a:ext cx="17145000" cy="333375"/>
          </a:xfrm>
          <a:prstGeom prst="rect">
            <a:avLst/>
          </a:prstGeom>
        </p:spPr>
        <p:txBody>
          <a:bodyPr anchor="t" rtlCol="false" tIns="0" lIns="0" bIns="0" rIns="0">
            <a:spAutoFit/>
          </a:bodyPr>
          <a:lstStyle/>
          <a:p>
            <a:pPr algn="l">
              <a:lnSpc>
                <a:spcPts val="2250"/>
              </a:lnSpc>
            </a:pPr>
            <a:r>
              <a:rPr lang="en-US" sz="1575">
                <a:solidFill>
                  <a:srgbClr val="6B7280"/>
                </a:solidFill>
                <a:latin typeface="Arimo"/>
                <a:ea typeface="Arimo"/>
                <a:cs typeface="Arimo"/>
                <a:sym typeface="Arimo"/>
              </a:rPr>
              <a:t>Page 13 sur 15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685800" y="2457450"/>
            <a:ext cx="8001000" cy="1143000"/>
            <a:chOff x="0" y="0"/>
            <a:chExt cx="10668000" cy="1524000"/>
          </a:xfrm>
        </p:grpSpPr>
        <p:sp>
          <p:nvSpPr>
            <p:cNvPr name="Freeform 5" id="5" descr="preencoded.png"/>
            <p:cNvSpPr/>
            <p:nvPr/>
          </p:nvSpPr>
          <p:spPr>
            <a:xfrm flipH="false" flipV="false" rot="0">
              <a:off x="0" y="0"/>
              <a:ext cx="10668000" cy="1524000"/>
            </a:xfrm>
            <a:custGeom>
              <a:avLst/>
              <a:gdLst/>
              <a:ahLst/>
              <a:cxnLst/>
              <a:rect r="r" b="b" t="t" l="l"/>
              <a:pathLst>
                <a:path h="1524000" w="10668000">
                  <a:moveTo>
                    <a:pt x="0" y="0"/>
                  </a:moveTo>
                  <a:lnTo>
                    <a:pt x="10668000" y="0"/>
                  </a:lnTo>
                  <a:lnTo>
                    <a:pt x="10668000" y="1524000"/>
                  </a:lnTo>
                  <a:lnTo>
                    <a:pt x="0" y="1524000"/>
                  </a:lnTo>
                  <a:lnTo>
                    <a:pt x="0" y="0"/>
                  </a:lnTo>
                  <a:close/>
                </a:path>
              </a:pathLst>
            </a:custGeom>
            <a:blipFill>
              <a:blip r:embed="rId4"/>
              <a:stretch>
                <a:fillRect l="0" t="0" r="0" b="0"/>
              </a:stretch>
            </a:blipFill>
          </p:spPr>
        </p:sp>
      </p:grpSp>
      <p:grpSp>
        <p:nvGrpSpPr>
          <p:cNvPr name="Group 6" id="6"/>
          <p:cNvGrpSpPr>
            <a:grpSpLocks noChangeAspect="true"/>
          </p:cNvGrpSpPr>
          <p:nvPr/>
        </p:nvGrpSpPr>
        <p:grpSpPr>
          <a:xfrm rot="0">
            <a:off x="914400" y="2743200"/>
            <a:ext cx="285750" cy="400050"/>
            <a:chOff x="0" y="0"/>
            <a:chExt cx="381000" cy="533400"/>
          </a:xfrm>
        </p:grpSpPr>
        <p:sp>
          <p:nvSpPr>
            <p:cNvPr name="Freeform 7" id="7" descr="preencoded.png"/>
            <p:cNvSpPr/>
            <p:nvPr/>
          </p:nvSpPr>
          <p:spPr>
            <a:xfrm flipH="false" flipV="false" rot="0">
              <a:off x="0" y="0"/>
              <a:ext cx="381000" cy="533400"/>
            </a:xfrm>
            <a:custGeom>
              <a:avLst/>
              <a:gdLst/>
              <a:ahLst/>
              <a:cxnLst/>
              <a:rect r="r" b="b" t="t" l="l"/>
              <a:pathLst>
                <a:path h="533400" w="381000">
                  <a:moveTo>
                    <a:pt x="0" y="0"/>
                  </a:moveTo>
                  <a:lnTo>
                    <a:pt x="381000" y="0"/>
                  </a:lnTo>
                  <a:lnTo>
                    <a:pt x="381000" y="533400"/>
                  </a:lnTo>
                  <a:lnTo>
                    <a:pt x="0" y="533400"/>
                  </a:lnTo>
                  <a:lnTo>
                    <a:pt x="0" y="0"/>
                  </a:lnTo>
                  <a:close/>
                </a:path>
              </a:pathLst>
            </a:custGeom>
            <a:blipFill>
              <a:blip r:embed="rId5"/>
              <a:stretch>
                <a:fillRect l="0" t="0" r="0" b="0"/>
              </a:stretch>
            </a:blipFill>
          </p:spPr>
        </p:sp>
      </p:grpSp>
      <p:grpSp>
        <p:nvGrpSpPr>
          <p:cNvPr name="Group 8" id="8"/>
          <p:cNvGrpSpPr>
            <a:grpSpLocks noChangeAspect="true"/>
          </p:cNvGrpSpPr>
          <p:nvPr/>
        </p:nvGrpSpPr>
        <p:grpSpPr>
          <a:xfrm rot="0">
            <a:off x="685800" y="3829050"/>
            <a:ext cx="8001000" cy="1143000"/>
            <a:chOff x="0" y="0"/>
            <a:chExt cx="10668000" cy="1524000"/>
          </a:xfrm>
        </p:grpSpPr>
        <p:sp>
          <p:nvSpPr>
            <p:cNvPr name="Freeform 9" id="9" descr="preencoded.png"/>
            <p:cNvSpPr/>
            <p:nvPr/>
          </p:nvSpPr>
          <p:spPr>
            <a:xfrm flipH="false" flipV="false" rot="0">
              <a:off x="0" y="0"/>
              <a:ext cx="10668000" cy="1524000"/>
            </a:xfrm>
            <a:custGeom>
              <a:avLst/>
              <a:gdLst/>
              <a:ahLst/>
              <a:cxnLst/>
              <a:rect r="r" b="b" t="t" l="l"/>
              <a:pathLst>
                <a:path h="1524000" w="10668000">
                  <a:moveTo>
                    <a:pt x="0" y="0"/>
                  </a:moveTo>
                  <a:lnTo>
                    <a:pt x="10668000" y="0"/>
                  </a:lnTo>
                  <a:lnTo>
                    <a:pt x="10668000" y="1524000"/>
                  </a:lnTo>
                  <a:lnTo>
                    <a:pt x="0" y="1524000"/>
                  </a:lnTo>
                  <a:lnTo>
                    <a:pt x="0" y="0"/>
                  </a:lnTo>
                  <a:close/>
                </a:path>
              </a:pathLst>
            </a:custGeom>
            <a:blipFill>
              <a:blip r:embed="rId4"/>
              <a:stretch>
                <a:fillRect l="0" t="0" r="0" b="0"/>
              </a:stretch>
            </a:blipFill>
          </p:spPr>
        </p:sp>
      </p:grpSp>
      <p:grpSp>
        <p:nvGrpSpPr>
          <p:cNvPr name="Group 10" id="10"/>
          <p:cNvGrpSpPr>
            <a:grpSpLocks noChangeAspect="true"/>
          </p:cNvGrpSpPr>
          <p:nvPr/>
        </p:nvGrpSpPr>
        <p:grpSpPr>
          <a:xfrm rot="0">
            <a:off x="914400" y="4114800"/>
            <a:ext cx="285750" cy="400050"/>
            <a:chOff x="0" y="0"/>
            <a:chExt cx="381000" cy="533400"/>
          </a:xfrm>
        </p:grpSpPr>
        <p:sp>
          <p:nvSpPr>
            <p:cNvPr name="Freeform 11" id="11" descr="preencoded.png"/>
            <p:cNvSpPr/>
            <p:nvPr/>
          </p:nvSpPr>
          <p:spPr>
            <a:xfrm flipH="false" flipV="false" rot="0">
              <a:off x="0" y="0"/>
              <a:ext cx="381000" cy="533400"/>
            </a:xfrm>
            <a:custGeom>
              <a:avLst/>
              <a:gdLst/>
              <a:ahLst/>
              <a:cxnLst/>
              <a:rect r="r" b="b" t="t" l="l"/>
              <a:pathLst>
                <a:path h="533400" w="381000">
                  <a:moveTo>
                    <a:pt x="0" y="0"/>
                  </a:moveTo>
                  <a:lnTo>
                    <a:pt x="381000" y="0"/>
                  </a:lnTo>
                  <a:lnTo>
                    <a:pt x="381000" y="533400"/>
                  </a:lnTo>
                  <a:lnTo>
                    <a:pt x="0" y="533400"/>
                  </a:lnTo>
                  <a:lnTo>
                    <a:pt x="0" y="0"/>
                  </a:lnTo>
                  <a:close/>
                </a:path>
              </a:pathLst>
            </a:custGeom>
            <a:blipFill>
              <a:blip r:embed="rId5"/>
              <a:stretch>
                <a:fillRect l="0" t="0" r="0" b="0"/>
              </a:stretch>
            </a:blipFill>
          </p:spPr>
        </p:sp>
      </p:grpSp>
      <p:grpSp>
        <p:nvGrpSpPr>
          <p:cNvPr name="Group 12" id="12"/>
          <p:cNvGrpSpPr>
            <a:grpSpLocks noChangeAspect="true"/>
          </p:cNvGrpSpPr>
          <p:nvPr/>
        </p:nvGrpSpPr>
        <p:grpSpPr>
          <a:xfrm rot="0">
            <a:off x="685800" y="5200650"/>
            <a:ext cx="8001000" cy="1143000"/>
            <a:chOff x="0" y="0"/>
            <a:chExt cx="10668000" cy="1524000"/>
          </a:xfrm>
        </p:grpSpPr>
        <p:sp>
          <p:nvSpPr>
            <p:cNvPr name="Freeform 13" id="13" descr="preencoded.png"/>
            <p:cNvSpPr/>
            <p:nvPr/>
          </p:nvSpPr>
          <p:spPr>
            <a:xfrm flipH="false" flipV="false" rot="0">
              <a:off x="0" y="0"/>
              <a:ext cx="10668000" cy="1524000"/>
            </a:xfrm>
            <a:custGeom>
              <a:avLst/>
              <a:gdLst/>
              <a:ahLst/>
              <a:cxnLst/>
              <a:rect r="r" b="b" t="t" l="l"/>
              <a:pathLst>
                <a:path h="1524000" w="10668000">
                  <a:moveTo>
                    <a:pt x="0" y="0"/>
                  </a:moveTo>
                  <a:lnTo>
                    <a:pt x="10668000" y="0"/>
                  </a:lnTo>
                  <a:lnTo>
                    <a:pt x="10668000" y="1524000"/>
                  </a:lnTo>
                  <a:lnTo>
                    <a:pt x="0" y="1524000"/>
                  </a:lnTo>
                  <a:lnTo>
                    <a:pt x="0" y="0"/>
                  </a:lnTo>
                  <a:close/>
                </a:path>
              </a:pathLst>
            </a:custGeom>
            <a:blipFill>
              <a:blip r:embed="rId4"/>
              <a:stretch>
                <a:fillRect l="0" t="0" r="0" b="0"/>
              </a:stretch>
            </a:blipFill>
          </p:spPr>
        </p:sp>
      </p:grpSp>
      <p:grpSp>
        <p:nvGrpSpPr>
          <p:cNvPr name="Group 14" id="14"/>
          <p:cNvGrpSpPr>
            <a:grpSpLocks noChangeAspect="true"/>
          </p:cNvGrpSpPr>
          <p:nvPr/>
        </p:nvGrpSpPr>
        <p:grpSpPr>
          <a:xfrm rot="0">
            <a:off x="914400" y="5486400"/>
            <a:ext cx="285750" cy="400050"/>
            <a:chOff x="0" y="0"/>
            <a:chExt cx="381000" cy="533400"/>
          </a:xfrm>
        </p:grpSpPr>
        <p:sp>
          <p:nvSpPr>
            <p:cNvPr name="Freeform 15" id="15" descr="preencoded.png"/>
            <p:cNvSpPr/>
            <p:nvPr/>
          </p:nvSpPr>
          <p:spPr>
            <a:xfrm flipH="false" flipV="false" rot="0">
              <a:off x="0" y="0"/>
              <a:ext cx="381000" cy="533400"/>
            </a:xfrm>
            <a:custGeom>
              <a:avLst/>
              <a:gdLst/>
              <a:ahLst/>
              <a:cxnLst/>
              <a:rect r="r" b="b" t="t" l="l"/>
              <a:pathLst>
                <a:path h="533400" w="381000">
                  <a:moveTo>
                    <a:pt x="0" y="0"/>
                  </a:moveTo>
                  <a:lnTo>
                    <a:pt x="381000" y="0"/>
                  </a:lnTo>
                  <a:lnTo>
                    <a:pt x="381000" y="533400"/>
                  </a:lnTo>
                  <a:lnTo>
                    <a:pt x="0" y="533400"/>
                  </a:lnTo>
                  <a:lnTo>
                    <a:pt x="0" y="0"/>
                  </a:lnTo>
                  <a:close/>
                </a:path>
              </a:pathLst>
            </a:custGeom>
            <a:blipFill>
              <a:blip r:embed="rId5"/>
              <a:stretch>
                <a:fillRect l="0" t="0" r="0" b="0"/>
              </a:stretch>
            </a:blipFill>
          </p:spPr>
        </p:sp>
      </p:grpSp>
      <p:grpSp>
        <p:nvGrpSpPr>
          <p:cNvPr name="Group 16" id="16"/>
          <p:cNvGrpSpPr>
            <a:grpSpLocks noChangeAspect="true"/>
          </p:cNvGrpSpPr>
          <p:nvPr/>
        </p:nvGrpSpPr>
        <p:grpSpPr>
          <a:xfrm rot="0">
            <a:off x="685800" y="6572250"/>
            <a:ext cx="8001000" cy="1143000"/>
            <a:chOff x="0" y="0"/>
            <a:chExt cx="10668000" cy="1524000"/>
          </a:xfrm>
        </p:grpSpPr>
        <p:sp>
          <p:nvSpPr>
            <p:cNvPr name="Freeform 17" id="17" descr="preencoded.png"/>
            <p:cNvSpPr/>
            <p:nvPr/>
          </p:nvSpPr>
          <p:spPr>
            <a:xfrm flipH="false" flipV="false" rot="0">
              <a:off x="0" y="0"/>
              <a:ext cx="10668000" cy="1524000"/>
            </a:xfrm>
            <a:custGeom>
              <a:avLst/>
              <a:gdLst/>
              <a:ahLst/>
              <a:cxnLst/>
              <a:rect r="r" b="b" t="t" l="l"/>
              <a:pathLst>
                <a:path h="1524000" w="10668000">
                  <a:moveTo>
                    <a:pt x="0" y="0"/>
                  </a:moveTo>
                  <a:lnTo>
                    <a:pt x="10668000" y="0"/>
                  </a:lnTo>
                  <a:lnTo>
                    <a:pt x="10668000" y="1524000"/>
                  </a:lnTo>
                  <a:lnTo>
                    <a:pt x="0" y="1524000"/>
                  </a:lnTo>
                  <a:lnTo>
                    <a:pt x="0" y="0"/>
                  </a:lnTo>
                  <a:close/>
                </a:path>
              </a:pathLst>
            </a:custGeom>
            <a:blipFill>
              <a:blip r:embed="rId4"/>
              <a:stretch>
                <a:fillRect l="0" t="0" r="0" b="0"/>
              </a:stretch>
            </a:blipFill>
          </p:spPr>
        </p:sp>
      </p:grpSp>
      <p:grpSp>
        <p:nvGrpSpPr>
          <p:cNvPr name="Group 18" id="18"/>
          <p:cNvGrpSpPr>
            <a:grpSpLocks noChangeAspect="true"/>
          </p:cNvGrpSpPr>
          <p:nvPr/>
        </p:nvGrpSpPr>
        <p:grpSpPr>
          <a:xfrm rot="0">
            <a:off x="914400" y="6858000"/>
            <a:ext cx="285750" cy="400050"/>
            <a:chOff x="0" y="0"/>
            <a:chExt cx="381000" cy="533400"/>
          </a:xfrm>
        </p:grpSpPr>
        <p:sp>
          <p:nvSpPr>
            <p:cNvPr name="Freeform 19" id="19" descr="preencoded.png"/>
            <p:cNvSpPr/>
            <p:nvPr/>
          </p:nvSpPr>
          <p:spPr>
            <a:xfrm flipH="false" flipV="false" rot="0">
              <a:off x="0" y="0"/>
              <a:ext cx="381000" cy="533400"/>
            </a:xfrm>
            <a:custGeom>
              <a:avLst/>
              <a:gdLst/>
              <a:ahLst/>
              <a:cxnLst/>
              <a:rect r="r" b="b" t="t" l="l"/>
              <a:pathLst>
                <a:path h="533400" w="381000">
                  <a:moveTo>
                    <a:pt x="0" y="0"/>
                  </a:moveTo>
                  <a:lnTo>
                    <a:pt x="381000" y="0"/>
                  </a:lnTo>
                  <a:lnTo>
                    <a:pt x="381000" y="533400"/>
                  </a:lnTo>
                  <a:lnTo>
                    <a:pt x="0" y="533400"/>
                  </a:lnTo>
                  <a:lnTo>
                    <a:pt x="0" y="0"/>
                  </a:lnTo>
                  <a:close/>
                </a:path>
              </a:pathLst>
            </a:custGeom>
            <a:blipFill>
              <a:blip r:embed="rId5"/>
              <a:stretch>
                <a:fillRect l="0" t="0" r="0" b="0"/>
              </a:stretch>
            </a:blipFill>
          </p:spPr>
        </p:sp>
      </p:grpSp>
      <p:grpSp>
        <p:nvGrpSpPr>
          <p:cNvPr name="Group 20" id="20"/>
          <p:cNvGrpSpPr>
            <a:grpSpLocks noChangeAspect="true"/>
          </p:cNvGrpSpPr>
          <p:nvPr/>
        </p:nvGrpSpPr>
        <p:grpSpPr>
          <a:xfrm rot="0">
            <a:off x="9144000" y="2914650"/>
            <a:ext cx="4114800" cy="1314450"/>
            <a:chOff x="0" y="0"/>
            <a:chExt cx="5486400" cy="1752600"/>
          </a:xfrm>
        </p:grpSpPr>
        <p:sp>
          <p:nvSpPr>
            <p:cNvPr name="Freeform 21" id="21" descr="preencoded.png"/>
            <p:cNvSpPr/>
            <p:nvPr/>
          </p:nvSpPr>
          <p:spPr>
            <a:xfrm flipH="false" flipV="false" rot="0">
              <a:off x="0" y="0"/>
              <a:ext cx="5486400" cy="1752600"/>
            </a:xfrm>
            <a:custGeom>
              <a:avLst/>
              <a:gdLst/>
              <a:ahLst/>
              <a:cxnLst/>
              <a:rect r="r" b="b" t="t" l="l"/>
              <a:pathLst>
                <a:path h="1752600" w="5486400">
                  <a:moveTo>
                    <a:pt x="0" y="0"/>
                  </a:moveTo>
                  <a:lnTo>
                    <a:pt x="5486400" y="0"/>
                  </a:lnTo>
                  <a:lnTo>
                    <a:pt x="5486400" y="1752600"/>
                  </a:lnTo>
                  <a:lnTo>
                    <a:pt x="0" y="1752600"/>
                  </a:lnTo>
                  <a:lnTo>
                    <a:pt x="0" y="0"/>
                  </a:lnTo>
                  <a:close/>
                </a:path>
              </a:pathLst>
            </a:custGeom>
            <a:blipFill>
              <a:blip r:embed="rId6"/>
              <a:stretch>
                <a:fillRect l="0" t="0" r="0" b="0"/>
              </a:stretch>
            </a:blipFill>
          </p:spPr>
        </p:sp>
      </p:grpSp>
      <p:grpSp>
        <p:nvGrpSpPr>
          <p:cNvPr name="Group 22" id="22"/>
          <p:cNvGrpSpPr>
            <a:grpSpLocks noChangeAspect="true"/>
          </p:cNvGrpSpPr>
          <p:nvPr/>
        </p:nvGrpSpPr>
        <p:grpSpPr>
          <a:xfrm rot="0">
            <a:off x="9372600" y="3143250"/>
            <a:ext cx="457200" cy="457200"/>
            <a:chOff x="0" y="0"/>
            <a:chExt cx="609600" cy="609600"/>
          </a:xfrm>
        </p:grpSpPr>
        <p:sp>
          <p:nvSpPr>
            <p:cNvPr name="Freeform 23" id="23" descr="preencoded.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7"/>
              <a:stretch>
                <a:fillRect l="0" t="0" r="0" b="0"/>
              </a:stretch>
            </a:blipFill>
          </p:spPr>
        </p:sp>
      </p:grpSp>
      <p:grpSp>
        <p:nvGrpSpPr>
          <p:cNvPr name="Group 24" id="24"/>
          <p:cNvGrpSpPr>
            <a:grpSpLocks noChangeAspect="true"/>
          </p:cNvGrpSpPr>
          <p:nvPr/>
        </p:nvGrpSpPr>
        <p:grpSpPr>
          <a:xfrm rot="0">
            <a:off x="13487400" y="2914650"/>
            <a:ext cx="4114800" cy="1314450"/>
            <a:chOff x="0" y="0"/>
            <a:chExt cx="5486400" cy="1752600"/>
          </a:xfrm>
        </p:grpSpPr>
        <p:sp>
          <p:nvSpPr>
            <p:cNvPr name="Freeform 25" id="25" descr="preencoded.png"/>
            <p:cNvSpPr/>
            <p:nvPr/>
          </p:nvSpPr>
          <p:spPr>
            <a:xfrm flipH="false" flipV="false" rot="0">
              <a:off x="0" y="0"/>
              <a:ext cx="5486400" cy="1752600"/>
            </a:xfrm>
            <a:custGeom>
              <a:avLst/>
              <a:gdLst/>
              <a:ahLst/>
              <a:cxnLst/>
              <a:rect r="r" b="b" t="t" l="l"/>
              <a:pathLst>
                <a:path h="1752600" w="5486400">
                  <a:moveTo>
                    <a:pt x="0" y="0"/>
                  </a:moveTo>
                  <a:lnTo>
                    <a:pt x="5486400" y="0"/>
                  </a:lnTo>
                  <a:lnTo>
                    <a:pt x="5486400" y="1752600"/>
                  </a:lnTo>
                  <a:lnTo>
                    <a:pt x="0" y="1752600"/>
                  </a:lnTo>
                  <a:lnTo>
                    <a:pt x="0" y="0"/>
                  </a:lnTo>
                  <a:close/>
                </a:path>
              </a:pathLst>
            </a:custGeom>
            <a:blipFill>
              <a:blip r:embed="rId6"/>
              <a:stretch>
                <a:fillRect l="0" t="0" r="0" b="0"/>
              </a:stretch>
            </a:blipFill>
          </p:spPr>
        </p:sp>
      </p:grpSp>
      <p:grpSp>
        <p:nvGrpSpPr>
          <p:cNvPr name="Group 26" id="26"/>
          <p:cNvGrpSpPr>
            <a:grpSpLocks noChangeAspect="true"/>
          </p:cNvGrpSpPr>
          <p:nvPr/>
        </p:nvGrpSpPr>
        <p:grpSpPr>
          <a:xfrm rot="0">
            <a:off x="13716000" y="3143250"/>
            <a:ext cx="457200" cy="457200"/>
            <a:chOff x="0" y="0"/>
            <a:chExt cx="609600" cy="609600"/>
          </a:xfrm>
        </p:grpSpPr>
        <p:sp>
          <p:nvSpPr>
            <p:cNvPr name="Freeform 27" id="27" descr="preencoded.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8"/>
              <a:stretch>
                <a:fillRect l="0" t="0" r="0" b="0"/>
              </a:stretch>
            </a:blipFill>
          </p:spPr>
        </p:sp>
      </p:grpSp>
      <p:grpSp>
        <p:nvGrpSpPr>
          <p:cNvPr name="Group 28" id="28"/>
          <p:cNvGrpSpPr>
            <a:grpSpLocks noChangeAspect="true"/>
          </p:cNvGrpSpPr>
          <p:nvPr/>
        </p:nvGrpSpPr>
        <p:grpSpPr>
          <a:xfrm rot="0">
            <a:off x="9144000" y="4457700"/>
            <a:ext cx="4114800" cy="1543050"/>
            <a:chOff x="0" y="0"/>
            <a:chExt cx="5486400" cy="2057400"/>
          </a:xfrm>
        </p:grpSpPr>
        <p:sp>
          <p:nvSpPr>
            <p:cNvPr name="Freeform 29" id="29" descr="preencoded.png"/>
            <p:cNvSpPr/>
            <p:nvPr/>
          </p:nvSpPr>
          <p:spPr>
            <a:xfrm flipH="false" flipV="false" rot="0">
              <a:off x="0" y="0"/>
              <a:ext cx="5486400" cy="2057400"/>
            </a:xfrm>
            <a:custGeom>
              <a:avLst/>
              <a:gdLst/>
              <a:ahLst/>
              <a:cxnLst/>
              <a:rect r="r" b="b" t="t" l="l"/>
              <a:pathLst>
                <a:path h="2057400" w="5486400">
                  <a:moveTo>
                    <a:pt x="0" y="0"/>
                  </a:moveTo>
                  <a:lnTo>
                    <a:pt x="5486400" y="0"/>
                  </a:lnTo>
                  <a:lnTo>
                    <a:pt x="5486400" y="2057400"/>
                  </a:lnTo>
                  <a:lnTo>
                    <a:pt x="0" y="2057400"/>
                  </a:lnTo>
                  <a:lnTo>
                    <a:pt x="0" y="0"/>
                  </a:lnTo>
                  <a:close/>
                </a:path>
              </a:pathLst>
            </a:custGeom>
            <a:blipFill>
              <a:blip r:embed="rId9"/>
              <a:stretch>
                <a:fillRect l="0" t="0" r="0" b="0"/>
              </a:stretch>
            </a:blipFill>
          </p:spPr>
        </p:sp>
      </p:grpSp>
      <p:grpSp>
        <p:nvGrpSpPr>
          <p:cNvPr name="Group 30" id="30"/>
          <p:cNvGrpSpPr>
            <a:grpSpLocks noChangeAspect="true"/>
          </p:cNvGrpSpPr>
          <p:nvPr/>
        </p:nvGrpSpPr>
        <p:grpSpPr>
          <a:xfrm rot="0">
            <a:off x="9372600" y="4686300"/>
            <a:ext cx="457200" cy="457200"/>
            <a:chOff x="0" y="0"/>
            <a:chExt cx="609600" cy="609600"/>
          </a:xfrm>
        </p:grpSpPr>
        <p:sp>
          <p:nvSpPr>
            <p:cNvPr name="Freeform 31" id="31" descr="preencoded.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0" r="0" b="0"/>
              </a:stretch>
            </a:blipFill>
          </p:spPr>
        </p:sp>
      </p:grpSp>
      <p:grpSp>
        <p:nvGrpSpPr>
          <p:cNvPr name="Group 32" id="32"/>
          <p:cNvGrpSpPr>
            <a:grpSpLocks noChangeAspect="true"/>
          </p:cNvGrpSpPr>
          <p:nvPr/>
        </p:nvGrpSpPr>
        <p:grpSpPr>
          <a:xfrm rot="0">
            <a:off x="13487400" y="4457700"/>
            <a:ext cx="4114800" cy="1543050"/>
            <a:chOff x="0" y="0"/>
            <a:chExt cx="5486400" cy="2057400"/>
          </a:xfrm>
        </p:grpSpPr>
        <p:sp>
          <p:nvSpPr>
            <p:cNvPr name="Freeform 33" id="33" descr="preencoded.png"/>
            <p:cNvSpPr/>
            <p:nvPr/>
          </p:nvSpPr>
          <p:spPr>
            <a:xfrm flipH="false" flipV="false" rot="0">
              <a:off x="0" y="0"/>
              <a:ext cx="5486400" cy="2057400"/>
            </a:xfrm>
            <a:custGeom>
              <a:avLst/>
              <a:gdLst/>
              <a:ahLst/>
              <a:cxnLst/>
              <a:rect r="r" b="b" t="t" l="l"/>
              <a:pathLst>
                <a:path h="2057400" w="5486400">
                  <a:moveTo>
                    <a:pt x="0" y="0"/>
                  </a:moveTo>
                  <a:lnTo>
                    <a:pt x="5486400" y="0"/>
                  </a:lnTo>
                  <a:lnTo>
                    <a:pt x="5486400" y="2057400"/>
                  </a:lnTo>
                  <a:lnTo>
                    <a:pt x="0" y="2057400"/>
                  </a:lnTo>
                  <a:lnTo>
                    <a:pt x="0" y="0"/>
                  </a:lnTo>
                  <a:close/>
                </a:path>
              </a:pathLst>
            </a:custGeom>
            <a:blipFill>
              <a:blip r:embed="rId9"/>
              <a:stretch>
                <a:fillRect l="0" t="0" r="0" b="0"/>
              </a:stretch>
            </a:blipFill>
          </p:spPr>
        </p:sp>
      </p:grpSp>
      <p:grpSp>
        <p:nvGrpSpPr>
          <p:cNvPr name="Group 34" id="34"/>
          <p:cNvGrpSpPr>
            <a:grpSpLocks noChangeAspect="true"/>
          </p:cNvGrpSpPr>
          <p:nvPr/>
        </p:nvGrpSpPr>
        <p:grpSpPr>
          <a:xfrm rot="0">
            <a:off x="13716000" y="4800600"/>
            <a:ext cx="428178" cy="457200"/>
            <a:chOff x="0" y="0"/>
            <a:chExt cx="570904" cy="609600"/>
          </a:xfrm>
        </p:grpSpPr>
        <p:sp>
          <p:nvSpPr>
            <p:cNvPr name="Freeform 35" id="35" descr="preencoded.png"/>
            <p:cNvSpPr/>
            <p:nvPr/>
          </p:nvSpPr>
          <p:spPr>
            <a:xfrm flipH="false" flipV="false" rot="0">
              <a:off x="0" y="0"/>
              <a:ext cx="570865" cy="609600"/>
            </a:xfrm>
            <a:custGeom>
              <a:avLst/>
              <a:gdLst/>
              <a:ahLst/>
              <a:cxnLst/>
              <a:rect r="r" b="b" t="t" l="l"/>
              <a:pathLst>
                <a:path h="609600" w="570865">
                  <a:moveTo>
                    <a:pt x="0" y="0"/>
                  </a:moveTo>
                  <a:lnTo>
                    <a:pt x="570865" y="0"/>
                  </a:lnTo>
                  <a:lnTo>
                    <a:pt x="570865" y="609600"/>
                  </a:lnTo>
                  <a:lnTo>
                    <a:pt x="0" y="609600"/>
                  </a:lnTo>
                  <a:lnTo>
                    <a:pt x="0" y="0"/>
                  </a:lnTo>
                  <a:close/>
                </a:path>
              </a:pathLst>
            </a:custGeom>
            <a:blipFill>
              <a:blip r:embed="rId11"/>
              <a:stretch>
                <a:fillRect l="0" t="-1670" r="-6" b="-1670"/>
              </a:stretch>
            </a:blipFill>
          </p:spPr>
        </p:sp>
      </p:grpSp>
      <p:grpSp>
        <p:nvGrpSpPr>
          <p:cNvPr name="Group 36" id="36"/>
          <p:cNvGrpSpPr>
            <a:grpSpLocks noChangeAspect="true"/>
          </p:cNvGrpSpPr>
          <p:nvPr/>
        </p:nvGrpSpPr>
        <p:grpSpPr>
          <a:xfrm rot="0">
            <a:off x="9144000" y="6343650"/>
            <a:ext cx="8458200" cy="1143000"/>
            <a:chOff x="0" y="0"/>
            <a:chExt cx="11277600" cy="1524000"/>
          </a:xfrm>
        </p:grpSpPr>
        <p:sp>
          <p:nvSpPr>
            <p:cNvPr name="Freeform 37" id="37" descr="preencoded.png"/>
            <p:cNvSpPr/>
            <p:nvPr/>
          </p:nvSpPr>
          <p:spPr>
            <a:xfrm flipH="false" flipV="false" rot="0">
              <a:off x="0" y="0"/>
              <a:ext cx="11277600" cy="1524000"/>
            </a:xfrm>
            <a:custGeom>
              <a:avLst/>
              <a:gdLst/>
              <a:ahLst/>
              <a:cxnLst/>
              <a:rect r="r" b="b" t="t" l="l"/>
              <a:pathLst>
                <a:path h="1524000" w="11277600">
                  <a:moveTo>
                    <a:pt x="0" y="0"/>
                  </a:moveTo>
                  <a:lnTo>
                    <a:pt x="11277600" y="0"/>
                  </a:lnTo>
                  <a:lnTo>
                    <a:pt x="11277600" y="1524000"/>
                  </a:lnTo>
                  <a:lnTo>
                    <a:pt x="0" y="1524000"/>
                  </a:lnTo>
                  <a:lnTo>
                    <a:pt x="0" y="0"/>
                  </a:lnTo>
                  <a:close/>
                </a:path>
              </a:pathLst>
            </a:custGeom>
            <a:blipFill>
              <a:blip r:embed="rId12"/>
              <a:stretch>
                <a:fillRect l="0" t="0" r="0" b="0"/>
              </a:stretch>
            </a:blipFill>
          </p:spPr>
        </p:sp>
      </p:grpSp>
      <p:grpSp>
        <p:nvGrpSpPr>
          <p:cNvPr name="Group 38" id="38"/>
          <p:cNvGrpSpPr>
            <a:grpSpLocks noChangeAspect="true"/>
          </p:cNvGrpSpPr>
          <p:nvPr/>
        </p:nvGrpSpPr>
        <p:grpSpPr>
          <a:xfrm rot="0">
            <a:off x="9372600" y="6686550"/>
            <a:ext cx="257175" cy="457200"/>
            <a:chOff x="0" y="0"/>
            <a:chExt cx="342900" cy="609600"/>
          </a:xfrm>
        </p:grpSpPr>
        <p:sp>
          <p:nvSpPr>
            <p:cNvPr name="Freeform 39" id="39" descr="preencoded.png"/>
            <p:cNvSpPr/>
            <p:nvPr/>
          </p:nvSpPr>
          <p:spPr>
            <a:xfrm flipH="false" flipV="false" rot="0">
              <a:off x="0" y="0"/>
              <a:ext cx="342900" cy="609600"/>
            </a:xfrm>
            <a:custGeom>
              <a:avLst/>
              <a:gdLst/>
              <a:ahLst/>
              <a:cxnLst/>
              <a:rect r="r" b="b" t="t" l="l"/>
              <a:pathLst>
                <a:path h="609600" w="342900">
                  <a:moveTo>
                    <a:pt x="0" y="0"/>
                  </a:moveTo>
                  <a:lnTo>
                    <a:pt x="342900" y="0"/>
                  </a:lnTo>
                  <a:lnTo>
                    <a:pt x="342900" y="609600"/>
                  </a:lnTo>
                  <a:lnTo>
                    <a:pt x="0" y="609600"/>
                  </a:lnTo>
                  <a:lnTo>
                    <a:pt x="0" y="0"/>
                  </a:lnTo>
                  <a:close/>
                </a:path>
              </a:pathLst>
            </a:custGeom>
            <a:blipFill>
              <a:blip r:embed="rId13"/>
              <a:stretch>
                <a:fillRect l="0" t="0" r="0" b="0"/>
              </a:stretch>
            </a:blipFill>
          </p:spPr>
        </p:sp>
      </p:grpSp>
      <p:sp>
        <p:nvSpPr>
          <p:cNvPr name="TextBox 40" id="40"/>
          <p:cNvSpPr txBox="true"/>
          <p:nvPr/>
        </p:nvSpPr>
        <p:spPr>
          <a:xfrm rot="0">
            <a:off x="685800" y="695325"/>
            <a:ext cx="20299680" cy="561975"/>
          </a:xfrm>
          <a:prstGeom prst="rect">
            <a:avLst/>
          </a:prstGeom>
        </p:spPr>
        <p:txBody>
          <a:bodyPr anchor="t" rtlCol="false" tIns="0" lIns="0" bIns="0" rIns="0">
            <a:spAutoFit/>
          </a:bodyPr>
          <a:lstStyle/>
          <a:p>
            <a:pPr algn="l">
              <a:lnSpc>
                <a:spcPts val="4500"/>
              </a:lnSpc>
            </a:pPr>
            <a:r>
              <a:rPr lang="en-US" sz="4050" b="true">
                <a:solidFill>
                  <a:srgbClr val="306998"/>
                </a:solidFill>
                <a:latin typeface="Arimo Bold"/>
                <a:ea typeface="Arimo Bold"/>
                <a:cs typeface="Arimo Bold"/>
                <a:sym typeface="Arimo Bold"/>
              </a:rPr>
              <a:t>Conclusion et Prochaines Étapes</a:t>
            </a:r>
          </a:p>
        </p:txBody>
      </p:sp>
      <p:sp>
        <p:nvSpPr>
          <p:cNvPr name="TextBox 41" id="41"/>
          <p:cNvSpPr txBox="true"/>
          <p:nvPr/>
        </p:nvSpPr>
        <p:spPr>
          <a:xfrm rot="0">
            <a:off x="685800" y="1714500"/>
            <a:ext cx="9601200" cy="514350"/>
          </a:xfrm>
          <a:prstGeom prst="rect">
            <a:avLst/>
          </a:prstGeom>
        </p:spPr>
        <p:txBody>
          <a:bodyPr anchor="t" rtlCol="false" tIns="0" lIns="0" bIns="0" rIns="0">
            <a:spAutoFit/>
          </a:bodyPr>
          <a:lstStyle/>
          <a:p>
            <a:pPr algn="l">
              <a:lnSpc>
                <a:spcPts val="3600"/>
              </a:lnSpc>
            </a:pPr>
            <a:r>
              <a:rPr lang="en-US" sz="2700" b="true">
                <a:solidFill>
                  <a:srgbClr val="306998"/>
                </a:solidFill>
                <a:latin typeface="Arimo Bold"/>
                <a:ea typeface="Arimo Bold"/>
                <a:cs typeface="Arimo Bold"/>
                <a:sym typeface="Arimo Bold"/>
              </a:rPr>
              <a:t>Pourquoi Python pour la Data Science ?</a:t>
            </a:r>
          </a:p>
        </p:txBody>
      </p:sp>
      <p:sp>
        <p:nvSpPr>
          <p:cNvPr name="TextBox 42" id="42"/>
          <p:cNvSpPr txBox="true"/>
          <p:nvPr/>
        </p:nvSpPr>
        <p:spPr>
          <a:xfrm rot="0">
            <a:off x="1371600" y="2609850"/>
            <a:ext cx="7086600" cy="7620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Simplicité et accessibilité </a:t>
            </a:r>
            <a:r>
              <a:rPr lang="en-US" sz="1800">
                <a:solidFill>
                  <a:srgbClr val="000000"/>
                </a:solidFill>
                <a:latin typeface="Arimo"/>
                <a:ea typeface="Arimo"/>
                <a:cs typeface="Arimo"/>
                <a:sym typeface="Arimo"/>
              </a:rPr>
              <a:t>: Syntaxe claire et lisible, proche de l'anglais courant</a:t>
            </a:r>
          </a:p>
        </p:txBody>
      </p:sp>
      <p:sp>
        <p:nvSpPr>
          <p:cNvPr name="TextBox 43" id="43"/>
          <p:cNvSpPr txBox="true"/>
          <p:nvPr/>
        </p:nvSpPr>
        <p:spPr>
          <a:xfrm rot="0">
            <a:off x="1371600" y="3981450"/>
            <a:ext cx="7086600" cy="7620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Écosystème de bibliothèques </a:t>
            </a:r>
            <a:r>
              <a:rPr lang="en-US" sz="1800">
                <a:solidFill>
                  <a:srgbClr val="000000"/>
                </a:solidFill>
                <a:latin typeface="Arimo"/>
                <a:ea typeface="Arimo"/>
                <a:cs typeface="Arimo"/>
                <a:sym typeface="Arimo"/>
              </a:rPr>
              <a:t>: NumPy, Pandas, Matplotlib, Scikit-learn, TensorFlow</a:t>
            </a:r>
          </a:p>
        </p:txBody>
      </p:sp>
      <p:sp>
        <p:nvSpPr>
          <p:cNvPr name="TextBox 44" id="44"/>
          <p:cNvSpPr txBox="true"/>
          <p:nvPr/>
        </p:nvSpPr>
        <p:spPr>
          <a:xfrm rot="0">
            <a:off x="1371600" y="5353050"/>
            <a:ext cx="7086600" cy="7620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Communauté active </a:t>
            </a:r>
            <a:r>
              <a:rPr lang="en-US" sz="1800">
                <a:solidFill>
                  <a:srgbClr val="000000"/>
                </a:solidFill>
                <a:latin typeface="Arimo"/>
                <a:ea typeface="Arimo"/>
                <a:cs typeface="Arimo"/>
                <a:sym typeface="Arimo"/>
              </a:rPr>
              <a:t>: Abondance de ressources et support pour tous les niveaux</a:t>
            </a:r>
          </a:p>
        </p:txBody>
      </p:sp>
      <p:sp>
        <p:nvSpPr>
          <p:cNvPr name="TextBox 45" id="45"/>
          <p:cNvSpPr txBox="true"/>
          <p:nvPr/>
        </p:nvSpPr>
        <p:spPr>
          <a:xfrm rot="0">
            <a:off x="1371600" y="6724650"/>
            <a:ext cx="7086600" cy="7620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Polyvalence </a:t>
            </a:r>
            <a:r>
              <a:rPr lang="en-US" sz="1800">
                <a:solidFill>
                  <a:srgbClr val="000000"/>
                </a:solidFill>
                <a:latin typeface="Arimo"/>
                <a:ea typeface="Arimo"/>
                <a:cs typeface="Arimo"/>
                <a:sym typeface="Arimo"/>
              </a:rPr>
              <a:t>: Utilisé dans de nombreux domaines, pas seulement pour la data science</a:t>
            </a:r>
          </a:p>
        </p:txBody>
      </p:sp>
      <p:sp>
        <p:nvSpPr>
          <p:cNvPr name="TextBox 46" id="46"/>
          <p:cNvSpPr txBox="true"/>
          <p:nvPr/>
        </p:nvSpPr>
        <p:spPr>
          <a:xfrm rot="0">
            <a:off x="9144000" y="1714500"/>
            <a:ext cx="8458200" cy="971550"/>
          </a:xfrm>
          <a:prstGeom prst="rect">
            <a:avLst/>
          </a:prstGeom>
        </p:spPr>
        <p:txBody>
          <a:bodyPr anchor="t" rtlCol="false" tIns="0" lIns="0" bIns="0" rIns="0">
            <a:spAutoFit/>
          </a:bodyPr>
          <a:lstStyle/>
          <a:p>
            <a:pPr algn="l">
              <a:lnSpc>
                <a:spcPts val="3600"/>
              </a:lnSpc>
            </a:pPr>
            <a:r>
              <a:rPr lang="en-US" sz="2700" b="true">
                <a:solidFill>
                  <a:srgbClr val="306998"/>
                </a:solidFill>
                <a:latin typeface="Arimo Bold"/>
                <a:ea typeface="Arimo Bold"/>
                <a:cs typeface="Arimo Bold"/>
                <a:sym typeface="Arimo Bold"/>
              </a:rPr>
              <a:t>Pour débuter avec la Data Science en Python</a:t>
            </a:r>
          </a:p>
        </p:txBody>
      </p:sp>
      <p:sp>
        <p:nvSpPr>
          <p:cNvPr name="TextBox 47" id="47"/>
          <p:cNvSpPr txBox="true"/>
          <p:nvPr/>
        </p:nvSpPr>
        <p:spPr>
          <a:xfrm rot="0">
            <a:off x="9521502" y="3067050"/>
            <a:ext cx="457200" cy="533400"/>
          </a:xfrm>
          <a:prstGeom prst="rect">
            <a:avLst/>
          </a:prstGeom>
        </p:spPr>
        <p:txBody>
          <a:bodyPr anchor="t" rtlCol="false" tIns="0" lIns="0" bIns="0" rIns="0">
            <a:spAutoFit/>
          </a:bodyPr>
          <a:lstStyle/>
          <a:p>
            <a:pPr algn="l">
              <a:lnSpc>
                <a:spcPts val="2700"/>
              </a:lnSpc>
            </a:pPr>
            <a:r>
              <a:rPr lang="en-US" sz="1800" b="true">
                <a:solidFill>
                  <a:srgbClr val="FFFFFF"/>
                </a:solidFill>
                <a:latin typeface="Arimo Bold"/>
                <a:ea typeface="Arimo Bold"/>
                <a:cs typeface="Arimo Bold"/>
                <a:sym typeface="Arimo Bold"/>
              </a:rPr>
              <a:t>1</a:t>
            </a:r>
          </a:p>
        </p:txBody>
      </p:sp>
      <p:sp>
        <p:nvSpPr>
          <p:cNvPr name="TextBox 48" id="48"/>
          <p:cNvSpPr txBox="true"/>
          <p:nvPr/>
        </p:nvSpPr>
        <p:spPr>
          <a:xfrm rot="0">
            <a:off x="9944100" y="3124200"/>
            <a:ext cx="2950011"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Maîtrisez les bases</a:t>
            </a:r>
          </a:p>
        </p:txBody>
      </p:sp>
      <p:sp>
        <p:nvSpPr>
          <p:cNvPr name="TextBox 49" id="49"/>
          <p:cNvSpPr txBox="true"/>
          <p:nvPr/>
        </p:nvSpPr>
        <p:spPr>
          <a:xfrm rot="0">
            <a:off x="9372600" y="3667125"/>
            <a:ext cx="4389120"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Apprenez Python, NumPy et Pandas</a:t>
            </a:r>
          </a:p>
        </p:txBody>
      </p:sp>
      <p:sp>
        <p:nvSpPr>
          <p:cNvPr name="TextBox 50" id="50"/>
          <p:cNvSpPr txBox="true"/>
          <p:nvPr/>
        </p:nvSpPr>
        <p:spPr>
          <a:xfrm rot="0">
            <a:off x="13864902" y="3067050"/>
            <a:ext cx="457200" cy="533400"/>
          </a:xfrm>
          <a:prstGeom prst="rect">
            <a:avLst/>
          </a:prstGeom>
        </p:spPr>
        <p:txBody>
          <a:bodyPr anchor="t" rtlCol="false" tIns="0" lIns="0" bIns="0" rIns="0">
            <a:spAutoFit/>
          </a:bodyPr>
          <a:lstStyle/>
          <a:p>
            <a:pPr algn="l">
              <a:lnSpc>
                <a:spcPts val="2700"/>
              </a:lnSpc>
            </a:pPr>
            <a:r>
              <a:rPr lang="en-US" sz="1800" b="true">
                <a:solidFill>
                  <a:srgbClr val="FFFFFF"/>
                </a:solidFill>
                <a:latin typeface="Arimo Bold"/>
                <a:ea typeface="Arimo Bold"/>
                <a:cs typeface="Arimo Bold"/>
                <a:sym typeface="Arimo Bold"/>
              </a:rPr>
              <a:t>2</a:t>
            </a:r>
          </a:p>
        </p:txBody>
      </p:sp>
      <p:sp>
        <p:nvSpPr>
          <p:cNvPr name="TextBox 51" id="51"/>
          <p:cNvSpPr txBox="true"/>
          <p:nvPr/>
        </p:nvSpPr>
        <p:spPr>
          <a:xfrm rot="0">
            <a:off x="14287500" y="3124200"/>
            <a:ext cx="1484114"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Pratiquez</a:t>
            </a:r>
          </a:p>
        </p:txBody>
      </p:sp>
      <p:sp>
        <p:nvSpPr>
          <p:cNvPr name="TextBox 52" id="52"/>
          <p:cNvSpPr txBox="true"/>
          <p:nvPr/>
        </p:nvSpPr>
        <p:spPr>
          <a:xfrm rot="0">
            <a:off x="13716000" y="3667125"/>
            <a:ext cx="4389120"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Utilisez des datasets publics</a:t>
            </a:r>
          </a:p>
        </p:txBody>
      </p:sp>
      <p:sp>
        <p:nvSpPr>
          <p:cNvPr name="TextBox 53" id="53"/>
          <p:cNvSpPr txBox="true"/>
          <p:nvPr/>
        </p:nvSpPr>
        <p:spPr>
          <a:xfrm rot="0">
            <a:off x="9521502" y="4610100"/>
            <a:ext cx="457200" cy="533400"/>
          </a:xfrm>
          <a:prstGeom prst="rect">
            <a:avLst/>
          </a:prstGeom>
        </p:spPr>
        <p:txBody>
          <a:bodyPr anchor="t" rtlCol="false" tIns="0" lIns="0" bIns="0" rIns="0">
            <a:spAutoFit/>
          </a:bodyPr>
          <a:lstStyle/>
          <a:p>
            <a:pPr algn="l">
              <a:lnSpc>
                <a:spcPts val="2700"/>
              </a:lnSpc>
            </a:pPr>
            <a:r>
              <a:rPr lang="en-US" sz="1800" b="true">
                <a:solidFill>
                  <a:srgbClr val="FFFFFF"/>
                </a:solidFill>
                <a:latin typeface="Arimo Bold"/>
                <a:ea typeface="Arimo Bold"/>
                <a:cs typeface="Arimo Bold"/>
                <a:sym typeface="Arimo Bold"/>
              </a:rPr>
              <a:t>3</a:t>
            </a:r>
          </a:p>
        </p:txBody>
      </p:sp>
      <p:sp>
        <p:nvSpPr>
          <p:cNvPr name="TextBox 54" id="54"/>
          <p:cNvSpPr txBox="true"/>
          <p:nvPr/>
        </p:nvSpPr>
        <p:spPr>
          <a:xfrm rot="0">
            <a:off x="9944100" y="4667250"/>
            <a:ext cx="1324184" cy="4191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Explorez</a:t>
            </a:r>
          </a:p>
        </p:txBody>
      </p:sp>
      <p:sp>
        <p:nvSpPr>
          <p:cNvPr name="TextBox 55" id="55"/>
          <p:cNvSpPr txBox="true"/>
          <p:nvPr/>
        </p:nvSpPr>
        <p:spPr>
          <a:xfrm rot="0">
            <a:off x="9372600" y="5210175"/>
            <a:ext cx="4389120"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Visualisations et modélisation</a:t>
            </a:r>
          </a:p>
        </p:txBody>
      </p:sp>
      <p:sp>
        <p:nvSpPr>
          <p:cNvPr name="TextBox 56" id="56"/>
          <p:cNvSpPr txBox="true"/>
          <p:nvPr/>
        </p:nvSpPr>
        <p:spPr>
          <a:xfrm rot="0">
            <a:off x="13850392" y="4724400"/>
            <a:ext cx="513814" cy="533400"/>
          </a:xfrm>
          <a:prstGeom prst="rect">
            <a:avLst/>
          </a:prstGeom>
        </p:spPr>
        <p:txBody>
          <a:bodyPr anchor="t" rtlCol="false" tIns="0" lIns="0" bIns="0" rIns="0">
            <a:spAutoFit/>
          </a:bodyPr>
          <a:lstStyle/>
          <a:p>
            <a:pPr algn="l">
              <a:lnSpc>
                <a:spcPts val="2700"/>
              </a:lnSpc>
            </a:pPr>
            <a:r>
              <a:rPr lang="en-US" sz="1800" b="true">
                <a:solidFill>
                  <a:srgbClr val="FFFFFF"/>
                </a:solidFill>
                <a:latin typeface="Arimo Bold"/>
                <a:ea typeface="Arimo Bold"/>
                <a:cs typeface="Arimo Bold"/>
                <a:sym typeface="Arimo Bold"/>
              </a:rPr>
              <a:t>4</a:t>
            </a:r>
          </a:p>
        </p:txBody>
      </p:sp>
      <p:sp>
        <p:nvSpPr>
          <p:cNvPr name="TextBox 57" id="57"/>
          <p:cNvSpPr txBox="true"/>
          <p:nvPr/>
        </p:nvSpPr>
        <p:spPr>
          <a:xfrm rot="0">
            <a:off x="14258478" y="4610100"/>
            <a:ext cx="3115122" cy="762000"/>
          </a:xfrm>
          <a:prstGeom prst="rect">
            <a:avLst/>
          </a:prstGeom>
        </p:spPr>
        <p:txBody>
          <a:bodyPr anchor="t" rtlCol="false" tIns="0" lIns="0" bIns="0" rIns="0">
            <a:spAutoFit/>
          </a:bodyPr>
          <a:lstStyle/>
          <a:p>
            <a:pPr algn="l">
              <a:lnSpc>
                <a:spcPts val="2700"/>
              </a:lnSpc>
            </a:pPr>
            <a:r>
              <a:rPr lang="en-US" sz="1800" b="true">
                <a:solidFill>
                  <a:srgbClr val="000000"/>
                </a:solidFill>
                <a:latin typeface="Arimo Bold"/>
                <a:ea typeface="Arimo Bold"/>
                <a:cs typeface="Arimo Bold"/>
                <a:sym typeface="Arimo Bold"/>
              </a:rPr>
              <a:t>Rejoignez la communauté</a:t>
            </a:r>
          </a:p>
        </p:txBody>
      </p:sp>
      <p:sp>
        <p:nvSpPr>
          <p:cNvPr name="TextBox 58" id="58"/>
          <p:cNvSpPr txBox="true"/>
          <p:nvPr/>
        </p:nvSpPr>
        <p:spPr>
          <a:xfrm rot="0">
            <a:off x="13716000" y="5438775"/>
            <a:ext cx="4389120" cy="333375"/>
          </a:xfrm>
          <a:prstGeom prst="rect">
            <a:avLst/>
          </a:prstGeom>
        </p:spPr>
        <p:txBody>
          <a:bodyPr anchor="t" rtlCol="false" tIns="0" lIns="0" bIns="0" rIns="0">
            <a:spAutoFit/>
          </a:bodyPr>
          <a:lstStyle/>
          <a:p>
            <a:pPr algn="l">
              <a:lnSpc>
                <a:spcPts val="2250"/>
              </a:lnSpc>
            </a:pPr>
            <a:r>
              <a:rPr lang="en-US" sz="1575">
                <a:solidFill>
                  <a:srgbClr val="000000"/>
                </a:solidFill>
                <a:latin typeface="Arimo"/>
                <a:ea typeface="Arimo"/>
                <a:cs typeface="Arimo"/>
                <a:sym typeface="Arimo"/>
              </a:rPr>
              <a:t>Partagez et apprenez</a:t>
            </a:r>
          </a:p>
        </p:txBody>
      </p:sp>
      <p:sp>
        <p:nvSpPr>
          <p:cNvPr name="TextBox 59" id="59"/>
          <p:cNvSpPr txBox="true"/>
          <p:nvPr/>
        </p:nvSpPr>
        <p:spPr>
          <a:xfrm rot="0">
            <a:off x="9801225" y="6496050"/>
            <a:ext cx="7572375" cy="762000"/>
          </a:xfrm>
          <a:prstGeom prst="rect">
            <a:avLst/>
          </a:prstGeom>
        </p:spPr>
        <p:txBody>
          <a:bodyPr anchor="t" rtlCol="false" tIns="0" lIns="0" bIns="0" rIns="0">
            <a:spAutoFit/>
          </a:bodyPr>
          <a:lstStyle/>
          <a:p>
            <a:pPr algn="l">
              <a:lnSpc>
                <a:spcPts val="2700"/>
              </a:lnSpc>
            </a:pPr>
            <a:r>
              <a:rPr lang="en-US" sz="1800" i="true">
                <a:solidFill>
                  <a:srgbClr val="000000"/>
                </a:solidFill>
                <a:latin typeface="Arimo Italics"/>
                <a:ea typeface="Arimo Italics"/>
                <a:cs typeface="Arimo Italics"/>
                <a:sym typeface="Arimo Italics"/>
              </a:rPr>
              <a:t>Selon une enquête Kaggle, 87% des professionnels des données utilisent Python régulièrement.</a:t>
            </a:r>
          </a:p>
        </p:txBody>
      </p:sp>
      <p:sp>
        <p:nvSpPr>
          <p:cNvPr name="TextBox 60" id="60"/>
          <p:cNvSpPr txBox="true"/>
          <p:nvPr/>
        </p:nvSpPr>
        <p:spPr>
          <a:xfrm rot="0">
            <a:off x="685800" y="8839200"/>
            <a:ext cx="16916400" cy="476250"/>
          </a:xfrm>
          <a:prstGeom prst="rect">
            <a:avLst/>
          </a:prstGeom>
        </p:spPr>
        <p:txBody>
          <a:bodyPr anchor="t" rtlCol="false" tIns="0" lIns="0" bIns="0" rIns="0">
            <a:spAutoFit/>
          </a:bodyPr>
          <a:lstStyle/>
          <a:p>
            <a:pPr algn="ctr">
              <a:lnSpc>
                <a:spcPts val="3150"/>
              </a:lnSpc>
            </a:pPr>
            <a:r>
              <a:rPr lang="en-US" sz="2025" b="true">
                <a:solidFill>
                  <a:srgbClr val="306998"/>
                </a:solidFill>
                <a:latin typeface="Arimo Bold"/>
                <a:ea typeface="Arimo Bold"/>
                <a:cs typeface="Arimo Bold"/>
                <a:sym typeface="Arimo Bold"/>
              </a:rPr>
              <a:t>Merci pour votre attention !</a:t>
            </a:r>
          </a:p>
        </p:txBody>
      </p:sp>
      <p:sp>
        <p:nvSpPr>
          <p:cNvPr name="TextBox 61" id="61"/>
          <p:cNvSpPr txBox="true"/>
          <p:nvPr/>
        </p:nvSpPr>
        <p:spPr>
          <a:xfrm rot="0">
            <a:off x="685800" y="9267825"/>
            <a:ext cx="16916400" cy="333375"/>
          </a:xfrm>
          <a:prstGeom prst="rect">
            <a:avLst/>
          </a:prstGeom>
        </p:spPr>
        <p:txBody>
          <a:bodyPr anchor="t" rtlCol="false" tIns="0" lIns="0" bIns="0" rIns="0">
            <a:spAutoFit/>
          </a:bodyPr>
          <a:lstStyle/>
          <a:p>
            <a:pPr algn="ctr">
              <a:lnSpc>
                <a:spcPts val="2250"/>
              </a:lnSpc>
            </a:pPr>
            <a:r>
              <a:rPr lang="en-US" sz="1575">
                <a:solidFill>
                  <a:srgbClr val="6B7280"/>
                </a:solidFill>
                <a:latin typeface="Arimo"/>
                <a:ea typeface="Arimo"/>
                <a:cs typeface="Arimo"/>
                <a:sym typeface="Arimo"/>
              </a:rPr>
              <a:t>Page 15 sur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DAG7qceZ9do</dc:identifier>
  <dcterms:modified xsi:type="dcterms:W3CDTF">2011-08-01T06:04:30Z</dcterms:modified>
  <cp:revision>1</cp:revision>
  <dc:title>Introduction à Python pour la Data Science(2).pptx</dc:title>
</cp:coreProperties>
</file>